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notesSlides/notesSlide14.xml" ContentType="application/vnd.openxmlformats-officedocument.presentationml.notesSlide+xml"/>
  <Override PartName="/ppt/charts/chart9.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0.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86" autoAdjust="0"/>
  </p:normalViewPr>
  <p:slideViewPr>
    <p:cSldViewPr snapToGrid="0" snapToObjects="1">
      <p:cViewPr varScale="1">
        <p:scale>
          <a:sx n="104" d="100"/>
          <a:sy n="104" d="100"/>
        </p:scale>
        <p:origin x="85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intrinsic</c:v>
                </c:pt>
              </c:strCache>
            </c:strRef>
          </c:tx>
          <c:spPr>
            <a:ln w="15875">
              <a:solidFill>
                <a:srgbClr val="93A79A"/>
              </a:solidFill>
              <a:prstDash val="dash"/>
            </a:ln>
          </c:spPr>
          <c:marker>
            <c:symbol val="none"/>
          </c:marker>
          <c:xVal>
            <c:numRef>
              <c:f>Sheet1!$A$2:$A$42</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Sheet1!$B$2:$B$42</c:f>
              <c:numCache>
                <c:formatCode>General</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2</c:v>
                </c:pt>
                <c:pt idx="22">
                  <c:v>4</c:v>
                </c:pt>
                <c:pt idx="23">
                  <c:v>6</c:v>
                </c:pt>
                <c:pt idx="24">
                  <c:v>8</c:v>
                </c:pt>
                <c:pt idx="25">
                  <c:v>10</c:v>
                </c:pt>
                <c:pt idx="26">
                  <c:v>12</c:v>
                </c:pt>
                <c:pt idx="27">
                  <c:v>14</c:v>
                </c:pt>
                <c:pt idx="28">
                  <c:v>16</c:v>
                </c:pt>
                <c:pt idx="29">
                  <c:v>18</c:v>
                </c:pt>
                <c:pt idx="30">
                  <c:v>20</c:v>
                </c:pt>
                <c:pt idx="31">
                  <c:v>22</c:v>
                </c:pt>
                <c:pt idx="32">
                  <c:v>24</c:v>
                </c:pt>
                <c:pt idx="33">
                  <c:v>26</c:v>
                </c:pt>
                <c:pt idx="34">
                  <c:v>28</c:v>
                </c:pt>
                <c:pt idx="35">
                  <c:v>30</c:v>
                </c:pt>
                <c:pt idx="36">
                  <c:v>32</c:v>
                </c:pt>
                <c:pt idx="37">
                  <c:v>34</c:v>
                </c:pt>
                <c:pt idx="38">
                  <c:v>36</c:v>
                </c:pt>
                <c:pt idx="39">
                  <c:v>38</c:v>
                </c:pt>
                <c:pt idx="40">
                  <c:v>40</c:v>
                </c:pt>
              </c:numCache>
            </c:numRef>
          </c:yVal>
          <c:smooth val="0"/>
          <c:extLst>
            <c:ext xmlns:c16="http://schemas.microsoft.com/office/drawing/2014/chart" uri="{C3380CC4-5D6E-409C-BE32-E72D297353CC}">
              <c16:uniqueId val="{00000000-39B9-4D0D-9699-E198ADA666E8}"/>
            </c:ext>
          </c:extLst>
        </c:ser>
        <c:ser>
          <c:idx val="1"/>
          <c:order val="1"/>
          <c:tx>
            <c:strRef>
              <c:f>Sheet1!$B$44</c:f>
              <c:strCache>
                <c:ptCount val="1"/>
                <c:pt idx="0">
                  <c:v>T = 1y</c:v>
                </c:pt>
              </c:strCache>
            </c:strRef>
          </c:tx>
          <c:spPr>
            <a:ln w="25400">
              <a:solidFill>
                <a:srgbClr val="3DDC84"/>
              </a:solidFill>
            </a:ln>
          </c:spPr>
          <c:marker>
            <c:symbol val="none"/>
          </c:marker>
          <c:xVal>
            <c:numRef>
              <c:f>Sheet1!$A$45:$A$85</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Sheet1!$B$45:$B$85</c:f>
              <c:numCache>
                <c:formatCode>General</c:formatCode>
                <c:ptCount val="41"/>
                <c:pt idx="0">
                  <c:v>5.4399999999999997E-2</c:v>
                </c:pt>
                <c:pt idx="1">
                  <c:v>8.8499999999999995E-2</c:v>
                </c:pt>
                <c:pt idx="2">
                  <c:v>0.13869999999999999</c:v>
                </c:pt>
                <c:pt idx="3">
                  <c:v>0.2102</c:v>
                </c:pt>
                <c:pt idx="4">
                  <c:v>0.30890000000000001</c:v>
                </c:pt>
                <c:pt idx="5">
                  <c:v>0.44140000000000001</c:v>
                </c:pt>
                <c:pt idx="6">
                  <c:v>0.61480000000000001</c:v>
                </c:pt>
                <c:pt idx="7">
                  <c:v>0.83620000000000005</c:v>
                </c:pt>
                <c:pt idx="8">
                  <c:v>1.1129</c:v>
                </c:pt>
                <c:pt idx="9">
                  <c:v>1.4519</c:v>
                </c:pt>
                <c:pt idx="10">
                  <c:v>1.8593999999999999</c:v>
                </c:pt>
                <c:pt idx="11">
                  <c:v>2.3412999999999999</c:v>
                </c:pt>
                <c:pt idx="12">
                  <c:v>2.9022999999999999</c:v>
                </c:pt>
                <c:pt idx="13">
                  <c:v>3.5459999999999998</c:v>
                </c:pt>
                <c:pt idx="14">
                  <c:v>4.2751999999999999</c:v>
                </c:pt>
                <c:pt idx="15">
                  <c:v>5.0911999999999997</c:v>
                </c:pt>
                <c:pt idx="16">
                  <c:v>5.9943999999999997</c:v>
                </c:pt>
                <c:pt idx="17">
                  <c:v>6.9840999999999998</c:v>
                </c:pt>
                <c:pt idx="18">
                  <c:v>8.0585000000000004</c:v>
                </c:pt>
                <c:pt idx="19">
                  <c:v>9.2150999999999996</c:v>
                </c:pt>
                <c:pt idx="20">
                  <c:v>10.4506</c:v>
                </c:pt>
                <c:pt idx="21">
                  <c:v>11.761100000000001</c:v>
                </c:pt>
                <c:pt idx="22">
                  <c:v>13.142200000000001</c:v>
                </c:pt>
                <c:pt idx="23">
                  <c:v>14.589499999999999</c:v>
                </c:pt>
                <c:pt idx="24">
                  <c:v>16.097999999999999</c:v>
                </c:pt>
                <c:pt idx="25">
                  <c:v>17.663</c:v>
                </c:pt>
                <c:pt idx="26">
                  <c:v>19.279399999999999</c:v>
                </c:pt>
                <c:pt idx="27">
                  <c:v>20.942699999999999</c:v>
                </c:pt>
                <c:pt idx="28">
                  <c:v>22.648299999999999</c:v>
                </c:pt>
                <c:pt idx="29">
                  <c:v>24.3918</c:v>
                </c:pt>
                <c:pt idx="30">
                  <c:v>26.169</c:v>
                </c:pt>
                <c:pt idx="31">
                  <c:v>27.976400000000002</c:v>
                </c:pt>
                <c:pt idx="32">
                  <c:v>29.810199999999998</c:v>
                </c:pt>
                <c:pt idx="33">
                  <c:v>31.667300000000001</c:v>
                </c:pt>
                <c:pt idx="34">
                  <c:v>33.544899999999998</c:v>
                </c:pt>
                <c:pt idx="35">
                  <c:v>35.440300000000001</c:v>
                </c:pt>
                <c:pt idx="36">
                  <c:v>37.351100000000002</c:v>
                </c:pt>
                <c:pt idx="37">
                  <c:v>39.275300000000001</c:v>
                </c:pt>
                <c:pt idx="38">
                  <c:v>41.210900000000002</c:v>
                </c:pt>
                <c:pt idx="39">
                  <c:v>43.156500000000001</c:v>
                </c:pt>
                <c:pt idx="40">
                  <c:v>45.110599999999998</c:v>
                </c:pt>
              </c:numCache>
            </c:numRef>
          </c:yVal>
          <c:smooth val="0"/>
          <c:extLst>
            <c:ext xmlns:c16="http://schemas.microsoft.com/office/drawing/2014/chart" uri="{C3380CC4-5D6E-409C-BE32-E72D297353CC}">
              <c16:uniqueId val="{00000001-39B9-4D0D-9699-E198ADA666E8}"/>
            </c:ext>
          </c:extLst>
        </c:ser>
        <c:ser>
          <c:idx val="2"/>
          <c:order val="2"/>
          <c:tx>
            <c:strRef>
              <c:f>Sheet1!$B$87</c:f>
              <c:strCache>
                <c:ptCount val="1"/>
                <c:pt idx="0">
                  <c:v>T = 0.25y</c:v>
                </c:pt>
              </c:strCache>
            </c:strRef>
          </c:tx>
          <c:spPr>
            <a:ln w="25400">
              <a:solidFill>
                <a:srgbClr val="5BC8F5"/>
              </a:solidFill>
            </a:ln>
          </c:spPr>
          <c:marker>
            <c:symbol val="none"/>
          </c:marker>
          <c:xVal>
            <c:numRef>
              <c:f>Sheet1!$A$88:$A$128</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Sheet1!$B$88:$B$128</c:f>
              <c:numCache>
                <c:formatCode>General</c:formatCode>
                <c:ptCount val="41"/>
                <c:pt idx="0">
                  <c:v>0</c:v>
                </c:pt>
                <c:pt idx="1">
                  <c:v>0</c:v>
                </c:pt>
                <c:pt idx="2">
                  <c:v>0</c:v>
                </c:pt>
                <c:pt idx="3">
                  <c:v>0</c:v>
                </c:pt>
                <c:pt idx="4">
                  <c:v>2.0000000000000001E-4</c:v>
                </c:pt>
                <c:pt idx="5">
                  <c:v>5.9999999999999995E-4</c:v>
                </c:pt>
                <c:pt idx="6">
                  <c:v>1.8E-3</c:v>
                </c:pt>
                <c:pt idx="7">
                  <c:v>4.7999999999999996E-3</c:v>
                </c:pt>
                <c:pt idx="8">
                  <c:v>1.17E-2</c:v>
                </c:pt>
                <c:pt idx="9">
                  <c:v>2.6599999999999999E-2</c:v>
                </c:pt>
                <c:pt idx="10">
                  <c:v>5.5800000000000002E-2</c:v>
                </c:pt>
                <c:pt idx="11">
                  <c:v>0.1094</c:v>
                </c:pt>
                <c:pt idx="12">
                  <c:v>0.2009</c:v>
                </c:pt>
                <c:pt idx="13">
                  <c:v>0.34810000000000002</c:v>
                </c:pt>
                <c:pt idx="14">
                  <c:v>0.5716</c:v>
                </c:pt>
                <c:pt idx="15">
                  <c:v>0.89359999999999995</c:v>
                </c:pt>
                <c:pt idx="16">
                  <c:v>1.3359000000000001</c:v>
                </c:pt>
                <c:pt idx="17">
                  <c:v>1.9175</c:v>
                </c:pt>
                <c:pt idx="18">
                  <c:v>2.6526000000000001</c:v>
                </c:pt>
                <c:pt idx="19">
                  <c:v>3.5489999999999999</c:v>
                </c:pt>
                <c:pt idx="20">
                  <c:v>4.6078000000000001</c:v>
                </c:pt>
                <c:pt idx="21">
                  <c:v>5.8235999999999999</c:v>
                </c:pt>
                <c:pt idx="22">
                  <c:v>7.1851000000000003</c:v>
                </c:pt>
                <c:pt idx="23">
                  <c:v>8.6773000000000007</c:v>
                </c:pt>
                <c:pt idx="24">
                  <c:v>10.282400000000001</c:v>
                </c:pt>
                <c:pt idx="25">
                  <c:v>11.9823</c:v>
                </c:pt>
                <c:pt idx="26">
                  <c:v>13.7591</c:v>
                </c:pt>
                <c:pt idx="27">
                  <c:v>15.596500000000001</c:v>
                </c:pt>
                <c:pt idx="28">
                  <c:v>17.480599999999999</c:v>
                </c:pt>
                <c:pt idx="29">
                  <c:v>19.3996</c:v>
                </c:pt>
                <c:pt idx="30">
                  <c:v>21.344000000000001</c:v>
                </c:pt>
                <c:pt idx="31">
                  <c:v>23.3066</c:v>
                </c:pt>
                <c:pt idx="32">
                  <c:v>25.2818</c:v>
                </c:pt>
                <c:pt idx="33">
                  <c:v>27.265699999999999</c:v>
                </c:pt>
                <c:pt idx="34">
                  <c:v>29.255400000000002</c:v>
                </c:pt>
                <c:pt idx="35">
                  <c:v>31.248899999999999</c:v>
                </c:pt>
                <c:pt idx="36">
                  <c:v>33.244900000000001</c:v>
                </c:pt>
                <c:pt idx="37">
                  <c:v>35.242400000000004</c:v>
                </c:pt>
                <c:pt idx="38">
                  <c:v>37.240900000000003</c:v>
                </c:pt>
                <c:pt idx="39">
                  <c:v>39.240099999999998</c:v>
                </c:pt>
                <c:pt idx="40">
                  <c:v>41.2395</c:v>
                </c:pt>
              </c:numCache>
            </c:numRef>
          </c:yVal>
          <c:smooth val="0"/>
          <c:extLst>
            <c:ext xmlns:c16="http://schemas.microsoft.com/office/drawing/2014/chart" uri="{C3380CC4-5D6E-409C-BE32-E72D297353CC}">
              <c16:uniqueId val="{00000002-39B9-4D0D-9699-E198ADA666E8}"/>
            </c:ext>
          </c:extLst>
        </c:ser>
        <c:ser>
          <c:idx val="3"/>
          <c:order val="3"/>
          <c:tx>
            <c:strRef>
              <c:f>Sheet1!$B$130</c:f>
              <c:strCache>
                <c:ptCount val="1"/>
                <c:pt idx="0">
                  <c:v>T = 0.05y</c:v>
                </c:pt>
              </c:strCache>
            </c:strRef>
          </c:tx>
          <c:spPr>
            <a:ln w="25400">
              <a:solidFill>
                <a:srgbClr val="FFB020"/>
              </a:solidFill>
            </a:ln>
          </c:spPr>
          <c:marker>
            <c:symbol val="none"/>
          </c:marker>
          <c:xVal>
            <c:numRef>
              <c:f>Sheet1!$A$131:$A$171</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Sheet1!$B$131:$B$171</c:f>
              <c:numCache>
                <c:formatCode>General</c:formatCode>
                <c:ptCount val="41"/>
                <c:pt idx="0">
                  <c:v>0</c:v>
                </c:pt>
                <c:pt idx="1">
                  <c:v>0</c:v>
                </c:pt>
                <c:pt idx="2">
                  <c:v>0</c:v>
                </c:pt>
                <c:pt idx="3">
                  <c:v>0</c:v>
                </c:pt>
                <c:pt idx="4">
                  <c:v>0</c:v>
                </c:pt>
                <c:pt idx="5">
                  <c:v>0</c:v>
                </c:pt>
                <c:pt idx="6">
                  <c:v>0</c:v>
                </c:pt>
                <c:pt idx="7">
                  <c:v>0</c:v>
                </c:pt>
                <c:pt idx="8">
                  <c:v>0</c:v>
                </c:pt>
                <c:pt idx="9">
                  <c:v>0</c:v>
                </c:pt>
                <c:pt idx="10">
                  <c:v>0</c:v>
                </c:pt>
                <c:pt idx="11">
                  <c:v>0</c:v>
                </c:pt>
                <c:pt idx="12">
                  <c:v>1E-4</c:v>
                </c:pt>
                <c:pt idx="13">
                  <c:v>4.0000000000000002E-4</c:v>
                </c:pt>
                <c:pt idx="14">
                  <c:v>2.8999999999999998E-3</c:v>
                </c:pt>
                <c:pt idx="15">
                  <c:v>1.47E-2</c:v>
                </c:pt>
                <c:pt idx="16">
                  <c:v>5.7500000000000002E-2</c:v>
                </c:pt>
                <c:pt idx="17">
                  <c:v>0.18060000000000001</c:v>
                </c:pt>
                <c:pt idx="18">
                  <c:v>0.46629999999999999</c:v>
                </c:pt>
                <c:pt idx="19">
                  <c:v>1.0127999999999999</c:v>
                </c:pt>
                <c:pt idx="20">
                  <c:v>1.8954</c:v>
                </c:pt>
                <c:pt idx="21">
                  <c:v>3.1303999999999998</c:v>
                </c:pt>
                <c:pt idx="22">
                  <c:v>4.6692999999999998</c:v>
                </c:pt>
                <c:pt idx="23">
                  <c:v>6.4260999999999999</c:v>
                </c:pt>
                <c:pt idx="24">
                  <c:v>8.3140000000000001</c:v>
                </c:pt>
                <c:pt idx="25">
                  <c:v>10.2689</c:v>
                </c:pt>
                <c:pt idx="26">
                  <c:v>12.253</c:v>
                </c:pt>
                <c:pt idx="27">
                  <c:v>14.247999999999999</c:v>
                </c:pt>
                <c:pt idx="28">
                  <c:v>16.246700000000001</c:v>
                </c:pt>
                <c:pt idx="29">
                  <c:v>18.246400000000001</c:v>
                </c:pt>
                <c:pt idx="30">
                  <c:v>20.246300000000002</c:v>
                </c:pt>
                <c:pt idx="31">
                  <c:v>22.246300000000002</c:v>
                </c:pt>
                <c:pt idx="32">
                  <c:v>24.246300000000002</c:v>
                </c:pt>
                <c:pt idx="33">
                  <c:v>26.246300000000002</c:v>
                </c:pt>
                <c:pt idx="34">
                  <c:v>28.246300000000002</c:v>
                </c:pt>
                <c:pt idx="35">
                  <c:v>30.246300000000002</c:v>
                </c:pt>
                <c:pt idx="36">
                  <c:v>32.246299999999998</c:v>
                </c:pt>
                <c:pt idx="37">
                  <c:v>34.246299999999998</c:v>
                </c:pt>
                <c:pt idx="38">
                  <c:v>36.246299999999998</c:v>
                </c:pt>
                <c:pt idx="39">
                  <c:v>38.246299999999998</c:v>
                </c:pt>
                <c:pt idx="40">
                  <c:v>40.246299999999998</c:v>
                </c:pt>
              </c:numCache>
            </c:numRef>
          </c:yVal>
          <c:smooth val="0"/>
          <c:extLst>
            <c:ext xmlns:c16="http://schemas.microsoft.com/office/drawing/2014/chart" uri="{C3380CC4-5D6E-409C-BE32-E72D297353CC}">
              <c16:uniqueId val="{00000003-39B9-4D0D-9699-E198ADA666E8}"/>
            </c:ext>
          </c:extLst>
        </c:ser>
        <c:dLbls>
          <c:showLegendKey val="0"/>
          <c:showVal val="0"/>
          <c:showCatName val="0"/>
          <c:showSerName val="0"/>
          <c:showPercent val="0"/>
          <c:showBubbleSize val="0"/>
        </c:dLbls>
        <c:axId val="-2128940872"/>
        <c:axId val="-2129643912"/>
      </c:scatterChart>
      <c:valAx>
        <c:axId val="-2128940872"/>
        <c:scaling>
          <c:orientation val="minMax"/>
          <c:max val="140"/>
          <c:min val="60"/>
        </c:scaling>
        <c:delete val="0"/>
        <c:axPos val="b"/>
        <c:majorGridlines>
          <c:spPr>
            <a:ln w="6350">
              <a:solidFill>
                <a:srgbClr val="26352B"/>
              </a:solidFill>
            </a:ln>
          </c:spPr>
        </c:majorGridlines>
        <c:numFmt formatCode="General"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min val="0"/>
        </c:scaling>
        <c:delete val="0"/>
        <c:axPos val="l"/>
        <c:majorGridlines>
          <c:spPr>
            <a:ln w="6350">
              <a:solidFill>
                <a:srgbClr val="26352B"/>
              </a:solidFill>
            </a:ln>
          </c:spPr>
        </c:majorGridlines>
        <c:numFmt formatCode="General"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T = 1y</c:v>
                </c:pt>
              </c:strCache>
            </c:strRef>
          </c:tx>
          <c:spPr>
            <a:ln w="25400">
              <a:solidFill>
                <a:srgbClr val="3DDC84"/>
              </a:solidFill>
            </a:ln>
          </c:spPr>
          <c:marker>
            <c:symbol val="none"/>
          </c:marker>
          <c:xVal>
            <c:numRef>
              <c:f>Sheet1!$A$2:$A$42</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Sheet1!$B$2:$B$42</c:f>
              <c:numCache>
                <c:formatCode>General</c:formatCode>
                <c:ptCount val="41"/>
                <c:pt idx="0">
                  <c:v>1.38E-2</c:v>
                </c:pt>
                <c:pt idx="1">
                  <c:v>2.07E-2</c:v>
                </c:pt>
                <c:pt idx="2">
                  <c:v>0.03</c:v>
                </c:pt>
                <c:pt idx="3">
                  <c:v>4.2000000000000003E-2</c:v>
                </c:pt>
                <c:pt idx="4">
                  <c:v>5.7200000000000001E-2</c:v>
                </c:pt>
                <c:pt idx="5">
                  <c:v>7.5899999999999995E-2</c:v>
                </c:pt>
                <c:pt idx="6">
                  <c:v>9.8100000000000007E-2</c:v>
                </c:pt>
                <c:pt idx="7">
                  <c:v>0.1239</c:v>
                </c:pt>
                <c:pt idx="8">
                  <c:v>0.15329999999999999</c:v>
                </c:pt>
                <c:pt idx="9">
                  <c:v>0.18609999999999999</c:v>
                </c:pt>
                <c:pt idx="10">
                  <c:v>0.22189999999999999</c:v>
                </c:pt>
                <c:pt idx="11">
                  <c:v>0.26040000000000002</c:v>
                </c:pt>
                <c:pt idx="12">
                  <c:v>0.3009</c:v>
                </c:pt>
                <c:pt idx="13">
                  <c:v>0.34310000000000002</c:v>
                </c:pt>
                <c:pt idx="14">
                  <c:v>0.38619999999999999</c:v>
                </c:pt>
                <c:pt idx="15">
                  <c:v>0.42980000000000002</c:v>
                </c:pt>
                <c:pt idx="16">
                  <c:v>0.4733</c:v>
                </c:pt>
                <c:pt idx="17">
                  <c:v>0.51619999999999999</c:v>
                </c:pt>
                <c:pt idx="18">
                  <c:v>0.55800000000000005</c:v>
                </c:pt>
                <c:pt idx="19">
                  <c:v>0.59830000000000005</c:v>
                </c:pt>
                <c:pt idx="20">
                  <c:v>0.63680000000000003</c:v>
                </c:pt>
                <c:pt idx="21">
                  <c:v>0.67330000000000001</c:v>
                </c:pt>
                <c:pt idx="22">
                  <c:v>0.70750000000000002</c:v>
                </c:pt>
                <c:pt idx="23">
                  <c:v>0.73939999999999995</c:v>
                </c:pt>
                <c:pt idx="24">
                  <c:v>0.76880000000000004</c:v>
                </c:pt>
                <c:pt idx="25">
                  <c:v>0.79579999999999995</c:v>
                </c:pt>
                <c:pt idx="26">
                  <c:v>0.82030000000000003</c:v>
                </c:pt>
                <c:pt idx="27">
                  <c:v>0.84260000000000002</c:v>
                </c:pt>
                <c:pt idx="28">
                  <c:v>0.86260000000000003</c:v>
                </c:pt>
                <c:pt idx="29">
                  <c:v>0.88049999999999995</c:v>
                </c:pt>
                <c:pt idx="30">
                  <c:v>0.89649999999999996</c:v>
                </c:pt>
                <c:pt idx="31">
                  <c:v>0.91059999999999997</c:v>
                </c:pt>
                <c:pt idx="32">
                  <c:v>0.92300000000000004</c:v>
                </c:pt>
                <c:pt idx="33">
                  <c:v>0.93389999999999995</c:v>
                </c:pt>
                <c:pt idx="34">
                  <c:v>0.94340000000000002</c:v>
                </c:pt>
                <c:pt idx="35">
                  <c:v>0.95169999999999999</c:v>
                </c:pt>
                <c:pt idx="36">
                  <c:v>0.95889999999999997</c:v>
                </c:pt>
                <c:pt idx="37">
                  <c:v>0.96509999999999996</c:v>
                </c:pt>
                <c:pt idx="38">
                  <c:v>0.97040000000000004</c:v>
                </c:pt>
                <c:pt idx="39">
                  <c:v>0.97499999999999998</c:v>
                </c:pt>
                <c:pt idx="40">
                  <c:v>0.97889999999999999</c:v>
                </c:pt>
              </c:numCache>
            </c:numRef>
          </c:yVal>
          <c:smooth val="0"/>
          <c:extLst>
            <c:ext xmlns:c16="http://schemas.microsoft.com/office/drawing/2014/chart" uri="{C3380CC4-5D6E-409C-BE32-E72D297353CC}">
              <c16:uniqueId val="{00000000-671B-4D47-93B4-A31710473ADA}"/>
            </c:ext>
          </c:extLst>
        </c:ser>
        <c:ser>
          <c:idx val="1"/>
          <c:order val="1"/>
          <c:tx>
            <c:strRef>
              <c:f>Sheet1!$B$44</c:f>
              <c:strCache>
                <c:ptCount val="1"/>
                <c:pt idx="0">
                  <c:v>T = 0.25y</c:v>
                </c:pt>
              </c:strCache>
            </c:strRef>
          </c:tx>
          <c:spPr>
            <a:ln w="25400">
              <a:solidFill>
                <a:srgbClr val="5BC8F5"/>
              </a:solidFill>
            </a:ln>
          </c:spPr>
          <c:marker>
            <c:symbol val="none"/>
          </c:marker>
          <c:xVal>
            <c:numRef>
              <c:f>Sheet1!$A$45:$A$85</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Sheet1!$B$45:$B$85</c:f>
              <c:numCache>
                <c:formatCode>General</c:formatCode>
                <c:ptCount val="41"/>
                <c:pt idx="0">
                  <c:v>0</c:v>
                </c:pt>
                <c:pt idx="1">
                  <c:v>0</c:v>
                </c:pt>
                <c:pt idx="2">
                  <c:v>0</c:v>
                </c:pt>
                <c:pt idx="3">
                  <c:v>0</c:v>
                </c:pt>
                <c:pt idx="4">
                  <c:v>1E-4</c:v>
                </c:pt>
                <c:pt idx="5">
                  <c:v>2.9999999999999997E-4</c:v>
                </c:pt>
                <c:pt idx="6">
                  <c:v>8.9999999999999998E-4</c:v>
                </c:pt>
                <c:pt idx="7">
                  <c:v>2.3E-3</c:v>
                </c:pt>
                <c:pt idx="8">
                  <c:v>5.0000000000000001E-3</c:v>
                </c:pt>
                <c:pt idx="9">
                  <c:v>1.04E-2</c:v>
                </c:pt>
                <c:pt idx="10">
                  <c:v>1.9699999999999999E-2</c:v>
                </c:pt>
                <c:pt idx="11">
                  <c:v>3.5000000000000003E-2</c:v>
                </c:pt>
                <c:pt idx="12">
                  <c:v>5.8099999999999999E-2</c:v>
                </c:pt>
                <c:pt idx="13">
                  <c:v>9.0800000000000006E-2</c:v>
                </c:pt>
                <c:pt idx="14">
                  <c:v>0.13450000000000001</c:v>
                </c:pt>
                <c:pt idx="15">
                  <c:v>0.18940000000000001</c:v>
                </c:pt>
                <c:pt idx="16">
                  <c:v>0.25459999999999999</c:v>
                </c:pt>
                <c:pt idx="17">
                  <c:v>0.32819999999999999</c:v>
                </c:pt>
                <c:pt idx="18">
                  <c:v>0.40749999999999997</c:v>
                </c:pt>
                <c:pt idx="19">
                  <c:v>0.48899999999999999</c:v>
                </c:pt>
                <c:pt idx="20">
                  <c:v>0.56940000000000002</c:v>
                </c:pt>
                <c:pt idx="21">
                  <c:v>0.64539999999999997</c:v>
                </c:pt>
                <c:pt idx="22">
                  <c:v>0.71479999999999999</c:v>
                </c:pt>
                <c:pt idx="23">
                  <c:v>0.77580000000000005</c:v>
                </c:pt>
                <c:pt idx="24">
                  <c:v>0.82779999999999998</c:v>
                </c:pt>
                <c:pt idx="25">
                  <c:v>0.87060000000000004</c:v>
                </c:pt>
                <c:pt idx="26">
                  <c:v>0.90480000000000005</c:v>
                </c:pt>
                <c:pt idx="27">
                  <c:v>0.93149999999999999</c:v>
                </c:pt>
                <c:pt idx="28">
                  <c:v>0.9516</c:v>
                </c:pt>
                <c:pt idx="29">
                  <c:v>0.96650000000000003</c:v>
                </c:pt>
                <c:pt idx="30">
                  <c:v>0.97729999999999995</c:v>
                </c:pt>
                <c:pt idx="31">
                  <c:v>0.98480000000000001</c:v>
                </c:pt>
                <c:pt idx="32">
                  <c:v>0.99009999999999998</c:v>
                </c:pt>
                <c:pt idx="33">
                  <c:v>0.99360000000000004</c:v>
                </c:pt>
                <c:pt idx="34">
                  <c:v>0.99590000000000001</c:v>
                </c:pt>
                <c:pt idx="35">
                  <c:v>0.99750000000000005</c:v>
                </c:pt>
                <c:pt idx="36">
                  <c:v>0.99839999999999995</c:v>
                </c:pt>
                <c:pt idx="37">
                  <c:v>0.99909999999999999</c:v>
                </c:pt>
                <c:pt idx="38">
                  <c:v>0.99939999999999996</c:v>
                </c:pt>
                <c:pt idx="39">
                  <c:v>0.99970000000000003</c:v>
                </c:pt>
                <c:pt idx="40">
                  <c:v>0.99980000000000002</c:v>
                </c:pt>
              </c:numCache>
            </c:numRef>
          </c:yVal>
          <c:smooth val="0"/>
          <c:extLst>
            <c:ext xmlns:c16="http://schemas.microsoft.com/office/drawing/2014/chart" uri="{C3380CC4-5D6E-409C-BE32-E72D297353CC}">
              <c16:uniqueId val="{00000001-671B-4D47-93B4-A31710473ADA}"/>
            </c:ext>
          </c:extLst>
        </c:ser>
        <c:ser>
          <c:idx val="2"/>
          <c:order val="2"/>
          <c:tx>
            <c:strRef>
              <c:f>Sheet1!$B$87</c:f>
              <c:strCache>
                <c:ptCount val="1"/>
                <c:pt idx="0">
                  <c:v>T = 0.05y</c:v>
                </c:pt>
              </c:strCache>
            </c:strRef>
          </c:tx>
          <c:spPr>
            <a:ln w="25400">
              <a:solidFill>
                <a:srgbClr val="FFB020"/>
              </a:solidFill>
            </a:ln>
          </c:spPr>
          <c:marker>
            <c:symbol val="none"/>
          </c:marker>
          <c:xVal>
            <c:numRef>
              <c:f>Sheet1!$A$88:$A$128</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Sheet1!$B$88:$B$128</c:f>
              <c:numCache>
                <c:formatCode>General</c:formatCode>
                <c:ptCount val="41"/>
                <c:pt idx="0">
                  <c:v>0</c:v>
                </c:pt>
                <c:pt idx="1">
                  <c:v>0</c:v>
                </c:pt>
                <c:pt idx="2">
                  <c:v>0</c:v>
                </c:pt>
                <c:pt idx="3">
                  <c:v>0</c:v>
                </c:pt>
                <c:pt idx="4">
                  <c:v>0</c:v>
                </c:pt>
                <c:pt idx="5">
                  <c:v>0</c:v>
                </c:pt>
                <c:pt idx="6">
                  <c:v>0</c:v>
                </c:pt>
                <c:pt idx="7">
                  <c:v>0</c:v>
                </c:pt>
                <c:pt idx="8">
                  <c:v>0</c:v>
                </c:pt>
                <c:pt idx="9">
                  <c:v>0</c:v>
                </c:pt>
                <c:pt idx="10">
                  <c:v>0</c:v>
                </c:pt>
                <c:pt idx="11">
                  <c:v>0</c:v>
                </c:pt>
                <c:pt idx="12">
                  <c:v>1E-4</c:v>
                </c:pt>
                <c:pt idx="13">
                  <c:v>5.0000000000000001E-4</c:v>
                </c:pt>
                <c:pt idx="14">
                  <c:v>2.5999999999999999E-3</c:v>
                </c:pt>
                <c:pt idx="15">
                  <c:v>1.09E-2</c:v>
                </c:pt>
                <c:pt idx="16">
                  <c:v>3.5999999999999997E-2</c:v>
                </c:pt>
                <c:pt idx="17">
                  <c:v>9.4200000000000006E-2</c:v>
                </c:pt>
                <c:pt idx="18">
                  <c:v>0.2001</c:v>
                </c:pt>
                <c:pt idx="19">
                  <c:v>0.35299999999999998</c:v>
                </c:pt>
                <c:pt idx="20">
                  <c:v>0.53100000000000003</c:v>
                </c:pt>
                <c:pt idx="21">
                  <c:v>0.69969999999999999</c:v>
                </c:pt>
                <c:pt idx="22">
                  <c:v>0.83169999999999999</c:v>
                </c:pt>
                <c:pt idx="23">
                  <c:v>0.91769999999999996</c:v>
                </c:pt>
                <c:pt idx="24">
                  <c:v>0.96489999999999998</c:v>
                </c:pt>
                <c:pt idx="25">
                  <c:v>0.9869</c:v>
                </c:pt>
                <c:pt idx="26">
                  <c:v>0.99570000000000003</c:v>
                </c:pt>
                <c:pt idx="27">
                  <c:v>0.99880000000000002</c:v>
                </c:pt>
                <c:pt idx="28">
                  <c:v>0.99970000000000003</c:v>
                </c:pt>
                <c:pt idx="29">
                  <c:v>0.99990000000000001</c:v>
                </c:pt>
                <c:pt idx="30">
                  <c:v>1</c:v>
                </c:pt>
                <c:pt idx="31">
                  <c:v>1</c:v>
                </c:pt>
                <c:pt idx="32">
                  <c:v>1</c:v>
                </c:pt>
                <c:pt idx="33">
                  <c:v>1</c:v>
                </c:pt>
                <c:pt idx="34">
                  <c:v>1</c:v>
                </c:pt>
                <c:pt idx="35">
                  <c:v>1</c:v>
                </c:pt>
                <c:pt idx="36">
                  <c:v>1</c:v>
                </c:pt>
                <c:pt idx="37">
                  <c:v>1</c:v>
                </c:pt>
                <c:pt idx="38">
                  <c:v>1</c:v>
                </c:pt>
                <c:pt idx="39">
                  <c:v>1</c:v>
                </c:pt>
                <c:pt idx="40">
                  <c:v>1</c:v>
                </c:pt>
              </c:numCache>
            </c:numRef>
          </c:yVal>
          <c:smooth val="0"/>
          <c:extLst>
            <c:ext xmlns:c16="http://schemas.microsoft.com/office/drawing/2014/chart" uri="{C3380CC4-5D6E-409C-BE32-E72D297353CC}">
              <c16:uniqueId val="{00000002-671B-4D47-93B4-A31710473ADA}"/>
            </c:ext>
          </c:extLst>
        </c:ser>
        <c:dLbls>
          <c:showLegendKey val="0"/>
          <c:showVal val="0"/>
          <c:showCatName val="0"/>
          <c:showSerName val="0"/>
          <c:showPercent val="0"/>
          <c:showBubbleSize val="0"/>
        </c:dLbls>
        <c:axId val="-2128940872"/>
        <c:axId val="-2129643912"/>
      </c:scatterChart>
      <c:valAx>
        <c:axId val="-2128940872"/>
        <c:scaling>
          <c:orientation val="minMax"/>
          <c:max val="140"/>
          <c:min val="60"/>
        </c:scaling>
        <c:delete val="0"/>
        <c:axPos val="b"/>
        <c:majorGridlines>
          <c:spPr>
            <a:ln w="6350">
              <a:solidFill>
                <a:srgbClr val="26352B"/>
              </a:solidFill>
            </a:ln>
          </c:spPr>
        </c:majorGridlines>
        <c:numFmt formatCode="General"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max val="1"/>
          <c:min val="0"/>
        </c:scaling>
        <c:delete val="0"/>
        <c:axPos val="l"/>
        <c:majorGridlines>
          <c:spPr>
            <a:ln w="6350">
              <a:solidFill>
                <a:srgbClr val="26352B"/>
              </a:solidFill>
            </a:ln>
          </c:spPr>
        </c:majorGridlines>
        <c:numFmt formatCode="0.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T = 1y</c:v>
                </c:pt>
              </c:strCache>
            </c:strRef>
          </c:tx>
          <c:spPr>
            <a:ln w="25400">
              <a:solidFill>
                <a:srgbClr val="3DDC84"/>
              </a:solidFill>
            </a:ln>
          </c:spPr>
          <c:marker>
            <c:symbol val="none"/>
          </c:marker>
          <c:xVal>
            <c:numRef>
              <c:f>Sheet1!$A$2:$A$42</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Sheet1!$B$2:$B$42</c:f>
              <c:numCache>
                <c:formatCode>General</c:formatCode>
                <c:ptCount val="41"/>
                <c:pt idx="0">
                  <c:v>2.9299999999999999E-3</c:v>
                </c:pt>
                <c:pt idx="1">
                  <c:v>4.0099999999999997E-3</c:v>
                </c:pt>
                <c:pt idx="2">
                  <c:v>5.3099999999999996E-3</c:v>
                </c:pt>
                <c:pt idx="3">
                  <c:v>6.7999999999999996E-3</c:v>
                </c:pt>
                <c:pt idx="4">
                  <c:v>8.4399999999999996E-3</c:v>
                </c:pt>
                <c:pt idx="5">
                  <c:v>1.0200000000000001E-2</c:v>
                </c:pt>
                <c:pt idx="6">
                  <c:v>1.2019999999999999E-2</c:v>
                </c:pt>
                <c:pt idx="7">
                  <c:v>1.383E-2</c:v>
                </c:pt>
                <c:pt idx="8">
                  <c:v>1.5570000000000001E-2</c:v>
                </c:pt>
                <c:pt idx="9">
                  <c:v>1.7170000000000001E-2</c:v>
                </c:pt>
                <c:pt idx="10">
                  <c:v>1.8599999999999998E-2</c:v>
                </c:pt>
                <c:pt idx="11">
                  <c:v>1.9789999999999999E-2</c:v>
                </c:pt>
                <c:pt idx="12">
                  <c:v>2.0719999999999999E-2</c:v>
                </c:pt>
                <c:pt idx="13">
                  <c:v>2.138E-2</c:v>
                </c:pt>
                <c:pt idx="14">
                  <c:v>2.1739999999999999E-2</c:v>
                </c:pt>
                <c:pt idx="15">
                  <c:v>2.1819999999999999E-2</c:v>
                </c:pt>
                <c:pt idx="16">
                  <c:v>2.163E-2</c:v>
                </c:pt>
                <c:pt idx="17">
                  <c:v>2.12E-2</c:v>
                </c:pt>
                <c:pt idx="18">
                  <c:v>2.0559999999999998E-2</c:v>
                </c:pt>
                <c:pt idx="19">
                  <c:v>1.9730000000000001E-2</c:v>
                </c:pt>
                <c:pt idx="20">
                  <c:v>1.8759999999999999E-2</c:v>
                </c:pt>
                <c:pt idx="21">
                  <c:v>1.7680000000000001E-2</c:v>
                </c:pt>
                <c:pt idx="22">
                  <c:v>1.652E-2</c:v>
                </c:pt>
                <c:pt idx="23">
                  <c:v>1.532E-2</c:v>
                </c:pt>
                <c:pt idx="24">
                  <c:v>1.41E-2</c:v>
                </c:pt>
                <c:pt idx="25">
                  <c:v>1.289E-2</c:v>
                </c:pt>
                <c:pt idx="26">
                  <c:v>1.17E-2</c:v>
                </c:pt>
                <c:pt idx="27">
                  <c:v>1.056E-2</c:v>
                </c:pt>
                <c:pt idx="28">
                  <c:v>9.4699999999999993E-3</c:v>
                </c:pt>
                <c:pt idx="29">
                  <c:v>8.4499999999999992E-3</c:v>
                </c:pt>
                <c:pt idx="30">
                  <c:v>7.4999999999999997E-3</c:v>
                </c:pt>
                <c:pt idx="31">
                  <c:v>6.62E-3</c:v>
                </c:pt>
                <c:pt idx="32">
                  <c:v>5.8199999999999997E-3</c:v>
                </c:pt>
                <c:pt idx="33">
                  <c:v>5.1000000000000004E-3</c:v>
                </c:pt>
                <c:pt idx="34">
                  <c:v>4.4400000000000004E-3</c:v>
                </c:pt>
                <c:pt idx="35">
                  <c:v>3.8600000000000001E-3</c:v>
                </c:pt>
                <c:pt idx="36">
                  <c:v>3.3400000000000001E-3</c:v>
                </c:pt>
                <c:pt idx="37">
                  <c:v>2.8800000000000002E-3</c:v>
                </c:pt>
                <c:pt idx="38">
                  <c:v>2.47E-3</c:v>
                </c:pt>
                <c:pt idx="39">
                  <c:v>2.1199999999999999E-3</c:v>
                </c:pt>
                <c:pt idx="40">
                  <c:v>1.81E-3</c:v>
                </c:pt>
              </c:numCache>
            </c:numRef>
          </c:yVal>
          <c:smooth val="0"/>
          <c:extLst>
            <c:ext xmlns:c16="http://schemas.microsoft.com/office/drawing/2014/chart" uri="{C3380CC4-5D6E-409C-BE32-E72D297353CC}">
              <c16:uniqueId val="{00000000-7631-4D59-A800-D06FD7FA1FC3}"/>
            </c:ext>
          </c:extLst>
        </c:ser>
        <c:ser>
          <c:idx val="1"/>
          <c:order val="1"/>
          <c:tx>
            <c:strRef>
              <c:f>Sheet1!$B$44</c:f>
              <c:strCache>
                <c:ptCount val="1"/>
                <c:pt idx="0">
                  <c:v>T = 0.25y</c:v>
                </c:pt>
              </c:strCache>
            </c:strRef>
          </c:tx>
          <c:spPr>
            <a:ln w="25400">
              <a:solidFill>
                <a:srgbClr val="5BC8F5"/>
              </a:solidFill>
            </a:ln>
          </c:spPr>
          <c:marker>
            <c:symbol val="none"/>
          </c:marker>
          <c:xVal>
            <c:numRef>
              <c:f>Sheet1!$A$45:$A$85</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Sheet1!$B$45:$B$85</c:f>
              <c:numCache>
                <c:formatCode>General</c:formatCode>
                <c:ptCount val="41"/>
                <c:pt idx="0">
                  <c:v>0</c:v>
                </c:pt>
                <c:pt idx="1">
                  <c:v>0</c:v>
                </c:pt>
                <c:pt idx="2">
                  <c:v>1.0000000000000001E-5</c:v>
                </c:pt>
                <c:pt idx="3">
                  <c:v>2.0000000000000002E-5</c:v>
                </c:pt>
                <c:pt idx="4">
                  <c:v>6.9999999999999994E-5</c:v>
                </c:pt>
                <c:pt idx="5">
                  <c:v>1.8000000000000001E-4</c:v>
                </c:pt>
                <c:pt idx="6">
                  <c:v>4.2999999999999999E-4</c:v>
                </c:pt>
                <c:pt idx="7">
                  <c:v>9.6000000000000002E-4</c:v>
                </c:pt>
                <c:pt idx="8">
                  <c:v>1.92E-3</c:v>
                </c:pt>
                <c:pt idx="9">
                  <c:v>3.5300000000000002E-3</c:v>
                </c:pt>
                <c:pt idx="10">
                  <c:v>5.9899999999999997E-3</c:v>
                </c:pt>
                <c:pt idx="11">
                  <c:v>9.4299999999999991E-3</c:v>
                </c:pt>
                <c:pt idx="12">
                  <c:v>1.384E-2</c:v>
                </c:pt>
                <c:pt idx="13">
                  <c:v>1.9040000000000001E-2</c:v>
                </c:pt>
                <c:pt idx="14">
                  <c:v>2.4639999999999999E-2</c:v>
                </c:pt>
                <c:pt idx="15">
                  <c:v>3.0130000000000001E-2</c:v>
                </c:pt>
                <c:pt idx="16">
                  <c:v>3.492E-2</c:v>
                </c:pt>
                <c:pt idx="17">
                  <c:v>3.85E-2</c:v>
                </c:pt>
                <c:pt idx="18">
                  <c:v>4.0489999999999998E-2</c:v>
                </c:pt>
                <c:pt idx="19">
                  <c:v>4.0750000000000001E-2</c:v>
                </c:pt>
                <c:pt idx="20">
                  <c:v>3.934E-2</c:v>
                </c:pt>
                <c:pt idx="21">
                  <c:v>3.653E-2</c:v>
                </c:pt>
                <c:pt idx="22">
                  <c:v>3.27E-2</c:v>
                </c:pt>
                <c:pt idx="23">
                  <c:v>2.827E-2</c:v>
                </c:pt>
                <c:pt idx="24">
                  <c:v>2.366E-2</c:v>
                </c:pt>
                <c:pt idx="25">
                  <c:v>1.9199999999999998E-2</c:v>
                </c:pt>
                <c:pt idx="26">
                  <c:v>1.5129999999999999E-2</c:v>
                </c:pt>
                <c:pt idx="27">
                  <c:v>1.1599999999999999E-2</c:v>
                </c:pt>
                <c:pt idx="28">
                  <c:v>8.6700000000000006E-3</c:v>
                </c:pt>
                <c:pt idx="29">
                  <c:v>6.3200000000000001E-3</c:v>
                </c:pt>
                <c:pt idx="30">
                  <c:v>4.4999999999999997E-3</c:v>
                </c:pt>
                <c:pt idx="31">
                  <c:v>3.14E-3</c:v>
                </c:pt>
                <c:pt idx="32">
                  <c:v>2.14E-3</c:v>
                </c:pt>
                <c:pt idx="33">
                  <c:v>1.4300000000000001E-3</c:v>
                </c:pt>
                <c:pt idx="34">
                  <c:v>9.3999999999999997E-4</c:v>
                </c:pt>
                <c:pt idx="35">
                  <c:v>6.0999999999999997E-4</c:v>
                </c:pt>
                <c:pt idx="36">
                  <c:v>3.8000000000000002E-4</c:v>
                </c:pt>
                <c:pt idx="37">
                  <c:v>2.4000000000000001E-4</c:v>
                </c:pt>
                <c:pt idx="38">
                  <c:v>1.4999999999999999E-4</c:v>
                </c:pt>
                <c:pt idx="39">
                  <c:v>9.0000000000000006E-5</c:v>
                </c:pt>
                <c:pt idx="40">
                  <c:v>5.0000000000000002E-5</c:v>
                </c:pt>
              </c:numCache>
            </c:numRef>
          </c:yVal>
          <c:smooth val="0"/>
          <c:extLst>
            <c:ext xmlns:c16="http://schemas.microsoft.com/office/drawing/2014/chart" uri="{C3380CC4-5D6E-409C-BE32-E72D297353CC}">
              <c16:uniqueId val="{00000001-7631-4D59-A800-D06FD7FA1FC3}"/>
            </c:ext>
          </c:extLst>
        </c:ser>
        <c:ser>
          <c:idx val="2"/>
          <c:order val="2"/>
          <c:tx>
            <c:strRef>
              <c:f>Sheet1!$B$87</c:f>
              <c:strCache>
                <c:ptCount val="1"/>
                <c:pt idx="0">
                  <c:v>T = 0.05y</c:v>
                </c:pt>
              </c:strCache>
            </c:strRef>
          </c:tx>
          <c:spPr>
            <a:ln w="25400">
              <a:solidFill>
                <a:srgbClr val="FFB020"/>
              </a:solidFill>
            </a:ln>
          </c:spPr>
          <c:marker>
            <c:symbol val="none"/>
          </c:marker>
          <c:xVal>
            <c:numRef>
              <c:f>Sheet1!$A$88:$A$128</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Sheet1!$B$88:$B$128</c:f>
              <c:numCache>
                <c:formatCode>General</c:formatCode>
                <c:ptCount val="41"/>
                <c:pt idx="0">
                  <c:v>0</c:v>
                </c:pt>
                <c:pt idx="1">
                  <c:v>0</c:v>
                </c:pt>
                <c:pt idx="2">
                  <c:v>0</c:v>
                </c:pt>
                <c:pt idx="3">
                  <c:v>0</c:v>
                </c:pt>
                <c:pt idx="4">
                  <c:v>0</c:v>
                </c:pt>
                <c:pt idx="5">
                  <c:v>0</c:v>
                </c:pt>
                <c:pt idx="6">
                  <c:v>0</c:v>
                </c:pt>
                <c:pt idx="7">
                  <c:v>0</c:v>
                </c:pt>
                <c:pt idx="8">
                  <c:v>0</c:v>
                </c:pt>
                <c:pt idx="9">
                  <c:v>0</c:v>
                </c:pt>
                <c:pt idx="10">
                  <c:v>0</c:v>
                </c:pt>
                <c:pt idx="11">
                  <c:v>1.0000000000000001E-5</c:v>
                </c:pt>
                <c:pt idx="12">
                  <c:v>6.9999999999999994E-5</c:v>
                </c:pt>
                <c:pt idx="13">
                  <c:v>4.2000000000000002E-4</c:v>
                </c:pt>
                <c:pt idx="14">
                  <c:v>2.0200000000000001E-3</c:v>
                </c:pt>
                <c:pt idx="15">
                  <c:v>7.1799999999999998E-3</c:v>
                </c:pt>
                <c:pt idx="16">
                  <c:v>1.933E-2</c:v>
                </c:pt>
                <c:pt idx="17">
                  <c:v>4.0230000000000002E-2</c:v>
                </c:pt>
                <c:pt idx="18">
                  <c:v>6.5670000000000006E-2</c:v>
                </c:pt>
                <c:pt idx="19">
                  <c:v>8.5360000000000005E-2</c:v>
                </c:pt>
                <c:pt idx="20">
                  <c:v>8.9550000000000005E-2</c:v>
                </c:pt>
                <c:pt idx="21">
                  <c:v>7.6780000000000001E-2</c:v>
                </c:pt>
                <c:pt idx="22">
                  <c:v>5.4440000000000002E-2</c:v>
                </c:pt>
                <c:pt idx="23">
                  <c:v>3.2259999999999997E-2</c:v>
                </c:pt>
                <c:pt idx="24">
                  <c:v>1.6150000000000001E-2</c:v>
                </c:pt>
                <c:pt idx="25">
                  <c:v>6.8900000000000003E-3</c:v>
                </c:pt>
                <c:pt idx="26">
                  <c:v>2.5300000000000001E-3</c:v>
                </c:pt>
                <c:pt idx="27">
                  <c:v>8.0000000000000004E-4</c:v>
                </c:pt>
                <c:pt idx="28">
                  <c:v>2.2000000000000001E-4</c:v>
                </c:pt>
                <c:pt idx="29">
                  <c:v>5.0000000000000002E-5</c:v>
                </c:pt>
                <c:pt idx="30">
                  <c:v>1.0000000000000001E-5</c:v>
                </c:pt>
                <c:pt idx="31">
                  <c:v>0</c:v>
                </c:pt>
                <c:pt idx="32">
                  <c:v>0</c:v>
                </c:pt>
                <c:pt idx="33">
                  <c:v>0</c:v>
                </c:pt>
                <c:pt idx="34">
                  <c:v>0</c:v>
                </c:pt>
                <c:pt idx="35">
                  <c:v>0</c:v>
                </c:pt>
                <c:pt idx="36">
                  <c:v>0</c:v>
                </c:pt>
                <c:pt idx="37">
                  <c:v>0</c:v>
                </c:pt>
                <c:pt idx="38">
                  <c:v>0</c:v>
                </c:pt>
                <c:pt idx="39">
                  <c:v>0</c:v>
                </c:pt>
                <c:pt idx="40">
                  <c:v>0</c:v>
                </c:pt>
              </c:numCache>
            </c:numRef>
          </c:yVal>
          <c:smooth val="0"/>
          <c:extLst>
            <c:ext xmlns:c16="http://schemas.microsoft.com/office/drawing/2014/chart" uri="{C3380CC4-5D6E-409C-BE32-E72D297353CC}">
              <c16:uniqueId val="{00000002-7631-4D59-A800-D06FD7FA1FC3}"/>
            </c:ext>
          </c:extLst>
        </c:ser>
        <c:dLbls>
          <c:showLegendKey val="0"/>
          <c:showVal val="0"/>
          <c:showCatName val="0"/>
          <c:showSerName val="0"/>
          <c:showPercent val="0"/>
          <c:showBubbleSize val="0"/>
        </c:dLbls>
        <c:axId val="-2128940872"/>
        <c:axId val="-2129643912"/>
      </c:scatterChart>
      <c:valAx>
        <c:axId val="-2128940872"/>
        <c:scaling>
          <c:orientation val="minMax"/>
          <c:max val="140"/>
          <c:min val="60"/>
        </c:scaling>
        <c:delete val="0"/>
        <c:axPos val="b"/>
        <c:majorGridlines>
          <c:spPr>
            <a:ln w="6350">
              <a:solidFill>
                <a:srgbClr val="26352B"/>
              </a:solidFill>
            </a:ln>
          </c:spPr>
        </c:majorGridlines>
        <c:numFmt formatCode="General"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min val="0"/>
        </c:scaling>
        <c:delete val="0"/>
        <c:axPos val="l"/>
        <c:majorGridlines>
          <c:spPr>
            <a:ln w="6350">
              <a:solidFill>
                <a:srgbClr val="26352B"/>
              </a:solidFill>
            </a:ln>
          </c:spPr>
        </c:majorGridlines>
        <c:numFmt formatCode="0.0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BSM, vs spot</c:v>
                </c:pt>
              </c:strCache>
            </c:strRef>
          </c:tx>
          <c:spPr>
            <a:ln w="25400">
              <a:solidFill>
                <a:srgbClr val="3DDC84"/>
              </a:solidFill>
            </a:ln>
          </c:spPr>
          <c:marker>
            <c:symbol val="none"/>
          </c:marker>
          <c:xVal>
            <c:numRef>
              <c:f>Sheet1!$A$2:$A$42</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Sheet1!$B$2:$B$42</c:f>
              <c:numCache>
                <c:formatCode>General</c:formatCode>
                <c:ptCount val="41"/>
                <c:pt idx="0">
                  <c:v>1.38E-2</c:v>
                </c:pt>
                <c:pt idx="1">
                  <c:v>2.07E-2</c:v>
                </c:pt>
                <c:pt idx="2">
                  <c:v>0.03</c:v>
                </c:pt>
                <c:pt idx="3">
                  <c:v>4.2000000000000003E-2</c:v>
                </c:pt>
                <c:pt idx="4">
                  <c:v>5.7200000000000001E-2</c:v>
                </c:pt>
                <c:pt idx="5">
                  <c:v>7.5899999999999995E-2</c:v>
                </c:pt>
                <c:pt idx="6">
                  <c:v>9.8100000000000007E-2</c:v>
                </c:pt>
                <c:pt idx="7">
                  <c:v>0.1239</c:v>
                </c:pt>
                <c:pt idx="8">
                  <c:v>0.15329999999999999</c:v>
                </c:pt>
                <c:pt idx="9">
                  <c:v>0.18609999999999999</c:v>
                </c:pt>
                <c:pt idx="10">
                  <c:v>0.22189999999999999</c:v>
                </c:pt>
                <c:pt idx="11">
                  <c:v>0.26040000000000002</c:v>
                </c:pt>
                <c:pt idx="12">
                  <c:v>0.3009</c:v>
                </c:pt>
                <c:pt idx="13">
                  <c:v>0.34310000000000002</c:v>
                </c:pt>
                <c:pt idx="14">
                  <c:v>0.38619999999999999</c:v>
                </c:pt>
                <c:pt idx="15">
                  <c:v>0.42980000000000002</c:v>
                </c:pt>
                <c:pt idx="16">
                  <c:v>0.4733</c:v>
                </c:pt>
                <c:pt idx="17">
                  <c:v>0.51619999999999999</c:v>
                </c:pt>
                <c:pt idx="18">
                  <c:v>0.55800000000000005</c:v>
                </c:pt>
                <c:pt idx="19">
                  <c:v>0.59830000000000005</c:v>
                </c:pt>
                <c:pt idx="20">
                  <c:v>0.63680000000000003</c:v>
                </c:pt>
                <c:pt idx="21">
                  <c:v>0.67330000000000001</c:v>
                </c:pt>
                <c:pt idx="22">
                  <c:v>0.70750000000000002</c:v>
                </c:pt>
                <c:pt idx="23">
                  <c:v>0.73939999999999995</c:v>
                </c:pt>
                <c:pt idx="24">
                  <c:v>0.76880000000000004</c:v>
                </c:pt>
                <c:pt idx="25">
                  <c:v>0.79579999999999995</c:v>
                </c:pt>
                <c:pt idx="26">
                  <c:v>0.82030000000000003</c:v>
                </c:pt>
                <c:pt idx="27">
                  <c:v>0.84260000000000002</c:v>
                </c:pt>
                <c:pt idx="28">
                  <c:v>0.86260000000000003</c:v>
                </c:pt>
                <c:pt idx="29">
                  <c:v>0.88049999999999995</c:v>
                </c:pt>
                <c:pt idx="30">
                  <c:v>0.89649999999999996</c:v>
                </c:pt>
                <c:pt idx="31">
                  <c:v>0.91059999999999997</c:v>
                </c:pt>
                <c:pt idx="32">
                  <c:v>0.92300000000000004</c:v>
                </c:pt>
                <c:pt idx="33">
                  <c:v>0.93389999999999995</c:v>
                </c:pt>
                <c:pt idx="34">
                  <c:v>0.94340000000000002</c:v>
                </c:pt>
                <c:pt idx="35">
                  <c:v>0.95169999999999999</c:v>
                </c:pt>
                <c:pt idx="36">
                  <c:v>0.95889999999999997</c:v>
                </c:pt>
                <c:pt idx="37">
                  <c:v>0.96509999999999996</c:v>
                </c:pt>
                <c:pt idx="38">
                  <c:v>0.97040000000000004</c:v>
                </c:pt>
                <c:pt idx="39">
                  <c:v>0.97499999999999998</c:v>
                </c:pt>
                <c:pt idx="40">
                  <c:v>0.97889999999999999</c:v>
                </c:pt>
              </c:numCache>
            </c:numRef>
          </c:yVal>
          <c:smooth val="0"/>
          <c:extLst>
            <c:ext xmlns:c16="http://schemas.microsoft.com/office/drawing/2014/chart" uri="{C3380CC4-5D6E-409C-BE32-E72D297353CC}">
              <c16:uniqueId val="{00000000-74DB-45FA-B671-72B2CCC72FD7}"/>
            </c:ext>
          </c:extLst>
        </c:ser>
        <c:ser>
          <c:idx val="1"/>
          <c:order val="1"/>
          <c:tx>
            <c:strRef>
              <c:f>Sheet1!$B$44</c:f>
              <c:strCache>
                <c:ptCount val="1"/>
                <c:pt idx="0">
                  <c:v>Black-76, vs futures</c:v>
                </c:pt>
              </c:strCache>
            </c:strRef>
          </c:tx>
          <c:spPr>
            <a:ln w="25400">
              <a:solidFill>
                <a:srgbClr val="5BC8F5"/>
              </a:solidFill>
            </a:ln>
          </c:spPr>
          <c:marker>
            <c:symbol val="none"/>
          </c:marker>
          <c:xVal>
            <c:numRef>
              <c:f>Sheet1!$A$45:$A$85</c:f>
              <c:numCache>
                <c:formatCode>General</c:formatCode>
                <c:ptCount val="41"/>
                <c:pt idx="0">
                  <c:v>60</c:v>
                </c:pt>
                <c:pt idx="1">
                  <c:v>62</c:v>
                </c:pt>
                <c:pt idx="2">
                  <c:v>64</c:v>
                </c:pt>
                <c:pt idx="3">
                  <c:v>66</c:v>
                </c:pt>
                <c:pt idx="4">
                  <c:v>68</c:v>
                </c:pt>
                <c:pt idx="5">
                  <c:v>70</c:v>
                </c:pt>
                <c:pt idx="6">
                  <c:v>72</c:v>
                </c:pt>
                <c:pt idx="7">
                  <c:v>74</c:v>
                </c:pt>
                <c:pt idx="8">
                  <c:v>76</c:v>
                </c:pt>
                <c:pt idx="9">
                  <c:v>78</c:v>
                </c:pt>
                <c:pt idx="10">
                  <c:v>80</c:v>
                </c:pt>
                <c:pt idx="11">
                  <c:v>82</c:v>
                </c:pt>
                <c:pt idx="12">
                  <c:v>84</c:v>
                </c:pt>
                <c:pt idx="13">
                  <c:v>86</c:v>
                </c:pt>
                <c:pt idx="14">
                  <c:v>88</c:v>
                </c:pt>
                <c:pt idx="15">
                  <c:v>90</c:v>
                </c:pt>
                <c:pt idx="16">
                  <c:v>92</c:v>
                </c:pt>
                <c:pt idx="17">
                  <c:v>94</c:v>
                </c:pt>
                <c:pt idx="18">
                  <c:v>96</c:v>
                </c:pt>
                <c:pt idx="19">
                  <c:v>98</c:v>
                </c:pt>
                <c:pt idx="20">
                  <c:v>100</c:v>
                </c:pt>
                <c:pt idx="21">
                  <c:v>102</c:v>
                </c:pt>
                <c:pt idx="22">
                  <c:v>104</c:v>
                </c:pt>
                <c:pt idx="23">
                  <c:v>106</c:v>
                </c:pt>
                <c:pt idx="24">
                  <c:v>108</c:v>
                </c:pt>
                <c:pt idx="25">
                  <c:v>110</c:v>
                </c:pt>
                <c:pt idx="26">
                  <c:v>112</c:v>
                </c:pt>
                <c:pt idx="27">
                  <c:v>114</c:v>
                </c:pt>
                <c:pt idx="28">
                  <c:v>116</c:v>
                </c:pt>
                <c:pt idx="29">
                  <c:v>118</c:v>
                </c:pt>
                <c:pt idx="30">
                  <c:v>120</c:v>
                </c:pt>
                <c:pt idx="31">
                  <c:v>122</c:v>
                </c:pt>
                <c:pt idx="32">
                  <c:v>124</c:v>
                </c:pt>
                <c:pt idx="33">
                  <c:v>126</c:v>
                </c:pt>
                <c:pt idx="34">
                  <c:v>128</c:v>
                </c:pt>
                <c:pt idx="35">
                  <c:v>130</c:v>
                </c:pt>
                <c:pt idx="36">
                  <c:v>132</c:v>
                </c:pt>
                <c:pt idx="37">
                  <c:v>134</c:v>
                </c:pt>
                <c:pt idx="38">
                  <c:v>136</c:v>
                </c:pt>
                <c:pt idx="39">
                  <c:v>138</c:v>
                </c:pt>
                <c:pt idx="40">
                  <c:v>140</c:v>
                </c:pt>
              </c:numCache>
            </c:numRef>
          </c:xVal>
          <c:yVal>
            <c:numRef>
              <c:f>Sheet1!$B$45:$B$85</c:f>
              <c:numCache>
                <c:formatCode>General</c:formatCode>
                <c:ptCount val="41"/>
                <c:pt idx="0">
                  <c:v>6.7000000000000002E-3</c:v>
                </c:pt>
                <c:pt idx="1">
                  <c:v>1.0500000000000001E-2</c:v>
                </c:pt>
                <c:pt idx="2">
                  <c:v>1.5699999999999999E-2</c:v>
                </c:pt>
                <c:pt idx="3">
                  <c:v>2.2800000000000001E-2</c:v>
                </c:pt>
                <c:pt idx="4">
                  <c:v>3.2099999999999997E-2</c:v>
                </c:pt>
                <c:pt idx="5">
                  <c:v>4.3900000000000002E-2</c:v>
                </c:pt>
                <c:pt idx="6">
                  <c:v>5.8500000000000003E-2</c:v>
                </c:pt>
                <c:pt idx="7">
                  <c:v>7.5999999999999998E-2</c:v>
                </c:pt>
                <c:pt idx="8">
                  <c:v>9.6699999999999994E-2</c:v>
                </c:pt>
                <c:pt idx="9">
                  <c:v>0.1205</c:v>
                </c:pt>
                <c:pt idx="10">
                  <c:v>0.14729999999999999</c:v>
                </c:pt>
                <c:pt idx="11">
                  <c:v>0.17710000000000001</c:v>
                </c:pt>
                <c:pt idx="12">
                  <c:v>0.2094</c:v>
                </c:pt>
                <c:pt idx="13">
                  <c:v>0.24399999999999999</c:v>
                </c:pt>
                <c:pt idx="14">
                  <c:v>0.28050000000000003</c:v>
                </c:pt>
                <c:pt idx="15">
                  <c:v>0.31840000000000002</c:v>
                </c:pt>
                <c:pt idx="16">
                  <c:v>0.35730000000000001</c:v>
                </c:pt>
                <c:pt idx="17">
                  <c:v>0.3967</c:v>
                </c:pt>
                <c:pt idx="18">
                  <c:v>0.43619999999999998</c:v>
                </c:pt>
                <c:pt idx="19">
                  <c:v>0.47520000000000001</c:v>
                </c:pt>
                <c:pt idx="20">
                  <c:v>0.51349999999999996</c:v>
                </c:pt>
                <c:pt idx="21">
                  <c:v>0.55059999999999998</c:v>
                </c:pt>
                <c:pt idx="22">
                  <c:v>0.58640000000000003</c:v>
                </c:pt>
                <c:pt idx="23">
                  <c:v>0.62039999999999995</c:v>
                </c:pt>
                <c:pt idx="24">
                  <c:v>0.65259999999999996</c:v>
                </c:pt>
                <c:pt idx="25">
                  <c:v>0.68289999999999995</c:v>
                </c:pt>
                <c:pt idx="26">
                  <c:v>0.71099999999999997</c:v>
                </c:pt>
                <c:pt idx="27">
                  <c:v>0.73709999999999998</c:v>
                </c:pt>
                <c:pt idx="28">
                  <c:v>0.7611</c:v>
                </c:pt>
                <c:pt idx="29">
                  <c:v>0.78300000000000003</c:v>
                </c:pt>
                <c:pt idx="30">
                  <c:v>0.80300000000000005</c:v>
                </c:pt>
                <c:pt idx="31">
                  <c:v>0.82099999999999995</c:v>
                </c:pt>
                <c:pt idx="32">
                  <c:v>0.83720000000000006</c:v>
                </c:pt>
                <c:pt idx="33">
                  <c:v>0.85170000000000001</c:v>
                </c:pt>
                <c:pt idx="34">
                  <c:v>0.86460000000000004</c:v>
                </c:pt>
                <c:pt idx="35">
                  <c:v>0.87609999999999999</c:v>
                </c:pt>
                <c:pt idx="36">
                  <c:v>0.88619999999999999</c:v>
                </c:pt>
                <c:pt idx="37">
                  <c:v>0.89510000000000001</c:v>
                </c:pt>
                <c:pt idx="38">
                  <c:v>0.90290000000000004</c:v>
                </c:pt>
                <c:pt idx="39">
                  <c:v>0.90980000000000005</c:v>
                </c:pt>
                <c:pt idx="40">
                  <c:v>0.91569999999999996</c:v>
                </c:pt>
              </c:numCache>
            </c:numRef>
          </c:yVal>
          <c:smooth val="0"/>
          <c:extLst>
            <c:ext xmlns:c16="http://schemas.microsoft.com/office/drawing/2014/chart" uri="{C3380CC4-5D6E-409C-BE32-E72D297353CC}">
              <c16:uniqueId val="{00000001-74DB-45FA-B671-72B2CCC72FD7}"/>
            </c:ext>
          </c:extLst>
        </c:ser>
        <c:dLbls>
          <c:showLegendKey val="0"/>
          <c:showVal val="0"/>
          <c:showCatName val="0"/>
          <c:showSerName val="0"/>
          <c:showPercent val="0"/>
          <c:showBubbleSize val="0"/>
        </c:dLbls>
        <c:axId val="-2128940872"/>
        <c:axId val="-2129643912"/>
      </c:scatterChart>
      <c:valAx>
        <c:axId val="-2128940872"/>
        <c:scaling>
          <c:orientation val="minMax"/>
          <c:max val="140"/>
          <c:min val="60"/>
        </c:scaling>
        <c:delete val="0"/>
        <c:axPos val="b"/>
        <c:majorGridlines>
          <c:spPr>
            <a:ln w="6350">
              <a:solidFill>
                <a:srgbClr val="26352B"/>
              </a:solidFill>
            </a:ln>
          </c:spPr>
        </c:majorGridlines>
        <c:numFmt formatCode="General"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max val="1"/>
          <c:min val="0"/>
        </c:scaling>
        <c:delete val="0"/>
        <c:axPos val="l"/>
        <c:majorGridlines>
          <c:spPr>
            <a:ln w="6350">
              <a:solidFill>
                <a:srgbClr val="26352B"/>
              </a:solidFill>
            </a:ln>
          </c:spPr>
        </c:majorGridlines>
        <c:numFmt formatCode="0.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CRR</c:v>
                </c:pt>
              </c:strCache>
            </c:strRef>
          </c:tx>
          <c:spPr>
            <a:ln w="25400">
              <a:solidFill>
                <a:srgbClr val="FFB020"/>
              </a:solidFill>
            </a:ln>
          </c:spPr>
          <c:marker>
            <c:symbol val="none"/>
          </c:marker>
          <c:xVal>
            <c:numRef>
              <c:f>Sheet1!$A$2:$A$9</c:f>
              <c:numCache>
                <c:formatCode>General</c:formatCode>
                <c:ptCount val="8"/>
                <c:pt idx="0">
                  <c:v>11</c:v>
                </c:pt>
                <c:pt idx="1">
                  <c:v>21</c:v>
                </c:pt>
                <c:pt idx="2">
                  <c:v>51</c:v>
                </c:pt>
                <c:pt idx="3">
                  <c:v>101</c:v>
                </c:pt>
                <c:pt idx="4">
                  <c:v>201</c:v>
                </c:pt>
                <c:pt idx="5">
                  <c:v>401</c:v>
                </c:pt>
                <c:pt idx="6">
                  <c:v>801</c:v>
                </c:pt>
                <c:pt idx="7">
                  <c:v>1001</c:v>
                </c:pt>
              </c:numCache>
            </c:numRef>
          </c:xVal>
          <c:yVal>
            <c:numRef>
              <c:f>Sheet1!$B$2:$B$9</c:f>
              <c:numCache>
                <c:formatCode>General</c:formatCode>
                <c:ptCount val="8"/>
                <c:pt idx="0">
                  <c:v>0.16061652368989598</c:v>
                </c:pt>
                <c:pt idx="1">
                  <c:v>8.3844806885895906E-2</c:v>
                </c:pt>
                <c:pt idx="2">
                  <c:v>3.4434917873104709E-2</c:v>
                </c:pt>
                <c:pt idx="3">
                  <c:v>1.7371102658776394E-2</c:v>
                </c:pt>
                <c:pt idx="4">
                  <c:v>8.7243563237908717E-3</c:v>
                </c:pt>
                <c:pt idx="5">
                  <c:v>4.3719289295420793E-3</c:v>
                </c:pt>
                <c:pt idx="6">
                  <c:v>2.1884083620999917E-3</c:v>
                </c:pt>
                <c:pt idx="7">
                  <c:v>1.7511181074745252E-3</c:v>
                </c:pt>
              </c:numCache>
            </c:numRef>
          </c:yVal>
          <c:smooth val="0"/>
          <c:extLst>
            <c:ext xmlns:c16="http://schemas.microsoft.com/office/drawing/2014/chart" uri="{C3380CC4-5D6E-409C-BE32-E72D297353CC}">
              <c16:uniqueId val="{00000000-CE85-4B53-8DDC-D94D3D5476B0}"/>
            </c:ext>
          </c:extLst>
        </c:ser>
        <c:ser>
          <c:idx val="1"/>
          <c:order val="1"/>
          <c:tx>
            <c:strRef>
              <c:f>Sheet1!$B$11</c:f>
              <c:strCache>
                <c:ptCount val="1"/>
                <c:pt idx="0">
                  <c:v>Leisen-Reimer</c:v>
                </c:pt>
              </c:strCache>
            </c:strRef>
          </c:tx>
          <c:spPr>
            <a:ln w="25400">
              <a:solidFill>
                <a:srgbClr val="5BC8F5"/>
              </a:solidFill>
            </a:ln>
          </c:spPr>
          <c:marker>
            <c:symbol val="none"/>
          </c:marker>
          <c:xVal>
            <c:numRef>
              <c:f>Sheet1!$A$12:$A$19</c:f>
              <c:numCache>
                <c:formatCode>General</c:formatCode>
                <c:ptCount val="8"/>
                <c:pt idx="0">
                  <c:v>11</c:v>
                </c:pt>
                <c:pt idx="1">
                  <c:v>21</c:v>
                </c:pt>
                <c:pt idx="2">
                  <c:v>51</c:v>
                </c:pt>
                <c:pt idx="3">
                  <c:v>101</c:v>
                </c:pt>
                <c:pt idx="4">
                  <c:v>201</c:v>
                </c:pt>
                <c:pt idx="5">
                  <c:v>401</c:v>
                </c:pt>
                <c:pt idx="6">
                  <c:v>801</c:v>
                </c:pt>
                <c:pt idx="7">
                  <c:v>1001</c:v>
                </c:pt>
              </c:numCache>
            </c:numRef>
          </c:xVal>
          <c:yVal>
            <c:numRef>
              <c:f>Sheet1!$B$12:$B$19</c:f>
              <c:numCache>
                <c:formatCode>General</c:formatCode>
                <c:ptCount val="8"/>
                <c:pt idx="0">
                  <c:v>2.5651741112007187E-3</c:v>
                </c:pt>
                <c:pt idx="1">
                  <c:v>7.4783888249640995E-4</c:v>
                </c:pt>
                <c:pt idx="2">
                  <c:v>1.3225126327043313E-4</c:v>
                </c:pt>
                <c:pt idx="3">
                  <c:v>3.4235619086331326E-5</c:v>
                </c:pt>
                <c:pt idx="4">
                  <c:v>8.7119810068259085E-6</c:v>
                </c:pt>
                <c:pt idx="5">
                  <c:v>2.1975496693471541E-6</c:v>
                </c:pt>
                <c:pt idx="6">
                  <c:v>5.5185853042871713E-7</c:v>
                </c:pt>
                <c:pt idx="7">
                  <c:v>3.5351403404604298E-7</c:v>
                </c:pt>
              </c:numCache>
            </c:numRef>
          </c:yVal>
          <c:smooth val="0"/>
          <c:extLst>
            <c:ext xmlns:c16="http://schemas.microsoft.com/office/drawing/2014/chart" uri="{C3380CC4-5D6E-409C-BE32-E72D297353CC}">
              <c16:uniqueId val="{00000001-CE85-4B53-8DDC-D94D3D5476B0}"/>
            </c:ext>
          </c:extLst>
        </c:ser>
        <c:dLbls>
          <c:showLegendKey val="0"/>
          <c:showVal val="0"/>
          <c:showCatName val="0"/>
          <c:showSerName val="0"/>
          <c:showPercent val="0"/>
          <c:showBubbleSize val="0"/>
        </c:dLbls>
        <c:axId val="-2128940872"/>
        <c:axId val="-2129643912"/>
      </c:scatterChart>
      <c:valAx>
        <c:axId val="-2128940872"/>
        <c:scaling>
          <c:logBase val="10"/>
          <c:orientation val="minMax"/>
          <c:max val="1000"/>
          <c:min val="10"/>
        </c:scaling>
        <c:delete val="0"/>
        <c:axPos val="b"/>
        <c:majorGridlines>
          <c:spPr>
            <a:ln w="6350">
              <a:solidFill>
                <a:srgbClr val="26352B"/>
              </a:solidFill>
            </a:ln>
          </c:spPr>
        </c:majorGridlines>
        <c:numFmt formatCode="General"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logBase val="10"/>
          <c:orientation val="minMax"/>
          <c:max val="1"/>
          <c:min val="9.9999999999999995E-8"/>
        </c:scaling>
        <c:delete val="0"/>
        <c:axPos val="l"/>
        <c:majorGridlines>
          <c:spPr>
            <a:ln w="6350">
              <a:solidFill>
                <a:srgbClr val="26352B"/>
              </a:solidFill>
            </a:ln>
          </c:spPr>
        </c:majorGridlines>
        <c:numFmt formatCode="0E+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CRR tree, 600 steps</c:v>
                </c:pt>
              </c:strCache>
            </c:strRef>
          </c:tx>
          <c:spPr>
            <a:ln w="25400">
              <a:solidFill>
                <a:srgbClr val="5BC8F5"/>
              </a:solidFill>
            </a:ln>
          </c:spPr>
          <c:marker>
            <c:symbol val="none"/>
          </c:marker>
          <c:xVal>
            <c:numRef>
              <c:f>Sheet1!$A$2:$A$30</c:f>
              <c:numCache>
                <c:formatCode>General</c:formatCode>
                <c:ptCount val="29"/>
                <c:pt idx="0">
                  <c:v>0</c:v>
                </c:pt>
                <c:pt idx="1">
                  <c:v>3.5000000000000003E-2</c:v>
                </c:pt>
                <c:pt idx="2">
                  <c:v>6.83E-2</c:v>
                </c:pt>
                <c:pt idx="3">
                  <c:v>0.1017</c:v>
                </c:pt>
                <c:pt idx="4">
                  <c:v>0.13669999999999999</c:v>
                </c:pt>
                <c:pt idx="5">
                  <c:v>0.17</c:v>
                </c:pt>
                <c:pt idx="6">
                  <c:v>0.20330000000000001</c:v>
                </c:pt>
                <c:pt idx="7">
                  <c:v>0.23669999999999999</c:v>
                </c:pt>
                <c:pt idx="8">
                  <c:v>0.2717</c:v>
                </c:pt>
                <c:pt idx="9">
                  <c:v>0.30499999999999999</c:v>
                </c:pt>
                <c:pt idx="10">
                  <c:v>0.33829999999999999</c:v>
                </c:pt>
                <c:pt idx="11">
                  <c:v>0.37330000000000002</c:v>
                </c:pt>
                <c:pt idx="12">
                  <c:v>0.40670000000000001</c:v>
                </c:pt>
                <c:pt idx="13">
                  <c:v>0.44</c:v>
                </c:pt>
                <c:pt idx="14">
                  <c:v>0.4733</c:v>
                </c:pt>
                <c:pt idx="15">
                  <c:v>0.50829999999999997</c:v>
                </c:pt>
                <c:pt idx="16">
                  <c:v>0.54169999999999996</c:v>
                </c:pt>
                <c:pt idx="17">
                  <c:v>0.57499999999999996</c:v>
                </c:pt>
                <c:pt idx="18">
                  <c:v>0.60829999999999995</c:v>
                </c:pt>
                <c:pt idx="19">
                  <c:v>0.64329999999999998</c:v>
                </c:pt>
                <c:pt idx="20">
                  <c:v>0.67669999999999997</c:v>
                </c:pt>
                <c:pt idx="21">
                  <c:v>0.71</c:v>
                </c:pt>
                <c:pt idx="22">
                  <c:v>0.745</c:v>
                </c:pt>
                <c:pt idx="23">
                  <c:v>0.77829999999999999</c:v>
                </c:pt>
                <c:pt idx="24">
                  <c:v>0.81169999999999998</c:v>
                </c:pt>
                <c:pt idx="25">
                  <c:v>0.84499999999999997</c:v>
                </c:pt>
                <c:pt idx="26">
                  <c:v>0.88</c:v>
                </c:pt>
                <c:pt idx="27">
                  <c:v>0.9133</c:v>
                </c:pt>
                <c:pt idx="28">
                  <c:v>0.94669999999999999</c:v>
                </c:pt>
              </c:numCache>
            </c:numRef>
          </c:xVal>
          <c:yVal>
            <c:numRef>
              <c:f>Sheet1!$B$2:$B$30</c:f>
              <c:numCache>
                <c:formatCode>General</c:formatCode>
                <c:ptCount val="29"/>
                <c:pt idx="0">
                  <c:v>100</c:v>
                </c:pt>
                <c:pt idx="1">
                  <c:v>92.915000000000006</c:v>
                </c:pt>
                <c:pt idx="2">
                  <c:v>91.41</c:v>
                </c:pt>
                <c:pt idx="3">
                  <c:v>89.929000000000002</c:v>
                </c:pt>
                <c:pt idx="4">
                  <c:v>89.197999999999993</c:v>
                </c:pt>
                <c:pt idx="5">
                  <c:v>87.753</c:v>
                </c:pt>
                <c:pt idx="6">
                  <c:v>87.753</c:v>
                </c:pt>
                <c:pt idx="7">
                  <c:v>86.331999999999994</c:v>
                </c:pt>
                <c:pt idx="8">
                  <c:v>85.63</c:v>
                </c:pt>
                <c:pt idx="9">
                  <c:v>85.63</c:v>
                </c:pt>
                <c:pt idx="10">
                  <c:v>85.63</c:v>
                </c:pt>
                <c:pt idx="11">
                  <c:v>84.933999999999997</c:v>
                </c:pt>
                <c:pt idx="12">
                  <c:v>84.933999999999997</c:v>
                </c:pt>
                <c:pt idx="13">
                  <c:v>83.558000000000007</c:v>
                </c:pt>
                <c:pt idx="14">
                  <c:v>83.558000000000007</c:v>
                </c:pt>
                <c:pt idx="15">
                  <c:v>82.879000000000005</c:v>
                </c:pt>
                <c:pt idx="16">
                  <c:v>82.879000000000005</c:v>
                </c:pt>
                <c:pt idx="17">
                  <c:v>82.879000000000005</c:v>
                </c:pt>
                <c:pt idx="18">
                  <c:v>82.879000000000005</c:v>
                </c:pt>
                <c:pt idx="19">
                  <c:v>82.204999999999998</c:v>
                </c:pt>
                <c:pt idx="20">
                  <c:v>82.204999999999998</c:v>
                </c:pt>
                <c:pt idx="21">
                  <c:v>82.204999999999998</c:v>
                </c:pt>
                <c:pt idx="22">
                  <c:v>81.536000000000001</c:v>
                </c:pt>
                <c:pt idx="23">
                  <c:v>81.536000000000001</c:v>
                </c:pt>
                <c:pt idx="24">
                  <c:v>81.536000000000001</c:v>
                </c:pt>
                <c:pt idx="25">
                  <c:v>81.536000000000001</c:v>
                </c:pt>
                <c:pt idx="26">
                  <c:v>80.873000000000005</c:v>
                </c:pt>
                <c:pt idx="27">
                  <c:v>80.873000000000005</c:v>
                </c:pt>
                <c:pt idx="28">
                  <c:v>80.873000000000005</c:v>
                </c:pt>
              </c:numCache>
            </c:numRef>
          </c:yVal>
          <c:smooth val="0"/>
          <c:extLst>
            <c:ext xmlns:c16="http://schemas.microsoft.com/office/drawing/2014/chart" uri="{C3380CC4-5D6E-409C-BE32-E72D297353CC}">
              <c16:uniqueId val="{00000000-3909-408C-8BD2-5919F6C337D8}"/>
            </c:ext>
          </c:extLst>
        </c:ser>
        <c:ser>
          <c:idx val="1"/>
          <c:order val="1"/>
          <c:tx>
            <c:strRef>
              <c:f>Sheet1!$B$32</c:f>
              <c:strCache>
                <c:ptCount val="1"/>
                <c:pt idx="0">
                  <c:v>Longstaff-Schwartz rule</c:v>
                </c:pt>
              </c:strCache>
            </c:strRef>
          </c:tx>
          <c:spPr>
            <a:ln w="25400">
              <a:solidFill>
                <a:srgbClr val="FFB020"/>
              </a:solidFill>
            </a:ln>
          </c:spPr>
          <c:marker>
            <c:symbol val="none"/>
          </c:marker>
          <c:xVal>
            <c:numRef>
              <c:f>Sheet1!$A$33:$A$72</c:f>
              <c:numCache>
                <c:formatCode>General</c:formatCode>
                <c:ptCount val="40"/>
                <c:pt idx="0">
                  <c:v>0.01</c:v>
                </c:pt>
                <c:pt idx="1">
                  <c:v>0.04</c:v>
                </c:pt>
                <c:pt idx="2">
                  <c:v>0.06</c:v>
                </c:pt>
                <c:pt idx="3">
                  <c:v>0.08</c:v>
                </c:pt>
                <c:pt idx="4">
                  <c:v>0.1</c:v>
                </c:pt>
                <c:pt idx="5">
                  <c:v>0.12</c:v>
                </c:pt>
                <c:pt idx="6">
                  <c:v>0.14000000000000001</c:v>
                </c:pt>
                <c:pt idx="7">
                  <c:v>0.16</c:v>
                </c:pt>
                <c:pt idx="8">
                  <c:v>0.18</c:v>
                </c:pt>
                <c:pt idx="9">
                  <c:v>0.2</c:v>
                </c:pt>
                <c:pt idx="10">
                  <c:v>0.23</c:v>
                </c:pt>
                <c:pt idx="11">
                  <c:v>0.25</c:v>
                </c:pt>
                <c:pt idx="12">
                  <c:v>0.27</c:v>
                </c:pt>
                <c:pt idx="13">
                  <c:v>0.28999999999999998</c:v>
                </c:pt>
                <c:pt idx="14">
                  <c:v>0.31</c:v>
                </c:pt>
                <c:pt idx="15">
                  <c:v>0.33</c:v>
                </c:pt>
                <c:pt idx="16">
                  <c:v>0.35</c:v>
                </c:pt>
                <c:pt idx="17">
                  <c:v>0.37</c:v>
                </c:pt>
                <c:pt idx="18">
                  <c:v>0.39</c:v>
                </c:pt>
                <c:pt idx="19">
                  <c:v>0.41</c:v>
                </c:pt>
                <c:pt idx="20">
                  <c:v>0.44</c:v>
                </c:pt>
                <c:pt idx="21">
                  <c:v>0.46</c:v>
                </c:pt>
                <c:pt idx="22">
                  <c:v>0.48</c:v>
                </c:pt>
                <c:pt idx="23">
                  <c:v>0.5</c:v>
                </c:pt>
                <c:pt idx="24">
                  <c:v>0.52</c:v>
                </c:pt>
                <c:pt idx="25">
                  <c:v>0.54</c:v>
                </c:pt>
                <c:pt idx="26">
                  <c:v>0.56000000000000005</c:v>
                </c:pt>
                <c:pt idx="27">
                  <c:v>0.57999999999999996</c:v>
                </c:pt>
                <c:pt idx="28">
                  <c:v>0.6</c:v>
                </c:pt>
                <c:pt idx="29">
                  <c:v>0.62</c:v>
                </c:pt>
                <c:pt idx="30">
                  <c:v>0.65</c:v>
                </c:pt>
                <c:pt idx="31">
                  <c:v>0.67</c:v>
                </c:pt>
                <c:pt idx="32">
                  <c:v>0.69</c:v>
                </c:pt>
                <c:pt idx="33">
                  <c:v>0.71</c:v>
                </c:pt>
                <c:pt idx="34">
                  <c:v>0.73</c:v>
                </c:pt>
                <c:pt idx="35">
                  <c:v>0.75</c:v>
                </c:pt>
                <c:pt idx="36">
                  <c:v>0.77</c:v>
                </c:pt>
                <c:pt idx="37">
                  <c:v>0.79</c:v>
                </c:pt>
                <c:pt idx="38">
                  <c:v>0.81</c:v>
                </c:pt>
                <c:pt idx="39">
                  <c:v>0.83</c:v>
                </c:pt>
              </c:numCache>
            </c:numRef>
          </c:xVal>
          <c:yVal>
            <c:numRef>
              <c:f>Sheet1!$B$33:$B$72</c:f>
              <c:numCache>
                <c:formatCode>General</c:formatCode>
                <c:ptCount val="40"/>
                <c:pt idx="0">
                  <c:v>93.57</c:v>
                </c:pt>
                <c:pt idx="1">
                  <c:v>91.338999999999999</c:v>
                </c:pt>
                <c:pt idx="2">
                  <c:v>90.41</c:v>
                </c:pt>
                <c:pt idx="3">
                  <c:v>90.137</c:v>
                </c:pt>
                <c:pt idx="4">
                  <c:v>90.018000000000001</c:v>
                </c:pt>
                <c:pt idx="5">
                  <c:v>89.212000000000003</c:v>
                </c:pt>
                <c:pt idx="6">
                  <c:v>89.100999999999999</c:v>
                </c:pt>
                <c:pt idx="7">
                  <c:v>88.638000000000005</c:v>
                </c:pt>
                <c:pt idx="8">
                  <c:v>88.545000000000002</c:v>
                </c:pt>
                <c:pt idx="9">
                  <c:v>87.772000000000006</c:v>
                </c:pt>
                <c:pt idx="10">
                  <c:v>87.631</c:v>
                </c:pt>
                <c:pt idx="11">
                  <c:v>87.305000000000007</c:v>
                </c:pt>
                <c:pt idx="12">
                  <c:v>87.438999999999993</c:v>
                </c:pt>
                <c:pt idx="13">
                  <c:v>86.733999999999995</c:v>
                </c:pt>
                <c:pt idx="14">
                  <c:v>86.876999999999995</c:v>
                </c:pt>
                <c:pt idx="15">
                  <c:v>86.736999999999995</c:v>
                </c:pt>
                <c:pt idx="16">
                  <c:v>86.378</c:v>
                </c:pt>
                <c:pt idx="17">
                  <c:v>85.772999999999996</c:v>
                </c:pt>
                <c:pt idx="18">
                  <c:v>85.293000000000006</c:v>
                </c:pt>
                <c:pt idx="19">
                  <c:v>85.213999999999999</c:v>
                </c:pt>
                <c:pt idx="20">
                  <c:v>85.563000000000002</c:v>
                </c:pt>
                <c:pt idx="21">
                  <c:v>85.421999999999997</c:v>
                </c:pt>
                <c:pt idx="22">
                  <c:v>85.632000000000005</c:v>
                </c:pt>
                <c:pt idx="23">
                  <c:v>84.581000000000003</c:v>
                </c:pt>
                <c:pt idx="24">
                  <c:v>84.564999999999998</c:v>
                </c:pt>
                <c:pt idx="25">
                  <c:v>84.245999999999995</c:v>
                </c:pt>
                <c:pt idx="26">
                  <c:v>83.850999999999999</c:v>
                </c:pt>
                <c:pt idx="27">
                  <c:v>83.16</c:v>
                </c:pt>
                <c:pt idx="28">
                  <c:v>82.546000000000006</c:v>
                </c:pt>
                <c:pt idx="29">
                  <c:v>82.978999999999999</c:v>
                </c:pt>
                <c:pt idx="30">
                  <c:v>82.867999999999995</c:v>
                </c:pt>
                <c:pt idx="31">
                  <c:v>82.691999999999993</c:v>
                </c:pt>
                <c:pt idx="32">
                  <c:v>82.974000000000004</c:v>
                </c:pt>
                <c:pt idx="33">
                  <c:v>82.001000000000005</c:v>
                </c:pt>
                <c:pt idx="34">
                  <c:v>83.450999999999993</c:v>
                </c:pt>
                <c:pt idx="35">
                  <c:v>82.942999999999998</c:v>
                </c:pt>
                <c:pt idx="36">
                  <c:v>83.533000000000001</c:v>
                </c:pt>
                <c:pt idx="37">
                  <c:v>83.602000000000004</c:v>
                </c:pt>
                <c:pt idx="38">
                  <c:v>83.531999999999996</c:v>
                </c:pt>
                <c:pt idx="39">
                  <c:v>82.417000000000002</c:v>
                </c:pt>
              </c:numCache>
            </c:numRef>
          </c:yVal>
          <c:smooth val="0"/>
          <c:extLst>
            <c:ext xmlns:c16="http://schemas.microsoft.com/office/drawing/2014/chart" uri="{C3380CC4-5D6E-409C-BE32-E72D297353CC}">
              <c16:uniqueId val="{00000001-3909-408C-8BD2-5919F6C337D8}"/>
            </c:ext>
          </c:extLst>
        </c:ser>
        <c:dLbls>
          <c:showLegendKey val="0"/>
          <c:showVal val="0"/>
          <c:showCatName val="0"/>
          <c:showSerName val="0"/>
          <c:showPercent val="0"/>
          <c:showBubbleSize val="0"/>
        </c:dLbls>
        <c:axId val="-2128940872"/>
        <c:axId val="-2129643912"/>
      </c:scatterChart>
      <c:valAx>
        <c:axId val="-2128940872"/>
        <c:scaling>
          <c:orientation val="minMax"/>
          <c:max val="1"/>
          <c:min val="0"/>
        </c:scaling>
        <c:delete val="0"/>
        <c:axPos val="b"/>
        <c:majorGridlines>
          <c:spPr>
            <a:ln w="6350">
              <a:solidFill>
                <a:srgbClr val="26352B"/>
              </a:solidFill>
            </a:ln>
          </c:spPr>
        </c:majorGridlines>
        <c:title>
          <c:tx>
            <c:rich>
              <a:bodyPr/>
              <a:lstStyle/>
              <a:p>
                <a:r>
                  <a:rPr lang="en-IN" sz="800" b="0">
                    <a:solidFill>
                      <a:srgbClr val="93A79A"/>
                    </a:solidFill>
                    <a:latin typeface="Consolas"/>
                  </a:rPr>
                  <a:t>time to expiry (years)</a:t>
                </a:r>
              </a:p>
            </c:rich>
          </c:tx>
          <c:overlay val="0"/>
        </c:title>
        <c:numFmt formatCode="0.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max val="100"/>
          <c:min val="70"/>
        </c:scaling>
        <c:delete val="0"/>
        <c:axPos val="l"/>
        <c:majorGridlines>
          <c:spPr>
            <a:ln w="6350">
              <a:solidFill>
                <a:srgbClr val="26352B"/>
              </a:solidFill>
            </a:ln>
          </c:spPr>
        </c:majorGridlines>
        <c:numFmt formatCode="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BSM</c:v>
                </c:pt>
              </c:strCache>
            </c:strRef>
          </c:tx>
          <c:spPr>
            <a:ln w="15875">
              <a:solidFill>
                <a:srgbClr val="93A79A"/>
              </a:solidFill>
              <a:prstDash val="dash"/>
            </a:ln>
          </c:spPr>
          <c:marker>
            <c:symbol val="none"/>
          </c:marker>
          <c:xVal>
            <c:numRef>
              <c:f>Sheet1!$A$2:$A$3</c:f>
              <c:numCache>
                <c:formatCode>General</c:formatCode>
                <c:ptCount val="2"/>
                <c:pt idx="0">
                  <c:v>2000</c:v>
                </c:pt>
                <c:pt idx="1">
                  <c:v>200000</c:v>
                </c:pt>
              </c:numCache>
            </c:numRef>
          </c:xVal>
          <c:yVal>
            <c:numRef>
              <c:f>Sheet1!$B$2:$B$3</c:f>
              <c:numCache>
                <c:formatCode>General</c:formatCode>
                <c:ptCount val="2"/>
                <c:pt idx="0">
                  <c:v>10.450583999999999</c:v>
                </c:pt>
                <c:pt idx="1">
                  <c:v>10.450583999999999</c:v>
                </c:pt>
              </c:numCache>
            </c:numRef>
          </c:yVal>
          <c:smooth val="0"/>
          <c:extLst>
            <c:ext xmlns:c16="http://schemas.microsoft.com/office/drawing/2014/chart" uri="{C3380CC4-5D6E-409C-BE32-E72D297353CC}">
              <c16:uniqueId val="{00000000-FA9D-47E8-8550-0233A73453BA}"/>
            </c:ext>
          </c:extLst>
        </c:ser>
        <c:ser>
          <c:idx val="1"/>
          <c:order val="1"/>
          <c:tx>
            <c:strRef>
              <c:f>Sheet1!$B$5</c:f>
              <c:strCache>
                <c:ptCount val="1"/>
                <c:pt idx="0">
                  <c:v>antithetic estimate</c:v>
                </c:pt>
              </c:strCache>
            </c:strRef>
          </c:tx>
          <c:spPr>
            <a:ln w="25400">
              <a:solidFill>
                <a:srgbClr val="3DDC84"/>
              </a:solidFill>
            </a:ln>
          </c:spPr>
          <c:marker>
            <c:symbol val="none"/>
          </c:marker>
          <c:xVal>
            <c:numRef>
              <c:f>Sheet1!$A$6:$A$12</c:f>
              <c:numCache>
                <c:formatCode>General</c:formatCode>
                <c:ptCount val="7"/>
                <c:pt idx="0">
                  <c:v>2000</c:v>
                </c:pt>
                <c:pt idx="1">
                  <c:v>5000</c:v>
                </c:pt>
                <c:pt idx="2">
                  <c:v>10000</c:v>
                </c:pt>
                <c:pt idx="3">
                  <c:v>25000</c:v>
                </c:pt>
                <c:pt idx="4">
                  <c:v>50000</c:v>
                </c:pt>
                <c:pt idx="5">
                  <c:v>100000</c:v>
                </c:pt>
                <c:pt idx="6">
                  <c:v>200000</c:v>
                </c:pt>
              </c:numCache>
            </c:numRef>
          </c:xVal>
          <c:yVal>
            <c:numRef>
              <c:f>Sheet1!$B$6:$B$12</c:f>
              <c:numCache>
                <c:formatCode>General</c:formatCode>
                <c:ptCount val="7"/>
                <c:pt idx="0">
                  <c:v>10.267249</c:v>
                </c:pt>
                <c:pt idx="1">
                  <c:v>10.450949</c:v>
                </c:pt>
                <c:pt idx="2">
                  <c:v>10.410052</c:v>
                </c:pt>
                <c:pt idx="3">
                  <c:v>10.447730999999999</c:v>
                </c:pt>
                <c:pt idx="4">
                  <c:v>10.454935000000001</c:v>
                </c:pt>
                <c:pt idx="5">
                  <c:v>10.467314</c:v>
                </c:pt>
                <c:pt idx="6">
                  <c:v>10.476285000000001</c:v>
                </c:pt>
              </c:numCache>
            </c:numRef>
          </c:yVal>
          <c:smooth val="0"/>
          <c:extLst>
            <c:ext xmlns:c16="http://schemas.microsoft.com/office/drawing/2014/chart" uri="{C3380CC4-5D6E-409C-BE32-E72D297353CC}">
              <c16:uniqueId val="{00000001-FA9D-47E8-8550-0233A73453BA}"/>
            </c:ext>
          </c:extLst>
        </c:ser>
        <c:ser>
          <c:idx val="2"/>
          <c:order val="2"/>
          <c:tx>
            <c:strRef>
              <c:f>Sheet1!$B$14</c:f>
              <c:strCache>
                <c:ptCount val="1"/>
                <c:pt idx="0">
                  <c:v>95% low</c:v>
                </c:pt>
              </c:strCache>
            </c:strRef>
          </c:tx>
          <c:spPr>
            <a:ln w="12700">
              <a:solidFill>
                <a:srgbClr val="FFB020"/>
              </a:solidFill>
              <a:prstDash val="dash"/>
            </a:ln>
          </c:spPr>
          <c:marker>
            <c:symbol val="none"/>
          </c:marker>
          <c:xVal>
            <c:numRef>
              <c:f>Sheet1!$A$15:$A$21</c:f>
              <c:numCache>
                <c:formatCode>General</c:formatCode>
                <c:ptCount val="7"/>
                <c:pt idx="0">
                  <c:v>2000</c:v>
                </c:pt>
                <c:pt idx="1">
                  <c:v>5000</c:v>
                </c:pt>
                <c:pt idx="2">
                  <c:v>10000</c:v>
                </c:pt>
                <c:pt idx="3">
                  <c:v>25000</c:v>
                </c:pt>
                <c:pt idx="4">
                  <c:v>50000</c:v>
                </c:pt>
                <c:pt idx="5">
                  <c:v>100000</c:v>
                </c:pt>
                <c:pt idx="6">
                  <c:v>200000</c:v>
                </c:pt>
              </c:numCache>
            </c:numRef>
          </c:xVal>
          <c:yVal>
            <c:numRef>
              <c:f>Sheet1!$B$15:$B$21</c:f>
              <c:numCache>
                <c:formatCode>General</c:formatCode>
                <c:ptCount val="7"/>
                <c:pt idx="0">
                  <c:v>9.8090499999999992</c:v>
                </c:pt>
                <c:pt idx="1">
                  <c:v>10.156038000000001</c:v>
                </c:pt>
                <c:pt idx="2">
                  <c:v>10.204506</c:v>
                </c:pt>
                <c:pt idx="3">
                  <c:v>10.317171999999999</c:v>
                </c:pt>
                <c:pt idx="4">
                  <c:v>10.363308999999999</c:v>
                </c:pt>
                <c:pt idx="5">
                  <c:v>10.402485</c:v>
                </c:pt>
                <c:pt idx="6">
                  <c:v>10.430338000000001</c:v>
                </c:pt>
              </c:numCache>
            </c:numRef>
          </c:yVal>
          <c:smooth val="0"/>
          <c:extLst>
            <c:ext xmlns:c16="http://schemas.microsoft.com/office/drawing/2014/chart" uri="{C3380CC4-5D6E-409C-BE32-E72D297353CC}">
              <c16:uniqueId val="{00000002-FA9D-47E8-8550-0233A73453BA}"/>
            </c:ext>
          </c:extLst>
        </c:ser>
        <c:ser>
          <c:idx val="3"/>
          <c:order val="3"/>
          <c:tx>
            <c:strRef>
              <c:f>Sheet1!$B$23</c:f>
              <c:strCache>
                <c:ptCount val="1"/>
                <c:pt idx="0">
                  <c:v>95% high</c:v>
                </c:pt>
              </c:strCache>
            </c:strRef>
          </c:tx>
          <c:spPr>
            <a:ln w="12700">
              <a:solidFill>
                <a:srgbClr val="FFB020"/>
              </a:solidFill>
              <a:prstDash val="dash"/>
            </a:ln>
          </c:spPr>
          <c:marker>
            <c:symbol val="none"/>
          </c:marker>
          <c:xVal>
            <c:numRef>
              <c:f>Sheet1!$A$24:$A$30</c:f>
              <c:numCache>
                <c:formatCode>General</c:formatCode>
                <c:ptCount val="7"/>
                <c:pt idx="0">
                  <c:v>2000</c:v>
                </c:pt>
                <c:pt idx="1">
                  <c:v>5000</c:v>
                </c:pt>
                <c:pt idx="2">
                  <c:v>10000</c:v>
                </c:pt>
                <c:pt idx="3">
                  <c:v>25000</c:v>
                </c:pt>
                <c:pt idx="4">
                  <c:v>50000</c:v>
                </c:pt>
                <c:pt idx="5">
                  <c:v>100000</c:v>
                </c:pt>
                <c:pt idx="6">
                  <c:v>200000</c:v>
                </c:pt>
              </c:numCache>
            </c:numRef>
          </c:xVal>
          <c:yVal>
            <c:numRef>
              <c:f>Sheet1!$B$24:$B$30</c:f>
              <c:numCache>
                <c:formatCode>General</c:formatCode>
                <c:ptCount val="7"/>
                <c:pt idx="0">
                  <c:v>10.725448</c:v>
                </c:pt>
                <c:pt idx="1">
                  <c:v>10.745861</c:v>
                </c:pt>
                <c:pt idx="2">
                  <c:v>10.615596999999999</c:v>
                </c:pt>
                <c:pt idx="3">
                  <c:v>10.578291</c:v>
                </c:pt>
                <c:pt idx="4">
                  <c:v>10.546562</c:v>
                </c:pt>
                <c:pt idx="5">
                  <c:v>10.532144000000001</c:v>
                </c:pt>
                <c:pt idx="6">
                  <c:v>10.522231</c:v>
                </c:pt>
              </c:numCache>
            </c:numRef>
          </c:yVal>
          <c:smooth val="0"/>
          <c:extLst>
            <c:ext xmlns:c16="http://schemas.microsoft.com/office/drawing/2014/chart" uri="{C3380CC4-5D6E-409C-BE32-E72D297353CC}">
              <c16:uniqueId val="{00000003-FA9D-47E8-8550-0233A73453BA}"/>
            </c:ext>
          </c:extLst>
        </c:ser>
        <c:dLbls>
          <c:showLegendKey val="0"/>
          <c:showVal val="0"/>
          <c:showCatName val="0"/>
          <c:showSerName val="0"/>
          <c:showPercent val="0"/>
          <c:showBubbleSize val="0"/>
        </c:dLbls>
        <c:axId val="-2128940872"/>
        <c:axId val="-2129643912"/>
      </c:scatterChart>
      <c:valAx>
        <c:axId val="-2128940872"/>
        <c:scaling>
          <c:logBase val="10"/>
          <c:orientation val="minMax"/>
          <c:max val="1000000"/>
          <c:min val="1000"/>
        </c:scaling>
        <c:delete val="0"/>
        <c:axPos val="b"/>
        <c:majorGridlines>
          <c:spPr>
            <a:ln w="6350">
              <a:solidFill>
                <a:srgbClr val="26352B"/>
              </a:solidFill>
            </a:ln>
          </c:spPr>
        </c:majorGridlines>
        <c:numFmt formatCode="#,##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scaling>
        <c:delete val="0"/>
        <c:axPos val="l"/>
        <c:majorGridlines>
          <c:spPr>
            <a:ln w="6350">
              <a:solidFill>
                <a:srgbClr val="26352B"/>
              </a:solidFill>
            </a:ln>
          </c:spPr>
        </c:majorGridlines>
        <c:numFmt formatCode="0.0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3-asset basket</c:v>
                </c:pt>
              </c:strCache>
            </c:strRef>
          </c:tx>
          <c:spPr>
            <a:ln w="25400">
              <a:solidFill>
                <a:srgbClr val="FFB020"/>
              </a:solidFill>
            </a:ln>
          </c:spPr>
          <c:marker>
            <c:symbol val="none"/>
          </c:marker>
          <c:xVal>
            <c:numRef>
              <c:f>Sheet1!$A$2:$A$16</c:f>
              <c:numCache>
                <c:formatCode>General</c:formatCode>
                <c:ptCount val="15"/>
                <c:pt idx="0">
                  <c:v>-0.4</c:v>
                </c:pt>
                <c:pt idx="1">
                  <c:v>-0.3</c:v>
                </c:pt>
                <c:pt idx="2">
                  <c:v>-0.2</c:v>
                </c:pt>
                <c:pt idx="3">
                  <c:v>-0.1</c:v>
                </c:pt>
                <c:pt idx="4">
                  <c:v>0</c:v>
                </c:pt>
                <c:pt idx="5">
                  <c:v>0.1</c:v>
                </c:pt>
                <c:pt idx="6">
                  <c:v>0.2</c:v>
                </c:pt>
                <c:pt idx="7">
                  <c:v>0.3</c:v>
                </c:pt>
                <c:pt idx="8">
                  <c:v>0.4</c:v>
                </c:pt>
                <c:pt idx="9">
                  <c:v>0.5</c:v>
                </c:pt>
                <c:pt idx="10">
                  <c:v>0.6</c:v>
                </c:pt>
                <c:pt idx="11">
                  <c:v>0.7</c:v>
                </c:pt>
                <c:pt idx="12">
                  <c:v>0.8</c:v>
                </c:pt>
                <c:pt idx="13">
                  <c:v>0.9</c:v>
                </c:pt>
                <c:pt idx="14">
                  <c:v>0.95</c:v>
                </c:pt>
              </c:numCache>
            </c:numRef>
          </c:xVal>
          <c:yVal>
            <c:numRef>
              <c:f>Sheet1!$B$2:$B$16</c:f>
              <c:numCache>
                <c:formatCode>General</c:formatCode>
                <c:ptCount val="15"/>
                <c:pt idx="0">
                  <c:v>5.5267999999999997</c:v>
                </c:pt>
                <c:pt idx="1">
                  <c:v>6.1022999999999996</c:v>
                </c:pt>
                <c:pt idx="2">
                  <c:v>6.6036000000000001</c:v>
                </c:pt>
                <c:pt idx="3">
                  <c:v>7.0521000000000003</c:v>
                </c:pt>
                <c:pt idx="4">
                  <c:v>7.4619999999999997</c:v>
                </c:pt>
                <c:pt idx="5">
                  <c:v>7.8425000000000002</c:v>
                </c:pt>
                <c:pt idx="6">
                  <c:v>8.1986000000000008</c:v>
                </c:pt>
                <c:pt idx="7">
                  <c:v>8.5360999999999994</c:v>
                </c:pt>
                <c:pt idx="8">
                  <c:v>8.8581000000000003</c:v>
                </c:pt>
                <c:pt idx="9">
                  <c:v>9.1656999999999993</c:v>
                </c:pt>
                <c:pt idx="10">
                  <c:v>9.4613999999999994</c:v>
                </c:pt>
                <c:pt idx="11">
                  <c:v>9.7460000000000004</c:v>
                </c:pt>
                <c:pt idx="12">
                  <c:v>10.0199</c:v>
                </c:pt>
                <c:pt idx="13">
                  <c:v>10.281599999999999</c:v>
                </c:pt>
                <c:pt idx="14">
                  <c:v>10.4078</c:v>
                </c:pt>
              </c:numCache>
            </c:numRef>
          </c:yVal>
          <c:smooth val="0"/>
          <c:extLst>
            <c:ext xmlns:c16="http://schemas.microsoft.com/office/drawing/2014/chart" uri="{C3380CC4-5D6E-409C-BE32-E72D297353CC}">
              <c16:uniqueId val="{00000000-6E9D-4DB2-BFD7-2FB8338B5843}"/>
            </c:ext>
          </c:extLst>
        </c:ser>
        <c:dLbls>
          <c:showLegendKey val="0"/>
          <c:showVal val="0"/>
          <c:showCatName val="0"/>
          <c:showSerName val="0"/>
          <c:showPercent val="0"/>
          <c:showBubbleSize val="0"/>
        </c:dLbls>
        <c:axId val="-2128940872"/>
        <c:axId val="-2129643912"/>
      </c:scatterChart>
      <c:valAx>
        <c:axId val="-2128940872"/>
        <c:scaling>
          <c:orientation val="minMax"/>
          <c:max val="1"/>
          <c:min val="-0.4"/>
        </c:scaling>
        <c:delete val="0"/>
        <c:axPos val="b"/>
        <c:majorGridlines>
          <c:spPr>
            <a:ln w="6350">
              <a:solidFill>
                <a:srgbClr val="26352B"/>
              </a:solidFill>
            </a:ln>
          </c:spPr>
        </c:majorGridlines>
        <c:numFmt formatCode="0.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scaling>
        <c:delete val="0"/>
        <c:axPos val="l"/>
        <c:majorGridlines>
          <c:spPr>
            <a:ln w="6350">
              <a:solidFill>
                <a:srgbClr val="26352B"/>
              </a:solidFill>
            </a:ln>
          </c:spPr>
        </c:majorGridlines>
        <c:numFmt formatCode="0.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vanilla</c:v>
                </c:pt>
              </c:strCache>
            </c:strRef>
          </c:tx>
          <c:spPr>
            <a:ln w="15875">
              <a:solidFill>
                <a:srgbClr val="93A79A"/>
              </a:solidFill>
              <a:prstDash val="dash"/>
            </a:ln>
          </c:spPr>
          <c:marker>
            <c:symbol val="none"/>
          </c:marker>
          <c:xVal>
            <c:numRef>
              <c:f>Sheet1!$A$2:$A$3</c:f>
              <c:numCache>
                <c:formatCode>General</c:formatCode>
                <c:ptCount val="2"/>
                <c:pt idx="0">
                  <c:v>102</c:v>
                </c:pt>
                <c:pt idx="1">
                  <c:v>200</c:v>
                </c:pt>
              </c:numCache>
            </c:numRef>
          </c:xVal>
          <c:yVal>
            <c:numRef>
              <c:f>Sheet1!$B$2:$B$3</c:f>
              <c:numCache>
                <c:formatCode>General</c:formatCode>
                <c:ptCount val="2"/>
                <c:pt idx="0">
                  <c:v>10.450583999999999</c:v>
                </c:pt>
                <c:pt idx="1">
                  <c:v>10.450583999999999</c:v>
                </c:pt>
              </c:numCache>
            </c:numRef>
          </c:yVal>
          <c:smooth val="0"/>
          <c:extLst>
            <c:ext xmlns:c16="http://schemas.microsoft.com/office/drawing/2014/chart" uri="{C3380CC4-5D6E-409C-BE32-E72D297353CC}">
              <c16:uniqueId val="{00000000-876B-4585-BF9E-AD8ABCEAB9BF}"/>
            </c:ext>
          </c:extLst>
        </c:ser>
        <c:ser>
          <c:idx val="1"/>
          <c:order val="1"/>
          <c:tx>
            <c:strRef>
              <c:f>Sheet1!$B$5</c:f>
              <c:strCache>
                <c:ptCount val="1"/>
                <c:pt idx="0">
                  <c:v>up-and-out</c:v>
                </c:pt>
              </c:strCache>
            </c:strRef>
          </c:tx>
          <c:spPr>
            <a:ln w="25400">
              <a:solidFill>
                <a:srgbClr val="B78CFF"/>
              </a:solidFill>
            </a:ln>
          </c:spPr>
          <c:marker>
            <c:symbol val="none"/>
          </c:marker>
          <c:xVal>
            <c:numRef>
              <c:f>Sheet1!$A$6:$A$19</c:f>
              <c:numCache>
                <c:formatCode>General</c:formatCode>
                <c:ptCount val="14"/>
                <c:pt idx="0">
                  <c:v>102</c:v>
                </c:pt>
                <c:pt idx="1">
                  <c:v>104</c:v>
                </c:pt>
                <c:pt idx="2">
                  <c:v>106</c:v>
                </c:pt>
                <c:pt idx="3">
                  <c:v>108</c:v>
                </c:pt>
                <c:pt idx="4">
                  <c:v>110</c:v>
                </c:pt>
                <c:pt idx="5">
                  <c:v>115</c:v>
                </c:pt>
                <c:pt idx="6">
                  <c:v>120</c:v>
                </c:pt>
                <c:pt idx="7">
                  <c:v>125</c:v>
                </c:pt>
                <c:pt idx="8">
                  <c:v>130</c:v>
                </c:pt>
                <c:pt idx="9">
                  <c:v>140</c:v>
                </c:pt>
                <c:pt idx="10">
                  <c:v>150</c:v>
                </c:pt>
                <c:pt idx="11">
                  <c:v>160</c:v>
                </c:pt>
                <c:pt idx="12">
                  <c:v>180</c:v>
                </c:pt>
                <c:pt idx="13">
                  <c:v>200</c:v>
                </c:pt>
              </c:numCache>
            </c:numRef>
          </c:xVal>
          <c:yVal>
            <c:numRef>
              <c:f>Sheet1!$B$6:$B$19</c:f>
              <c:numCache>
                <c:formatCode>General</c:formatCode>
                <c:ptCount val="14"/>
                <c:pt idx="0">
                  <c:v>2.0000000000000001E-4</c:v>
                </c:pt>
                <c:pt idx="1">
                  <c:v>3.5999999999999999E-3</c:v>
                </c:pt>
                <c:pt idx="2">
                  <c:v>1.7600000000000001E-2</c:v>
                </c:pt>
                <c:pt idx="3">
                  <c:v>5.2200000000000003E-2</c:v>
                </c:pt>
                <c:pt idx="4">
                  <c:v>0.11840000000000001</c:v>
                </c:pt>
                <c:pt idx="5">
                  <c:v>0.48110000000000003</c:v>
                </c:pt>
                <c:pt idx="6">
                  <c:v>1.1756</c:v>
                </c:pt>
                <c:pt idx="7">
                  <c:v>2.1638999999999999</c:v>
                </c:pt>
                <c:pt idx="8">
                  <c:v>3.3321999999999998</c:v>
                </c:pt>
                <c:pt idx="9">
                  <c:v>5.7100999999999997</c:v>
                </c:pt>
                <c:pt idx="10">
                  <c:v>7.6212999999999997</c:v>
                </c:pt>
                <c:pt idx="11">
                  <c:v>8.8962000000000003</c:v>
                </c:pt>
                <c:pt idx="12">
                  <c:v>10.0571</c:v>
                </c:pt>
                <c:pt idx="13">
                  <c:v>10.365</c:v>
                </c:pt>
              </c:numCache>
            </c:numRef>
          </c:yVal>
          <c:smooth val="0"/>
          <c:extLst>
            <c:ext xmlns:c16="http://schemas.microsoft.com/office/drawing/2014/chart" uri="{C3380CC4-5D6E-409C-BE32-E72D297353CC}">
              <c16:uniqueId val="{00000001-876B-4585-BF9E-AD8ABCEAB9BF}"/>
            </c:ext>
          </c:extLst>
        </c:ser>
        <c:dLbls>
          <c:showLegendKey val="0"/>
          <c:showVal val="0"/>
          <c:showCatName val="0"/>
          <c:showSerName val="0"/>
          <c:showPercent val="0"/>
          <c:showBubbleSize val="0"/>
        </c:dLbls>
        <c:axId val="-2128940872"/>
        <c:axId val="-2129643912"/>
      </c:scatterChart>
      <c:valAx>
        <c:axId val="-2128940872"/>
        <c:scaling>
          <c:orientation val="minMax"/>
          <c:max val="200"/>
          <c:min val="100"/>
        </c:scaling>
        <c:delete val="0"/>
        <c:axPos val="b"/>
        <c:majorGridlines>
          <c:spPr>
            <a:ln w="6350">
              <a:solidFill>
                <a:srgbClr val="26352B"/>
              </a:solidFill>
            </a:ln>
          </c:spPr>
        </c:majorGridlines>
        <c:numFmt formatCode="General"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min val="0"/>
        </c:scaling>
        <c:delete val="0"/>
        <c:axPos val="l"/>
        <c:majorGridlines>
          <c:spPr>
            <a:ln w="6350">
              <a:solidFill>
                <a:srgbClr val="26352B"/>
              </a:solidFill>
            </a:ln>
          </c:spPr>
        </c:majorGridlines>
        <c:numFmt formatCode="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full revaluation</c:v>
                </c:pt>
              </c:strCache>
            </c:strRef>
          </c:tx>
          <c:spPr>
            <a:ln w="25400">
              <a:solidFill>
                <a:srgbClr val="B78CFF"/>
              </a:solidFill>
            </a:ln>
          </c:spPr>
          <c:marker>
            <c:symbol val="none"/>
          </c:marker>
          <c:xVal>
            <c:numRef>
              <c:f>Sheet1!$A$2:$A$22</c:f>
              <c:numCache>
                <c:formatCode>General</c:formatCode>
                <c:ptCount val="21"/>
                <c:pt idx="0">
                  <c:v>-20</c:v>
                </c:pt>
                <c:pt idx="1">
                  <c:v>-18</c:v>
                </c:pt>
                <c:pt idx="2">
                  <c:v>-16</c:v>
                </c:pt>
                <c:pt idx="3">
                  <c:v>-14</c:v>
                </c:pt>
                <c:pt idx="4">
                  <c:v>-12</c:v>
                </c:pt>
                <c:pt idx="5">
                  <c:v>-10</c:v>
                </c:pt>
                <c:pt idx="6">
                  <c:v>-8</c:v>
                </c:pt>
                <c:pt idx="7">
                  <c:v>-6</c:v>
                </c:pt>
                <c:pt idx="8">
                  <c:v>-4</c:v>
                </c:pt>
                <c:pt idx="9">
                  <c:v>-2</c:v>
                </c:pt>
                <c:pt idx="10">
                  <c:v>0</c:v>
                </c:pt>
                <c:pt idx="11">
                  <c:v>2</c:v>
                </c:pt>
                <c:pt idx="12">
                  <c:v>4</c:v>
                </c:pt>
                <c:pt idx="13">
                  <c:v>6</c:v>
                </c:pt>
                <c:pt idx="14">
                  <c:v>8</c:v>
                </c:pt>
                <c:pt idx="15">
                  <c:v>10</c:v>
                </c:pt>
                <c:pt idx="16">
                  <c:v>12</c:v>
                </c:pt>
                <c:pt idx="17">
                  <c:v>14</c:v>
                </c:pt>
                <c:pt idx="18">
                  <c:v>16</c:v>
                </c:pt>
                <c:pt idx="19">
                  <c:v>18</c:v>
                </c:pt>
                <c:pt idx="20">
                  <c:v>20</c:v>
                </c:pt>
              </c:numCache>
            </c:numRef>
          </c:xVal>
          <c:yVal>
            <c:numRef>
              <c:f>Sheet1!$B$2:$B$22</c:f>
              <c:numCache>
                <c:formatCode>General</c:formatCode>
                <c:ptCount val="21"/>
                <c:pt idx="0">
                  <c:v>-0.49819999999999998</c:v>
                </c:pt>
                <c:pt idx="1">
                  <c:v>-0.39369999999999999</c:v>
                </c:pt>
                <c:pt idx="2">
                  <c:v>-0.29199999999999998</c:v>
                </c:pt>
                <c:pt idx="3">
                  <c:v>-0.19719999999999999</c:v>
                </c:pt>
                <c:pt idx="4">
                  <c:v>-0.11310000000000001</c:v>
                </c:pt>
                <c:pt idx="5">
                  <c:v>-4.3499999999999997E-2</c:v>
                </c:pt>
                <c:pt idx="6">
                  <c:v>8.3999999999999995E-3</c:v>
                </c:pt>
                <c:pt idx="7">
                  <c:v>3.9899999999999998E-2</c:v>
                </c:pt>
                <c:pt idx="8">
                  <c:v>4.9700000000000001E-2</c:v>
                </c:pt>
                <c:pt idx="9">
                  <c:v>3.6299999999999999E-2</c:v>
                </c:pt>
                <c:pt idx="10">
                  <c:v>0</c:v>
                </c:pt>
                <c:pt idx="11">
                  <c:v>-5.8000000000000003E-2</c:v>
                </c:pt>
                <c:pt idx="12">
                  <c:v>-0.13669999999999999</c:v>
                </c:pt>
                <c:pt idx="13">
                  <c:v>-0.2341</c:v>
                </c:pt>
                <c:pt idx="14">
                  <c:v>-0.34689999999999999</c:v>
                </c:pt>
                <c:pt idx="15">
                  <c:v>-0.4723</c:v>
                </c:pt>
                <c:pt idx="16">
                  <c:v>-0.60729999999999995</c:v>
                </c:pt>
                <c:pt idx="17">
                  <c:v>-0.74829999999999997</c:v>
                </c:pt>
                <c:pt idx="18">
                  <c:v>-0.89190000000000003</c:v>
                </c:pt>
                <c:pt idx="19">
                  <c:v>-1.0354000000000001</c:v>
                </c:pt>
                <c:pt idx="20">
                  <c:v>-1.1756</c:v>
                </c:pt>
              </c:numCache>
            </c:numRef>
          </c:yVal>
          <c:smooth val="0"/>
          <c:extLst>
            <c:ext xmlns:c16="http://schemas.microsoft.com/office/drawing/2014/chart" uri="{C3380CC4-5D6E-409C-BE32-E72D297353CC}">
              <c16:uniqueId val="{00000000-B6EB-41BB-9CFB-0798327798E4}"/>
            </c:ext>
          </c:extLst>
        </c:ser>
        <c:ser>
          <c:idx val="1"/>
          <c:order val="1"/>
          <c:tx>
            <c:strRef>
              <c:f>Sheet1!$B$24</c:f>
              <c:strCache>
                <c:ptCount val="1"/>
                <c:pt idx="0">
                  <c:v>Δ·dS + ½Γ·dS²</c:v>
                </c:pt>
              </c:strCache>
            </c:strRef>
          </c:tx>
          <c:spPr>
            <a:ln w="19050">
              <a:solidFill>
                <a:srgbClr val="E8F2EA"/>
              </a:solidFill>
              <a:prstDash val="dash"/>
            </a:ln>
          </c:spPr>
          <c:marker>
            <c:symbol val="none"/>
          </c:marker>
          <c:xVal>
            <c:numRef>
              <c:f>Sheet1!$A$25:$A$45</c:f>
              <c:numCache>
                <c:formatCode>General</c:formatCode>
                <c:ptCount val="21"/>
                <c:pt idx="0">
                  <c:v>-20</c:v>
                </c:pt>
                <c:pt idx="1">
                  <c:v>-18</c:v>
                </c:pt>
                <c:pt idx="2">
                  <c:v>-16</c:v>
                </c:pt>
                <c:pt idx="3">
                  <c:v>-14</c:v>
                </c:pt>
                <c:pt idx="4">
                  <c:v>-12</c:v>
                </c:pt>
                <c:pt idx="5">
                  <c:v>-10</c:v>
                </c:pt>
                <c:pt idx="6">
                  <c:v>-8</c:v>
                </c:pt>
                <c:pt idx="7">
                  <c:v>-6</c:v>
                </c:pt>
                <c:pt idx="8">
                  <c:v>-4</c:v>
                </c:pt>
                <c:pt idx="9">
                  <c:v>-2</c:v>
                </c:pt>
                <c:pt idx="10">
                  <c:v>0</c:v>
                </c:pt>
                <c:pt idx="11">
                  <c:v>2</c:v>
                </c:pt>
                <c:pt idx="12">
                  <c:v>4</c:v>
                </c:pt>
                <c:pt idx="13">
                  <c:v>6</c:v>
                </c:pt>
                <c:pt idx="14">
                  <c:v>8</c:v>
                </c:pt>
                <c:pt idx="15">
                  <c:v>10</c:v>
                </c:pt>
                <c:pt idx="16">
                  <c:v>12</c:v>
                </c:pt>
                <c:pt idx="17">
                  <c:v>14</c:v>
                </c:pt>
                <c:pt idx="18">
                  <c:v>16</c:v>
                </c:pt>
                <c:pt idx="19">
                  <c:v>18</c:v>
                </c:pt>
                <c:pt idx="20">
                  <c:v>20</c:v>
                </c:pt>
              </c:numCache>
            </c:numRef>
          </c:xVal>
          <c:yVal>
            <c:numRef>
              <c:f>Sheet1!$B$25:$B$45</c:f>
              <c:numCache>
                <c:formatCode>General</c:formatCode>
                <c:ptCount val="21"/>
                <c:pt idx="0">
                  <c:v>-0.63480000000000003</c:v>
                </c:pt>
                <c:pt idx="1">
                  <c:v>-0.47160000000000002</c:v>
                </c:pt>
                <c:pt idx="2">
                  <c:v>-0.33050000000000002</c:v>
                </c:pt>
                <c:pt idx="3">
                  <c:v>-0.21160000000000001</c:v>
                </c:pt>
                <c:pt idx="4">
                  <c:v>-0.1149</c:v>
                </c:pt>
                <c:pt idx="5">
                  <c:v>-4.0399999999999998E-2</c:v>
                </c:pt>
                <c:pt idx="6">
                  <c:v>1.2E-2</c:v>
                </c:pt>
                <c:pt idx="7">
                  <c:v>4.2299999999999997E-2</c:v>
                </c:pt>
                <c:pt idx="8">
                  <c:v>5.0299999999999997E-2</c:v>
                </c:pt>
                <c:pt idx="9">
                  <c:v>3.6299999999999999E-2</c:v>
                </c:pt>
                <c:pt idx="10">
                  <c:v>0</c:v>
                </c:pt>
                <c:pt idx="11">
                  <c:v>-5.8400000000000001E-2</c:v>
                </c:pt>
                <c:pt idx="12">
                  <c:v>-0.13900000000000001</c:v>
                </c:pt>
                <c:pt idx="13">
                  <c:v>-0.2417</c:v>
                </c:pt>
                <c:pt idx="14">
                  <c:v>-0.36659999999999998</c:v>
                </c:pt>
                <c:pt idx="15">
                  <c:v>-0.51370000000000005</c:v>
                </c:pt>
                <c:pt idx="16">
                  <c:v>-0.68289999999999995</c:v>
                </c:pt>
                <c:pt idx="17">
                  <c:v>-0.87429999999999997</c:v>
                </c:pt>
                <c:pt idx="18">
                  <c:v>-1.0879000000000001</c:v>
                </c:pt>
                <c:pt idx="19">
                  <c:v>-1.3236000000000001</c:v>
                </c:pt>
                <c:pt idx="20">
                  <c:v>-1.5814999999999999</c:v>
                </c:pt>
              </c:numCache>
            </c:numRef>
          </c:yVal>
          <c:smooth val="0"/>
          <c:extLst>
            <c:ext xmlns:c16="http://schemas.microsoft.com/office/drawing/2014/chart" uri="{C3380CC4-5D6E-409C-BE32-E72D297353CC}">
              <c16:uniqueId val="{00000001-B6EB-41BB-9CFB-0798327798E4}"/>
            </c:ext>
          </c:extLst>
        </c:ser>
        <c:dLbls>
          <c:showLegendKey val="0"/>
          <c:showVal val="0"/>
          <c:showCatName val="0"/>
          <c:showSerName val="0"/>
          <c:showPercent val="0"/>
          <c:showBubbleSize val="0"/>
        </c:dLbls>
        <c:axId val="-2128940872"/>
        <c:axId val="-2129643912"/>
      </c:scatterChart>
      <c:valAx>
        <c:axId val="-2128940872"/>
        <c:scaling>
          <c:orientation val="minMax"/>
          <c:max val="20"/>
          <c:min val="-20"/>
        </c:scaling>
        <c:delete val="0"/>
        <c:axPos val="b"/>
        <c:majorGridlines>
          <c:spPr>
            <a:ln w="6350">
              <a:solidFill>
                <a:srgbClr val="26352B"/>
              </a:solidFill>
            </a:ln>
          </c:spPr>
        </c:majorGridlines>
        <c:numFmt formatCode="General"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9643912"/>
        <c:crosses val="autoZero"/>
        <c:crossBetween val="midCat"/>
      </c:valAx>
      <c:valAx>
        <c:axId val="-2129643912"/>
        <c:scaling>
          <c:orientation val="minMax"/>
        </c:scaling>
        <c:delete val="0"/>
        <c:axPos val="l"/>
        <c:majorGridlines>
          <c:spPr>
            <a:ln w="6350">
              <a:solidFill>
                <a:srgbClr val="26352B"/>
              </a:solidFill>
            </a:ln>
          </c:spPr>
        </c:majorGridlines>
        <c:numFmt formatCode="0.0" sourceLinked="0"/>
        <c:majorTickMark val="out"/>
        <c:minorTickMark val="none"/>
        <c:tickLblPos val="low"/>
        <c:spPr>
          <a:ln>
            <a:solidFill>
              <a:srgbClr val="26352B"/>
            </a:solidFill>
          </a:ln>
        </c:spPr>
        <c:txPr>
          <a:bodyPr/>
          <a:lstStyle/>
          <a:p>
            <a:pPr>
              <a:defRPr sz="800">
                <a:solidFill>
                  <a:srgbClr val="93A79A"/>
                </a:solidFill>
                <a:latin typeface="Consolas"/>
              </a:defRPr>
            </a:pPr>
            <a:endParaRPr lang="en-US"/>
          </a:p>
        </c:txPr>
        <c:crossAx val="-2128940872"/>
        <c:crosses val="autoZero"/>
        <c:crossBetween val="midCat"/>
      </c:valAx>
      <c:spPr>
        <a:noFill/>
        <a:ln>
          <a:noFill/>
        </a:ln>
      </c:spPr>
    </c:plotArea>
    <c:legend>
      <c:legendPos val="t"/>
      <c:overlay val="0"/>
      <c:txPr>
        <a:bodyPr/>
        <a:lstStyle/>
        <a:p>
          <a:pPr>
            <a:defRPr sz="800">
              <a:solidFill>
                <a:srgbClr val="E8F2EA"/>
              </a:solidFill>
              <a:latin typeface="Consolas"/>
            </a:defRPr>
          </a:pPr>
          <a:endParaRPr lang="en-US"/>
        </a:p>
      </c:txPr>
    </c:legend>
    <c:plotVisOnly val="1"/>
    <c:dispBlanksAs val="gap"/>
    <c:showDLblsOverMax val="0"/>
  </c:chart>
  <c:spPr>
    <a:noFill/>
    <a:ln>
      <a:noFill/>
    </a:ln>
  </c:spPr>
  <c:txPr>
    <a:bodyPr/>
    <a:lstStyle/>
    <a:p>
      <a:pPr>
        <a:defRPr sz="800">
          <a:solidFill>
            <a:srgbClr val="93A79A"/>
          </a:solidFill>
          <a:latin typeface="Consola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5675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one-line pitch: a pricing and risk engine, not a Black-Scholes script. The quote panel is real engine output for the running example used on every slide: S = K = 100, one year, r = 5%, vol = 20%, no dividend. Seven engines: Black-Scholes, Black-76, CRR, Leisen-Reimer, Monte Carlo, Longstaff-Schwartz and a finite-difference PDE.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under 20 seconds. Flag that section 07 is a live demo. The story in one line: we built it, we proved the numbers, and we know where it is still wrong.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problem: a single price is useless without sensitivities, stress tests and proof that it is right. Each card is one goal from the brief with what was delivered against it. The rest of the talk is the evidence.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idea: each model exists because the previous one could not handle a contract feature. European has a closed form; early exercise needs a tree or a fitted exercise rule; futures use Black-76; path dependence needs Monte Carlo; a barrier is a boundary condition, which is what a PDE grid handles. The four colours follow through the deck.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input records describe the trade and the market; engines are interchangeable algorithms behind one six-method interface. That is what lets the same option be priced by several engines, which is the basis of validation. The web layer holds no pricing maths, so every layer is unit-testable on its own.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is where these projects die. Three things the collector does that a naive script does not: it prices off the bid-ask mid, it cross-checks the vendor dividend yield against the trailing dividend history instead of guessing the unit, and it rejects quotes outside no-arbitrage bounds. Be honest about the overnight result: Yahoo reported zero open interest on every row outside US hours, so the liquidity filter removed the whole chain. The filter needs market-hours data.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engine everything else is tested against. Running example: call 10.4506, put 5.5735; put-call parity holds to machine precision. The implied-volatility solver uses Brent: a market price of 11 inverts to 21.46%. Chart: value is convex in spot and sits above intrinsic; the gap is time value, widest at the strike and shrinking as expiry approaches.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views of the same engine at three maturities. Delta is a smooth S-curve at one year and sharpens toward a step near expiry. Gamma peaks at the money and the peak grows as time shrinks: that is the pin risk a desk hedges. Units are fixed across every engine in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Black-76 is Black-Scholes written on the forward, so carry never has to be estimated. The engine has two explicit modes. With no futures price, the forward is derived from spot and the model equals Black-Scholes exactly. With a quoted future, the Greeks are futures Greeks: delta is capped at the discount factor and rho is minus T times the value, negative for calls and puts alike. Mixing the two conventions was a defect in the draft; the mode is now explicit and selectable as Stock, Index or Commodity in the app.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CRR oscillates between odd and even step counts with an error that falls like one over N. Leisen-Reimer chooses the up-probability so the tree matches the normal at d1 and d2, and converges at second order. LR at 51 steps has an error of 0.00013; CRR at 1,001 steps is still 0.00175. At 201 steps the gap is about a thousand times. The American put is worth 6.0903 against 5.5735 European, an early-exercise premium of 0.517. The American call equals the European call because there is no dividend: that is one of the validation tests.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Simulating an American option needs an exercise rule. Longstaff-Schwartz fits one by regressing discounted future cash flows on Laguerre polynomials of the price, using in-the-money paths only. Fitting and pricing on the same paths lets the rule see each path's future and biases the price up, so the rule is fitted on one set of paths and priced on a fresh set, which gives a lower bound. On the original paper's test case the engine gives 4.481 against the paper's 4.472. On the running example it reads 6.058 against 6.090 from the tree, about half a percent low by design. This was listed as future work in the brief's guide; it is now delivered.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Monte Carlo error falls like one over root N: four times the paths to halve the error. Antithetic paths roughly halve the variance. The geometric-average Asian has a closed form and tracks the arithmetic payoff almost perfectly, so as a control variate it cuts the variance about 746 times, a standard error 27 times smaller on the same paths. One correction mattered: with antithetic paths the standard error must be computed on pair averages, or the error bar is overstated by about 37%.</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product depends on something the terminal price cannot give: the average, the extreme, or several correlated assets. Asian: 5.7825 with 252 daily fixings, 45% cheaper than the vanilla because an average moves less. Lookback: the closed form is 17.2168; the raw discrete simulation reads 16.61, 3.5% low, because it cannot see an extreme between observation dates; the continuity correction fixes it. Basket: the price rises from 7.46 to 10.02 as correlation goes from 0 to 0.8, so the holder is long correlation.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barrier is a boundary condition, which is what a grid handles naturally. The solver is Crank-Nicolson on a grid that ends at the barrier, where the value is zero; the grid is sized automatically from the distance to the barrier. In-out parity is the built-in test: knock-in plus knock-out equals the vanilla. The PDE gives 1.1756 against the closed form 1.1761; a Brownian-bridge simulation agrees within its error. Be honest: Rannacher start-up steps are not implemented yet, and barrier gamma very close to the barrier is not reliable.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row per product, same market inputs, same units. Analytic where a closed form exists; read off the lattice for trees; bump-and-revalue with common random numbers for simulation and the PDE. Three things to point at: the up-and-out call is short delta, gamma and vega, so more volatility hurts it; the lookback has zero gamma because its value scales with spot; and the Asian carries about 41% less vega than the vanilla.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cell is a full reprice of one long at-the-money call, not a Greek extrapolation. Point at the worst cell: spot down 10% with volatility down 10 points loses 8.77, which is 84% of the premium. The four tiles underneath are the other shocks the brief asks for, including the two product-specific ones: basket correlation and the barrier level.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delta-gamma estimate is fine for small moves on a vanilla. For the up-and-out call it is not. At plus 20% the option is knocked out and loses its whole premium of 1.18; delta-gamma predicts a loss of 1.58, more than the option is worth. Even the vanilla is off by 0.77 at plus 20%. That gap is exactly why the scenario engine reprices in full instead of trusting the Greeks.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number is not a validated number. The eight checks are the ones the brief lists, each with the value the engine produced. Behind them is a harness of 35 checks across 11 model families, of three kinds: compared with an independent formula, compared between two methods that share no code, or a relationship that must hold under no-arbitrage alone. It reruns live in the app against whatever contract is in the sidebar. 365 unit tests pass.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Beyond the built-in harness, every model was re-run on eight real tickers against formulas and simulations written separately, including Reiner-Rubinstein for all barrier types. Prices hold across the board. The audit also found things the harness missed, and they are listed here rather than hidden: barrier gamma is wrong close to the barrier, lookbacks read slightly high at coarse steps, and very small knock-in values are unreliable. Knowing where a model fails is as important as knowing where it works.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 the six numbered steps in order; rehearse to about five minutes. Run on manual inputs so nothing depends on the network. Good live moment: switch Exercise to American and watch Black-Scholes and Black-76 switch off, the benchmark change to a tree, and the Monte Carlo page move to Longstaff-Schwartz. Keep this screenshot as the fallback.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Black-Scholes-Merton is a formula, so there is no simulation or grid and the answer is exact under its assumptions. Dashboard: leave the sidebar on its defaults except Expiry 365 days and press Price. The strip across the top of the Pricer tab is the six outputs. Read them in words: the call costs 10.45; it moves 0.64 for a 1.00 move in the stock; it gains 0.38 per volatility point and loses 0.018 a day. The payoff chart underneath shows value today against payoff at expiry; the shaded gap is time value. The engine table on the right proves the trees and the simulation agree with the formula.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Black-76 is Black-Scholes with the futures price in place of the stock price. Dashboard: choose Black-76 under Pricing model and a new block appears, Black-76 underlying, with three buttons: Stock, Index, Commodity. Pick Commodity and the Spot and Dividend fields are replaced by Futures F and Multiplier, and a Contract dropdown appears. With F = 100 the call is 7.58 against 10.45 for the stock, because a future has no upward drift from interest. Point at rho: it is negative, which never happens for a call on a stock. The Risk metrics card adds two futures-specific checks. Switching the underlying back to Stock returns exactly the Black-Scholes number.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the Cox-Ross-Rubinstein tree. Dashboard: select Put and American. The two closed-form models grey out with a note explaining why, which is a good live moment. The Pricer shows 6.0975 at 201 steps. Open the Trees tab: the page title changes to American exercise and every chart follows. American vs European price shows the two curves separating as the put goes in the money; the gap at spot is the early-exercise premium, about 0.52. The boundary chart shows the stock price below which exercising immediately is optimal. The convergence table at the bottom lists both trees against a 2,001-step reference.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Leisen and Reimer choose the up-probability so the tree reproduces the normal distribution terms at the strike, which gives second-order convergence. Dashboard: select Leisen-Reimer and open the Trees tab. The convergence chart shows CRR approaching slowly while Leisen-Reimer is flat. The log-scale chart is the evidence: two straight lines with slopes of about minus one and minus two. In the table, 11 Leisen-Reimer steps (error 0.0026) are already closer than 401 CRR steps (0.0044). Be honest about the limit: switch Exercise to American and the same table shows errors of 0.0014 against 0.0073 at 201 steps, a five-fold gain, not a thousand-fold one.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Monte Carlo prices by averaging simulated payoffs, and the error falls with the square root of the number of paths. Dashboard: choose Asian under Product. The model list shrinks to Monte Carlo and the numerics field is relabelled Fixings. The price strip now shows a plus-or-minus and a confidence interval. The Asian call is 5.81 against 10.45 for the vanilla, because an average moves less than a final price. Open the Monte Carlo tab: the first chart shows the band narrowing as paths are added; the second is the important one, where the control variate cuts the variance about 720 times on the same paths. Changing Product to Lookback hides the Strike field, because the payoff has no strike; Basket adds Assets and Correlation fields.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least-squares Monte Carlo from Longstaff and Schwartz, 2001. Dashboard: with Exercise on American, pick Longstaff-Schwartz MC. The numerics field is relabelled Exercise dates. The Pricer shows 6.08 with an error bar, and the tree in the engine table is inside that bar. Open the Monte Carlo tab: for an American option it shows two extra cards. The boundary chart compares the exercise rule the simulation learned with the one from the tree. The convergence chart shows the estimate and its band against the tree's dashed line as paths are added. The in-sample and out-of-sample card shows the price on the paths used to fit the rule and on fresh paths; at these settings the two differ by less than the error bar and both sit just below the tree, which is expected because an estimated rule can match the best rule or fall short of it, never beat it.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Crank-Nicolson finite differences on a grid that stops at the barrier. Dashboard: choose Barrier under Product and a Barrier block appears with a Type dropdown and a Level field. With an up-and-out barrier at 120 the call is worth 1.18, about a ninth of the plain call, because the large rises that make a call valuable are the ones that cancel it. Point at the Greeks: delta and vega are negative and theta is positive, so this option gains from calm markets. Open the Barrier PDE tab: the first chart is the value against spot, rising and then falling to zero at 120; the engine card shows the simulation and the knock-in twin; the surface shows the value over spot and time. The knock-in plus the knock-out equals the vanilla exactly, which is the built-in check.</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the map for the live demo. Every row is the same market: stock and strike 100, one year, 20% volatility, 5% rate, no dividend. The rule to state out loud: use the simplest model that can handle the contract. A formula takes a millisecond and is exact; a tree takes about ten milliseconds; a simulation takes seconds and comes with an error bar.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Volatility is the only Black-Scholes input that is not observable: spot, strike, expiry and rate can be read off a screen, volatility has to be estimated or implied. Dashboard: the Vol field in the sidebar's Market block feeds every model. The Greeks tab has a Price vs volatility chart, which for an at-the-money option is nearly a straight line with slope equal to vega. The Market and Smile tab shows the reverse direction: it prices 21 strikes on a known skew, hands only the prices to the Brent solver and recovers the volatility at every strike to eleven decimal places. With a live chain fetched from the sidebar the same page solves a real smile. Useful single number: a market price of 11.00 on this call implies a volatility of 21.46%. Vega by strike explains why wing quotes are noisy: a one-cent price error moves the implied volatility by 0.01 divided by vega.</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Vega is per volatility point on every engine, so the numbers are directly comparable. Dashboard: change Product in the sidebar and read Vega on the Pricer's price strip. The Asian call has 41% less vega than the vanilla because an average swings less than a final price. The lookback has 81% more because a wider range means a better best price. The up-and-out barrier is negative: more volatility raises the chance of touching 120 and losing everything. The Greeks tab has a Vega heatmap across spot and volatility for the selected product; it is brightest at the money and fades in both directions. The same tab ends with a table comparing all Greeks across products on the same market inputs.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scenario is a full reprice, not vega times the move. Dashboard: open the Scenarios tab with the vanilla call. The Volatility shocks card shows four bars. A 10-point rise adds 3.78 and a 10-point fall removes 3.65; vega alone would say 3.75 both ways, so even for a vanilla the estimate is slightly off and the error grows with the size of the shock. The P&amp;L matrix crosses five spot moves with five volatility moves: the worst corner loses 84% of the premium, and a 5% fall in spot is more than paid for by a 10-point rise in volatility. Then switch Product to Barrier: the same card flips sign. The knock-out call more than triples when volatility falls 10 points, because the barrier becomes much harder to reach. Other products for reference, plus or minus 10 points: put plus 68% and minus 65%, Asian plus 38% and minus 37%, lookback plus 38% and minus 40%.</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strongest finding, not the limitations. But state the limitations plainly: a panel reads their absence as not understanding the models. The honest headline limit is one flat volatility per contract.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panel. The repository and dashboard are on this machine; offer to open any page. Backup slide follows with the answers to the questions a derivatives panel usually asks.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301752"/>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0"/>
            <a:ext cx="7315200" cy="301752"/>
          </a:xfrm>
          <a:prstGeom prst="rect">
            <a:avLst/>
          </a:prstGeom>
          <a:noFill/>
        </p:spPr>
        <p:txBody>
          <a:bodyPr wrap="square" lIns="0" tIns="0" rIns="0" bIns="0" anchor="ctr">
            <a:spAutoFit/>
          </a:bodyPr>
          <a:lstStyle/>
          <a:p>
            <a:pPr algn="l"/>
            <a:r>
              <a:rPr sz="800" b="0" i="0">
                <a:solidFill>
                  <a:srgbClr val="93A79A"/>
                </a:solidFill>
                <a:latin typeface="Consolas"/>
              </a:rPr>
              <a:t>SPOT 100.00   K 100.00   σ 20.00%   r 5.00%   T 1.00Y   MODELS BSM · B76 · CRR · LR · MC · LSMC · PDE</a:t>
            </a:r>
          </a:p>
        </p:txBody>
      </p:sp>
      <p:sp>
        <p:nvSpPr>
          <p:cNvPr id="5" name="TextBox 4"/>
          <p:cNvSpPr txBox="1"/>
          <p:nvPr/>
        </p:nvSpPr>
        <p:spPr>
          <a:xfrm>
            <a:off x="566928" y="960120"/>
            <a:ext cx="5486400" cy="161583"/>
          </a:xfrm>
          <a:prstGeom prst="rect">
            <a:avLst/>
          </a:prstGeom>
          <a:noFill/>
        </p:spPr>
        <p:txBody>
          <a:bodyPr wrap="square" lIns="0" tIns="0" rIns="0" bIns="0" anchor="t">
            <a:spAutoFit/>
          </a:bodyPr>
          <a:lstStyle/>
          <a:p>
            <a:pPr algn="l"/>
            <a:r>
              <a:rPr sz="1050" b="0" i="0" dirty="0">
                <a:solidFill>
                  <a:srgbClr val="3DDC84"/>
                </a:solidFill>
                <a:latin typeface="Consolas"/>
              </a:rPr>
              <a:t>&gt; </a:t>
            </a:r>
            <a:r>
              <a:rPr lang="en-US" sz="1050" dirty="0">
                <a:solidFill>
                  <a:srgbClr val="3DDC84"/>
                </a:solidFill>
                <a:latin typeface="Consolas"/>
              </a:rPr>
              <a:t>I</a:t>
            </a:r>
            <a:r>
              <a:rPr sz="1050" b="0" i="0" dirty="0">
                <a:solidFill>
                  <a:srgbClr val="3DDC84"/>
                </a:solidFill>
                <a:latin typeface="Consolas"/>
              </a:rPr>
              <a:t>nternship</a:t>
            </a:r>
            <a:r>
              <a:rPr lang="en-US" sz="1050" dirty="0">
                <a:solidFill>
                  <a:srgbClr val="3DDC84"/>
                </a:solidFill>
                <a:latin typeface="Consolas"/>
              </a:rPr>
              <a:t> P</a:t>
            </a:r>
            <a:r>
              <a:rPr sz="1050" b="0" i="0" dirty="0">
                <a:solidFill>
                  <a:srgbClr val="3DDC84"/>
                </a:solidFill>
                <a:latin typeface="Consolas"/>
              </a:rPr>
              <a:t>roject</a:t>
            </a:r>
          </a:p>
        </p:txBody>
      </p:sp>
      <p:sp>
        <p:nvSpPr>
          <p:cNvPr id="6" name="TextBox 5"/>
          <p:cNvSpPr txBox="1"/>
          <p:nvPr/>
        </p:nvSpPr>
        <p:spPr>
          <a:xfrm>
            <a:off x="566928" y="1280160"/>
            <a:ext cx="5669280" cy="1280160"/>
          </a:xfrm>
          <a:prstGeom prst="rect">
            <a:avLst/>
          </a:prstGeom>
          <a:noFill/>
        </p:spPr>
        <p:txBody>
          <a:bodyPr wrap="square" lIns="0" tIns="0" rIns="0" bIns="0" anchor="t">
            <a:spAutoFit/>
          </a:bodyPr>
          <a:lstStyle/>
          <a:p>
            <a:pPr algn="l">
              <a:lnSpc>
                <a:spcPct val="92000"/>
              </a:lnSpc>
            </a:pPr>
            <a:r>
              <a:rPr sz="4000" b="1" i="0">
                <a:solidFill>
                  <a:srgbClr val="E8F2EA"/>
                </a:solidFill>
                <a:latin typeface="Arial"/>
              </a:rPr>
              <a:t>Derivative Pricing</a:t>
            </a:r>
          </a:p>
          <a:p>
            <a:pPr algn="l">
              <a:lnSpc>
                <a:spcPct val="92000"/>
              </a:lnSpc>
            </a:pPr>
            <a:r>
              <a:rPr sz="4000" b="1" i="0">
                <a:solidFill>
                  <a:srgbClr val="E8F2EA"/>
                </a:solidFill>
                <a:latin typeface="Arial"/>
              </a:rPr>
              <a:t>Engine &amp; Greeks</a:t>
            </a:r>
          </a:p>
        </p:txBody>
      </p:sp>
      <p:sp>
        <p:nvSpPr>
          <p:cNvPr id="7" name="Rectangle 6"/>
          <p:cNvSpPr/>
          <p:nvPr/>
        </p:nvSpPr>
        <p:spPr>
          <a:xfrm>
            <a:off x="566928" y="2615184"/>
            <a:ext cx="384048" cy="32004"/>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2816352"/>
            <a:ext cx="5120640" cy="731520"/>
          </a:xfrm>
          <a:prstGeom prst="rect">
            <a:avLst/>
          </a:prstGeom>
          <a:noFill/>
        </p:spPr>
        <p:txBody>
          <a:bodyPr wrap="square" lIns="0" tIns="0" rIns="0" bIns="0" anchor="t">
            <a:spAutoFit/>
          </a:bodyPr>
          <a:lstStyle/>
          <a:p>
            <a:pPr algn="l">
              <a:lnSpc>
                <a:spcPct val="105000"/>
              </a:lnSpc>
            </a:pPr>
            <a:r>
              <a:rPr sz="1300" b="0" i="0" dirty="0">
                <a:solidFill>
                  <a:srgbClr val="93A79A"/>
                </a:solidFill>
                <a:latin typeface="Arial"/>
              </a:rPr>
              <a:t>A Python platform that prices 7 option types on 7 engines, computes Greeks, runs scenarios and checks every number against an independent calculation.</a:t>
            </a:r>
          </a:p>
        </p:txBody>
      </p:sp>
      <p:sp>
        <p:nvSpPr>
          <p:cNvPr id="9" name="TextBox 8"/>
          <p:cNvSpPr txBox="1"/>
          <p:nvPr/>
        </p:nvSpPr>
        <p:spPr>
          <a:xfrm>
            <a:off x="566928" y="4370832"/>
            <a:ext cx="5486400" cy="461665"/>
          </a:xfrm>
          <a:prstGeom prst="rect">
            <a:avLst/>
          </a:prstGeom>
          <a:noFill/>
        </p:spPr>
        <p:txBody>
          <a:bodyPr wrap="square" lIns="0" tIns="0" rIns="0" bIns="0" anchor="t">
            <a:spAutoFit/>
          </a:bodyPr>
          <a:lstStyle/>
          <a:p>
            <a:pPr algn="l"/>
            <a:r>
              <a:rPr lang="en-US" sz="1000" dirty="0">
                <a:solidFill>
                  <a:srgbClr val="E8F2EA"/>
                </a:solidFill>
                <a:latin typeface="Arial"/>
              </a:rPr>
              <a:t>Team 1</a:t>
            </a:r>
            <a:r>
              <a:rPr sz="1000" b="0" i="0" dirty="0">
                <a:solidFill>
                  <a:srgbClr val="E8F2EA"/>
                </a:solidFill>
                <a:latin typeface="Arial"/>
              </a:rPr>
              <a:t>   ·   Internship Project    ·   October 2026</a:t>
            </a:r>
            <a:endParaRPr lang="en-US" sz="1000" b="0" i="0" dirty="0">
              <a:solidFill>
                <a:srgbClr val="E8F2EA"/>
              </a:solidFill>
              <a:latin typeface="Arial"/>
            </a:endParaRPr>
          </a:p>
          <a:p>
            <a:pPr algn="l"/>
            <a:r>
              <a:rPr lang="en-IN" sz="1000" dirty="0">
                <a:solidFill>
                  <a:srgbClr val="E8F2EA"/>
                </a:solidFill>
                <a:latin typeface="Arial"/>
              </a:rPr>
              <a:t>Manish Esuri, Arush Gupta, Nitish Singh, </a:t>
            </a:r>
            <a:r>
              <a:rPr lang="en-IN" sz="1000">
                <a:solidFill>
                  <a:srgbClr val="E8F2EA"/>
                </a:solidFill>
                <a:latin typeface="Arial"/>
              </a:rPr>
              <a:t>Alexander Zee, Shuarya</a:t>
            </a:r>
            <a:r>
              <a:rPr lang="en-IN" sz="1000" dirty="0">
                <a:solidFill>
                  <a:srgbClr val="E8F2EA"/>
                </a:solidFill>
                <a:latin typeface="Arial"/>
              </a:rPr>
              <a:t> Saxena, </a:t>
            </a:r>
            <a:r>
              <a:rPr lang="en-IN" sz="1000" dirty="0" err="1">
                <a:solidFill>
                  <a:srgbClr val="E8F2EA"/>
                </a:solidFill>
                <a:latin typeface="Arial"/>
              </a:rPr>
              <a:t>Vanditha</a:t>
            </a:r>
            <a:r>
              <a:rPr lang="en-IN" sz="1000" dirty="0">
                <a:solidFill>
                  <a:srgbClr val="E8F2EA"/>
                </a:solidFill>
                <a:latin typeface="Arial"/>
              </a:rPr>
              <a:t> Toleti, Naitik Patel</a:t>
            </a:r>
            <a:endParaRPr sz="1000" b="0" i="0" dirty="0">
              <a:solidFill>
                <a:srgbClr val="E8F2EA"/>
              </a:solidFill>
              <a:latin typeface="Arial"/>
            </a:endParaRPr>
          </a:p>
        </p:txBody>
      </p:sp>
      <p:sp>
        <p:nvSpPr>
          <p:cNvPr id="10" name="Rectangle 9"/>
          <p:cNvSpPr/>
          <p:nvPr/>
        </p:nvSpPr>
        <p:spPr>
          <a:xfrm>
            <a:off x="6382512" y="950976"/>
            <a:ext cx="2194560" cy="3054096"/>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56248" y="1097280"/>
            <a:ext cx="1920240" cy="182880"/>
          </a:xfrm>
          <a:prstGeom prst="rect">
            <a:avLst/>
          </a:prstGeom>
          <a:noFill/>
        </p:spPr>
        <p:txBody>
          <a:bodyPr wrap="square" lIns="0" tIns="0" rIns="0" bIns="0" anchor="t">
            <a:spAutoFit/>
          </a:bodyPr>
          <a:lstStyle/>
          <a:p>
            <a:pPr algn="l"/>
            <a:r>
              <a:rPr sz="800" b="1" i="0">
                <a:solidFill>
                  <a:srgbClr val="93A79A"/>
                </a:solidFill>
                <a:latin typeface="Consolas"/>
              </a:rPr>
              <a:t>EUR CALL · K100 · 1Y</a:t>
            </a:r>
          </a:p>
        </p:txBody>
      </p:sp>
      <p:sp>
        <p:nvSpPr>
          <p:cNvPr id="12" name="TextBox 11"/>
          <p:cNvSpPr txBox="1"/>
          <p:nvPr/>
        </p:nvSpPr>
        <p:spPr>
          <a:xfrm>
            <a:off x="6556248" y="1417320"/>
            <a:ext cx="914400" cy="274320"/>
          </a:xfrm>
          <a:prstGeom prst="rect">
            <a:avLst/>
          </a:prstGeom>
          <a:noFill/>
        </p:spPr>
        <p:txBody>
          <a:bodyPr wrap="square" lIns="0" tIns="0" rIns="0" bIns="0" anchor="ctr">
            <a:spAutoFit/>
          </a:bodyPr>
          <a:lstStyle/>
          <a:p>
            <a:pPr algn="l"/>
            <a:r>
              <a:rPr sz="850" b="0" i="0">
                <a:solidFill>
                  <a:srgbClr val="93A79A"/>
                </a:solidFill>
                <a:latin typeface="Consolas"/>
              </a:rPr>
              <a:t>PRICE</a:t>
            </a:r>
          </a:p>
        </p:txBody>
      </p:sp>
      <p:sp>
        <p:nvSpPr>
          <p:cNvPr id="13" name="TextBox 12"/>
          <p:cNvSpPr txBox="1"/>
          <p:nvPr/>
        </p:nvSpPr>
        <p:spPr>
          <a:xfrm>
            <a:off x="7315200" y="1417320"/>
            <a:ext cx="1097280" cy="274320"/>
          </a:xfrm>
          <a:prstGeom prst="rect">
            <a:avLst/>
          </a:prstGeom>
          <a:noFill/>
        </p:spPr>
        <p:txBody>
          <a:bodyPr wrap="square" lIns="0" tIns="0" rIns="0" bIns="0" anchor="ctr">
            <a:spAutoFit/>
          </a:bodyPr>
          <a:lstStyle/>
          <a:p>
            <a:pPr algn="r"/>
            <a:r>
              <a:rPr sz="1300" b="1" i="0">
                <a:solidFill>
                  <a:srgbClr val="3DDC84"/>
                </a:solidFill>
                <a:latin typeface="Consolas"/>
              </a:rPr>
              <a:t>10.4506</a:t>
            </a:r>
          </a:p>
        </p:txBody>
      </p:sp>
      <p:sp>
        <p:nvSpPr>
          <p:cNvPr id="14" name="Rectangle 13"/>
          <p:cNvSpPr/>
          <p:nvPr/>
        </p:nvSpPr>
        <p:spPr>
          <a:xfrm>
            <a:off x="6556248" y="1737360"/>
            <a:ext cx="1856231"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56248" y="1819656"/>
            <a:ext cx="914400" cy="274320"/>
          </a:xfrm>
          <a:prstGeom prst="rect">
            <a:avLst/>
          </a:prstGeom>
          <a:noFill/>
        </p:spPr>
        <p:txBody>
          <a:bodyPr wrap="square" lIns="0" tIns="0" rIns="0" bIns="0" anchor="ctr">
            <a:spAutoFit/>
          </a:bodyPr>
          <a:lstStyle/>
          <a:p>
            <a:pPr algn="l"/>
            <a:r>
              <a:rPr sz="850" b="0" i="0">
                <a:solidFill>
                  <a:srgbClr val="93A79A"/>
                </a:solidFill>
                <a:latin typeface="Consolas"/>
              </a:rPr>
              <a:t>DELTA</a:t>
            </a:r>
          </a:p>
        </p:txBody>
      </p:sp>
      <p:sp>
        <p:nvSpPr>
          <p:cNvPr id="16" name="TextBox 15"/>
          <p:cNvSpPr txBox="1"/>
          <p:nvPr/>
        </p:nvSpPr>
        <p:spPr>
          <a:xfrm>
            <a:off x="7315200" y="1819656"/>
            <a:ext cx="1097280" cy="274320"/>
          </a:xfrm>
          <a:prstGeom prst="rect">
            <a:avLst/>
          </a:prstGeom>
          <a:noFill/>
        </p:spPr>
        <p:txBody>
          <a:bodyPr wrap="square" lIns="0" tIns="0" rIns="0" bIns="0" anchor="ctr">
            <a:spAutoFit/>
          </a:bodyPr>
          <a:lstStyle/>
          <a:p>
            <a:pPr algn="r"/>
            <a:r>
              <a:rPr sz="1300" b="1" i="0">
                <a:solidFill>
                  <a:srgbClr val="E8F2EA"/>
                </a:solidFill>
                <a:latin typeface="Consolas"/>
              </a:rPr>
              <a:t>0.6368</a:t>
            </a:r>
          </a:p>
        </p:txBody>
      </p:sp>
      <p:sp>
        <p:nvSpPr>
          <p:cNvPr id="17" name="Rectangle 16"/>
          <p:cNvSpPr/>
          <p:nvPr/>
        </p:nvSpPr>
        <p:spPr>
          <a:xfrm>
            <a:off x="6556248" y="2139696"/>
            <a:ext cx="1856231"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56248" y="2221992"/>
            <a:ext cx="914400" cy="274320"/>
          </a:xfrm>
          <a:prstGeom prst="rect">
            <a:avLst/>
          </a:prstGeom>
          <a:noFill/>
        </p:spPr>
        <p:txBody>
          <a:bodyPr wrap="square" lIns="0" tIns="0" rIns="0" bIns="0" anchor="ctr">
            <a:spAutoFit/>
          </a:bodyPr>
          <a:lstStyle/>
          <a:p>
            <a:pPr algn="l"/>
            <a:r>
              <a:rPr sz="850" b="0" i="0">
                <a:solidFill>
                  <a:srgbClr val="93A79A"/>
                </a:solidFill>
                <a:latin typeface="Consolas"/>
              </a:rPr>
              <a:t>GAMMA</a:t>
            </a:r>
          </a:p>
        </p:txBody>
      </p:sp>
      <p:sp>
        <p:nvSpPr>
          <p:cNvPr id="19" name="TextBox 18"/>
          <p:cNvSpPr txBox="1"/>
          <p:nvPr/>
        </p:nvSpPr>
        <p:spPr>
          <a:xfrm>
            <a:off x="7315200" y="2221992"/>
            <a:ext cx="1097280" cy="274320"/>
          </a:xfrm>
          <a:prstGeom prst="rect">
            <a:avLst/>
          </a:prstGeom>
          <a:noFill/>
        </p:spPr>
        <p:txBody>
          <a:bodyPr wrap="square" lIns="0" tIns="0" rIns="0" bIns="0" anchor="ctr">
            <a:spAutoFit/>
          </a:bodyPr>
          <a:lstStyle/>
          <a:p>
            <a:pPr algn="r"/>
            <a:r>
              <a:rPr sz="1300" b="1" i="0">
                <a:solidFill>
                  <a:srgbClr val="E8F2EA"/>
                </a:solidFill>
                <a:latin typeface="Consolas"/>
              </a:rPr>
              <a:t>0.0188</a:t>
            </a:r>
          </a:p>
        </p:txBody>
      </p:sp>
      <p:sp>
        <p:nvSpPr>
          <p:cNvPr id="20" name="Rectangle 19"/>
          <p:cNvSpPr/>
          <p:nvPr/>
        </p:nvSpPr>
        <p:spPr>
          <a:xfrm>
            <a:off x="6556248" y="2542032"/>
            <a:ext cx="1856231"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56248" y="2624328"/>
            <a:ext cx="914400" cy="274320"/>
          </a:xfrm>
          <a:prstGeom prst="rect">
            <a:avLst/>
          </a:prstGeom>
          <a:noFill/>
        </p:spPr>
        <p:txBody>
          <a:bodyPr wrap="square" lIns="0" tIns="0" rIns="0" bIns="0" anchor="ctr">
            <a:spAutoFit/>
          </a:bodyPr>
          <a:lstStyle/>
          <a:p>
            <a:pPr algn="l"/>
            <a:r>
              <a:rPr sz="850" b="0" i="0">
                <a:solidFill>
                  <a:srgbClr val="93A79A"/>
                </a:solidFill>
                <a:latin typeface="Consolas"/>
              </a:rPr>
              <a:t>VEGA /pt</a:t>
            </a:r>
          </a:p>
        </p:txBody>
      </p:sp>
      <p:sp>
        <p:nvSpPr>
          <p:cNvPr id="22" name="TextBox 21"/>
          <p:cNvSpPr txBox="1"/>
          <p:nvPr/>
        </p:nvSpPr>
        <p:spPr>
          <a:xfrm>
            <a:off x="7315200" y="2624328"/>
            <a:ext cx="1097280" cy="274320"/>
          </a:xfrm>
          <a:prstGeom prst="rect">
            <a:avLst/>
          </a:prstGeom>
          <a:noFill/>
        </p:spPr>
        <p:txBody>
          <a:bodyPr wrap="square" lIns="0" tIns="0" rIns="0" bIns="0" anchor="ctr">
            <a:spAutoFit/>
          </a:bodyPr>
          <a:lstStyle/>
          <a:p>
            <a:pPr algn="r"/>
            <a:r>
              <a:rPr sz="1300" b="1" i="0">
                <a:solidFill>
                  <a:srgbClr val="E8F2EA"/>
                </a:solidFill>
                <a:latin typeface="Consolas"/>
              </a:rPr>
              <a:t>0.3752</a:t>
            </a:r>
          </a:p>
        </p:txBody>
      </p:sp>
      <p:sp>
        <p:nvSpPr>
          <p:cNvPr id="23" name="Rectangle 22"/>
          <p:cNvSpPr/>
          <p:nvPr/>
        </p:nvSpPr>
        <p:spPr>
          <a:xfrm>
            <a:off x="6556248" y="2944368"/>
            <a:ext cx="1856231"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56248" y="3026664"/>
            <a:ext cx="914400" cy="274320"/>
          </a:xfrm>
          <a:prstGeom prst="rect">
            <a:avLst/>
          </a:prstGeom>
          <a:noFill/>
        </p:spPr>
        <p:txBody>
          <a:bodyPr wrap="square" lIns="0" tIns="0" rIns="0" bIns="0" anchor="ctr">
            <a:spAutoFit/>
          </a:bodyPr>
          <a:lstStyle/>
          <a:p>
            <a:pPr algn="l"/>
            <a:r>
              <a:rPr sz="850" b="0" i="0">
                <a:solidFill>
                  <a:srgbClr val="93A79A"/>
                </a:solidFill>
                <a:latin typeface="Consolas"/>
              </a:rPr>
              <a:t>THETA /d</a:t>
            </a:r>
          </a:p>
        </p:txBody>
      </p:sp>
      <p:sp>
        <p:nvSpPr>
          <p:cNvPr id="25" name="TextBox 24"/>
          <p:cNvSpPr txBox="1"/>
          <p:nvPr/>
        </p:nvSpPr>
        <p:spPr>
          <a:xfrm>
            <a:off x="7315200" y="3026664"/>
            <a:ext cx="1097280" cy="274320"/>
          </a:xfrm>
          <a:prstGeom prst="rect">
            <a:avLst/>
          </a:prstGeom>
          <a:noFill/>
        </p:spPr>
        <p:txBody>
          <a:bodyPr wrap="square" lIns="0" tIns="0" rIns="0" bIns="0" anchor="ctr">
            <a:spAutoFit/>
          </a:bodyPr>
          <a:lstStyle/>
          <a:p>
            <a:pPr algn="r"/>
            <a:r>
              <a:rPr sz="1300" b="1" i="0">
                <a:solidFill>
                  <a:srgbClr val="FFB020"/>
                </a:solidFill>
                <a:latin typeface="Consolas"/>
              </a:rPr>
              <a:t>−0.0176</a:t>
            </a:r>
          </a:p>
        </p:txBody>
      </p:sp>
      <p:sp>
        <p:nvSpPr>
          <p:cNvPr id="26" name="Rectangle 25"/>
          <p:cNvSpPr/>
          <p:nvPr/>
        </p:nvSpPr>
        <p:spPr>
          <a:xfrm>
            <a:off x="6556248" y="3346704"/>
            <a:ext cx="1856231"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56248" y="3429000"/>
            <a:ext cx="914400" cy="274320"/>
          </a:xfrm>
          <a:prstGeom prst="rect">
            <a:avLst/>
          </a:prstGeom>
          <a:noFill/>
        </p:spPr>
        <p:txBody>
          <a:bodyPr wrap="square" lIns="0" tIns="0" rIns="0" bIns="0" anchor="ctr">
            <a:spAutoFit/>
          </a:bodyPr>
          <a:lstStyle/>
          <a:p>
            <a:pPr algn="l"/>
            <a:r>
              <a:rPr sz="850" b="0" i="0">
                <a:solidFill>
                  <a:srgbClr val="93A79A"/>
                </a:solidFill>
                <a:latin typeface="Consolas"/>
              </a:rPr>
              <a:t>RHO /1%</a:t>
            </a:r>
          </a:p>
        </p:txBody>
      </p:sp>
      <p:sp>
        <p:nvSpPr>
          <p:cNvPr id="28" name="TextBox 27"/>
          <p:cNvSpPr txBox="1"/>
          <p:nvPr/>
        </p:nvSpPr>
        <p:spPr>
          <a:xfrm>
            <a:off x="7315200" y="3429000"/>
            <a:ext cx="1097280" cy="274320"/>
          </a:xfrm>
          <a:prstGeom prst="rect">
            <a:avLst/>
          </a:prstGeom>
          <a:noFill/>
        </p:spPr>
        <p:txBody>
          <a:bodyPr wrap="square" lIns="0" tIns="0" rIns="0" bIns="0" anchor="ctr">
            <a:spAutoFit/>
          </a:bodyPr>
          <a:lstStyle/>
          <a:p>
            <a:pPr algn="r"/>
            <a:r>
              <a:rPr sz="1300" b="1" i="0">
                <a:solidFill>
                  <a:srgbClr val="E8F2EA"/>
                </a:solidFill>
                <a:latin typeface="Consolas"/>
              </a:rPr>
              <a:t>0.5323</a:t>
            </a:r>
          </a:p>
        </p:txBody>
      </p:sp>
      <p:sp>
        <p:nvSpPr>
          <p:cNvPr id="29" name="Rectangle 28"/>
          <p:cNvSpPr/>
          <p:nvPr/>
        </p:nvSpPr>
        <p:spPr>
          <a:xfrm>
            <a:off x="6556248" y="3749039"/>
            <a:ext cx="1856231"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02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00 / AGENDA</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What we'll</a:t>
            </a:r>
          </a:p>
          <a:p>
            <a:pPr algn="l">
              <a:lnSpc>
                <a:spcPct val="92000"/>
              </a:lnSpc>
            </a:pPr>
            <a:r>
              <a:rPr sz="2500" b="1" i="0">
                <a:solidFill>
                  <a:srgbClr val="E8F2EA"/>
                </a:solidFill>
                <a:latin typeface="Arial"/>
              </a:rPr>
              <a:t>cover.</a:t>
            </a:r>
          </a:p>
        </p:txBody>
      </p:sp>
      <p:sp>
        <p:nvSpPr>
          <p:cNvPr id="8" name="TextBox 7"/>
          <p:cNvSpPr txBox="1"/>
          <p:nvPr/>
        </p:nvSpPr>
        <p:spPr>
          <a:xfrm>
            <a:off x="566928" y="1783080"/>
            <a:ext cx="457200" cy="274320"/>
          </a:xfrm>
          <a:prstGeom prst="rect">
            <a:avLst/>
          </a:prstGeom>
          <a:noFill/>
        </p:spPr>
        <p:txBody>
          <a:bodyPr wrap="square" lIns="0" tIns="0" rIns="0" bIns="0" anchor="t">
            <a:spAutoFit/>
          </a:bodyPr>
          <a:lstStyle/>
          <a:p>
            <a:pPr algn="l"/>
            <a:r>
              <a:rPr sz="1500" b="1" i="0">
                <a:solidFill>
                  <a:srgbClr val="3DDC84"/>
                </a:solidFill>
                <a:latin typeface="Consolas"/>
              </a:rPr>
              <a:t>01</a:t>
            </a:r>
          </a:p>
        </p:txBody>
      </p:sp>
      <p:sp>
        <p:nvSpPr>
          <p:cNvPr id="9" name="TextBox 8"/>
          <p:cNvSpPr txBox="1"/>
          <p:nvPr/>
        </p:nvSpPr>
        <p:spPr>
          <a:xfrm>
            <a:off x="1115568" y="1764792"/>
            <a:ext cx="3291840" cy="237744"/>
          </a:xfrm>
          <a:prstGeom prst="rect">
            <a:avLst/>
          </a:prstGeom>
          <a:noFill/>
        </p:spPr>
        <p:txBody>
          <a:bodyPr wrap="square" lIns="0" tIns="0" rIns="0" bIns="0" anchor="t">
            <a:spAutoFit/>
          </a:bodyPr>
          <a:lstStyle/>
          <a:p>
            <a:pPr algn="l"/>
            <a:r>
              <a:rPr sz="1350" b="1" i="0">
                <a:solidFill>
                  <a:srgbClr val="E8F2EA"/>
                </a:solidFill>
                <a:latin typeface="Arial"/>
              </a:rPr>
              <a:t>Objective &amp; scope</a:t>
            </a:r>
          </a:p>
        </p:txBody>
      </p:sp>
      <p:sp>
        <p:nvSpPr>
          <p:cNvPr id="10" name="TextBox 9"/>
          <p:cNvSpPr txBox="1"/>
          <p:nvPr/>
        </p:nvSpPr>
        <p:spPr>
          <a:xfrm>
            <a:off x="1115568" y="2011680"/>
            <a:ext cx="3291840" cy="201168"/>
          </a:xfrm>
          <a:prstGeom prst="rect">
            <a:avLst/>
          </a:prstGeom>
          <a:noFill/>
        </p:spPr>
        <p:txBody>
          <a:bodyPr wrap="square" lIns="0" tIns="0" rIns="0" bIns="0" anchor="t">
            <a:spAutoFit/>
          </a:bodyPr>
          <a:lstStyle/>
          <a:p>
            <a:pPr algn="l"/>
            <a:r>
              <a:rPr sz="950" b="0" i="0">
                <a:solidFill>
                  <a:srgbClr val="93A79A"/>
                </a:solidFill>
                <a:latin typeface="Arial"/>
              </a:rPr>
              <a:t>what was asked, what was delivered</a:t>
            </a:r>
          </a:p>
        </p:txBody>
      </p:sp>
      <p:sp>
        <p:nvSpPr>
          <p:cNvPr id="11" name="Rectangle 10"/>
          <p:cNvSpPr/>
          <p:nvPr/>
        </p:nvSpPr>
        <p:spPr>
          <a:xfrm>
            <a:off x="566928" y="2295144"/>
            <a:ext cx="370332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2441448"/>
            <a:ext cx="457200" cy="274320"/>
          </a:xfrm>
          <a:prstGeom prst="rect">
            <a:avLst/>
          </a:prstGeom>
          <a:noFill/>
        </p:spPr>
        <p:txBody>
          <a:bodyPr wrap="square" lIns="0" tIns="0" rIns="0" bIns="0" anchor="t">
            <a:spAutoFit/>
          </a:bodyPr>
          <a:lstStyle/>
          <a:p>
            <a:pPr algn="l"/>
            <a:r>
              <a:rPr sz="1500" b="1" i="0">
                <a:solidFill>
                  <a:srgbClr val="3DDC84"/>
                </a:solidFill>
                <a:latin typeface="Consolas"/>
              </a:rPr>
              <a:t>02</a:t>
            </a:r>
          </a:p>
        </p:txBody>
      </p:sp>
      <p:sp>
        <p:nvSpPr>
          <p:cNvPr id="13" name="TextBox 12"/>
          <p:cNvSpPr txBox="1"/>
          <p:nvPr/>
        </p:nvSpPr>
        <p:spPr>
          <a:xfrm>
            <a:off x="1115568" y="2423160"/>
            <a:ext cx="3291840" cy="237744"/>
          </a:xfrm>
          <a:prstGeom prst="rect">
            <a:avLst/>
          </a:prstGeom>
          <a:noFill/>
        </p:spPr>
        <p:txBody>
          <a:bodyPr wrap="square" lIns="0" tIns="0" rIns="0" bIns="0" anchor="t">
            <a:spAutoFit/>
          </a:bodyPr>
          <a:lstStyle/>
          <a:p>
            <a:pPr algn="l"/>
            <a:r>
              <a:rPr sz="1350" b="1" i="0">
                <a:solidFill>
                  <a:srgbClr val="E8F2EA"/>
                </a:solidFill>
                <a:latin typeface="Arial"/>
              </a:rPr>
              <a:t>Architecture &amp; data</a:t>
            </a:r>
          </a:p>
        </p:txBody>
      </p:sp>
      <p:sp>
        <p:nvSpPr>
          <p:cNvPr id="14" name="TextBox 13"/>
          <p:cNvSpPr txBox="1"/>
          <p:nvPr/>
        </p:nvSpPr>
        <p:spPr>
          <a:xfrm>
            <a:off x="1115568" y="2670048"/>
            <a:ext cx="3291840" cy="201168"/>
          </a:xfrm>
          <a:prstGeom prst="rect">
            <a:avLst/>
          </a:prstGeom>
          <a:noFill/>
        </p:spPr>
        <p:txBody>
          <a:bodyPr wrap="square" lIns="0" tIns="0" rIns="0" bIns="0" anchor="t">
            <a:spAutoFit/>
          </a:bodyPr>
          <a:lstStyle/>
          <a:p>
            <a:pPr algn="l"/>
            <a:r>
              <a:rPr sz="950" b="0" i="0">
                <a:solidFill>
                  <a:srgbClr val="93A79A"/>
                </a:solidFill>
                <a:latin typeface="Arial"/>
              </a:rPr>
              <a:t>one interface, ten inputs</a:t>
            </a:r>
          </a:p>
        </p:txBody>
      </p:sp>
      <p:sp>
        <p:nvSpPr>
          <p:cNvPr id="15" name="Rectangle 14"/>
          <p:cNvSpPr/>
          <p:nvPr/>
        </p:nvSpPr>
        <p:spPr>
          <a:xfrm>
            <a:off x="566928" y="2953512"/>
            <a:ext cx="370332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928" y="3099815"/>
            <a:ext cx="457200" cy="274320"/>
          </a:xfrm>
          <a:prstGeom prst="rect">
            <a:avLst/>
          </a:prstGeom>
          <a:noFill/>
        </p:spPr>
        <p:txBody>
          <a:bodyPr wrap="square" lIns="0" tIns="0" rIns="0" bIns="0" anchor="t">
            <a:spAutoFit/>
          </a:bodyPr>
          <a:lstStyle/>
          <a:p>
            <a:pPr algn="l"/>
            <a:r>
              <a:rPr sz="1500" b="1" i="0">
                <a:solidFill>
                  <a:srgbClr val="3DDC84"/>
                </a:solidFill>
                <a:latin typeface="Consolas"/>
              </a:rPr>
              <a:t>03</a:t>
            </a:r>
          </a:p>
        </p:txBody>
      </p:sp>
      <p:sp>
        <p:nvSpPr>
          <p:cNvPr id="17" name="TextBox 16"/>
          <p:cNvSpPr txBox="1"/>
          <p:nvPr/>
        </p:nvSpPr>
        <p:spPr>
          <a:xfrm>
            <a:off x="1115568" y="3081527"/>
            <a:ext cx="3291840" cy="237744"/>
          </a:xfrm>
          <a:prstGeom prst="rect">
            <a:avLst/>
          </a:prstGeom>
          <a:noFill/>
        </p:spPr>
        <p:txBody>
          <a:bodyPr wrap="square" lIns="0" tIns="0" rIns="0" bIns="0" anchor="t">
            <a:spAutoFit/>
          </a:bodyPr>
          <a:lstStyle/>
          <a:p>
            <a:pPr algn="l"/>
            <a:r>
              <a:rPr sz="1350" b="1" i="0">
                <a:solidFill>
                  <a:srgbClr val="E8F2EA"/>
                </a:solidFill>
                <a:latin typeface="Arial"/>
              </a:rPr>
              <a:t>Pricing models</a:t>
            </a:r>
          </a:p>
        </p:txBody>
      </p:sp>
      <p:sp>
        <p:nvSpPr>
          <p:cNvPr id="18" name="TextBox 17"/>
          <p:cNvSpPr txBox="1"/>
          <p:nvPr/>
        </p:nvSpPr>
        <p:spPr>
          <a:xfrm>
            <a:off x="1115568" y="3328415"/>
            <a:ext cx="3291840" cy="201168"/>
          </a:xfrm>
          <a:prstGeom prst="rect">
            <a:avLst/>
          </a:prstGeom>
          <a:noFill/>
        </p:spPr>
        <p:txBody>
          <a:bodyPr wrap="square" lIns="0" tIns="0" rIns="0" bIns="0" anchor="t">
            <a:spAutoFit/>
          </a:bodyPr>
          <a:lstStyle/>
          <a:p>
            <a:pPr algn="l"/>
            <a:r>
              <a:rPr sz="950" b="0" i="0">
                <a:solidFill>
                  <a:srgbClr val="93A79A"/>
                </a:solidFill>
                <a:latin typeface="Arial"/>
              </a:rPr>
              <a:t>closed form, trees, simulation, PDE</a:t>
            </a:r>
          </a:p>
        </p:txBody>
      </p:sp>
      <p:sp>
        <p:nvSpPr>
          <p:cNvPr id="19" name="Rectangle 18"/>
          <p:cNvSpPr/>
          <p:nvPr/>
        </p:nvSpPr>
        <p:spPr>
          <a:xfrm>
            <a:off x="566928" y="3611879"/>
            <a:ext cx="370332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3758184"/>
            <a:ext cx="457200" cy="274320"/>
          </a:xfrm>
          <a:prstGeom prst="rect">
            <a:avLst/>
          </a:prstGeom>
          <a:noFill/>
        </p:spPr>
        <p:txBody>
          <a:bodyPr wrap="square" lIns="0" tIns="0" rIns="0" bIns="0" anchor="t">
            <a:spAutoFit/>
          </a:bodyPr>
          <a:lstStyle/>
          <a:p>
            <a:pPr algn="l"/>
            <a:r>
              <a:rPr sz="1500" b="1" i="0">
                <a:solidFill>
                  <a:srgbClr val="3DDC84"/>
                </a:solidFill>
                <a:latin typeface="Consolas"/>
              </a:rPr>
              <a:t>04</a:t>
            </a:r>
          </a:p>
        </p:txBody>
      </p:sp>
      <p:sp>
        <p:nvSpPr>
          <p:cNvPr id="21" name="TextBox 20"/>
          <p:cNvSpPr txBox="1"/>
          <p:nvPr/>
        </p:nvSpPr>
        <p:spPr>
          <a:xfrm>
            <a:off x="1115568" y="3739896"/>
            <a:ext cx="3291840" cy="237744"/>
          </a:xfrm>
          <a:prstGeom prst="rect">
            <a:avLst/>
          </a:prstGeom>
          <a:noFill/>
        </p:spPr>
        <p:txBody>
          <a:bodyPr wrap="square" lIns="0" tIns="0" rIns="0" bIns="0" anchor="t">
            <a:spAutoFit/>
          </a:bodyPr>
          <a:lstStyle/>
          <a:p>
            <a:pPr algn="l"/>
            <a:r>
              <a:rPr sz="1350" b="1" i="0">
                <a:solidFill>
                  <a:srgbClr val="E8F2EA"/>
                </a:solidFill>
                <a:latin typeface="Arial"/>
              </a:rPr>
              <a:t>Greeks engine</a:t>
            </a:r>
          </a:p>
        </p:txBody>
      </p:sp>
      <p:sp>
        <p:nvSpPr>
          <p:cNvPr id="22" name="TextBox 21"/>
          <p:cNvSpPr txBox="1"/>
          <p:nvPr/>
        </p:nvSpPr>
        <p:spPr>
          <a:xfrm>
            <a:off x="1115568" y="3986784"/>
            <a:ext cx="3291840" cy="201168"/>
          </a:xfrm>
          <a:prstGeom prst="rect">
            <a:avLst/>
          </a:prstGeom>
          <a:noFill/>
        </p:spPr>
        <p:txBody>
          <a:bodyPr wrap="square" lIns="0" tIns="0" rIns="0" bIns="0" anchor="t">
            <a:spAutoFit/>
          </a:bodyPr>
          <a:lstStyle/>
          <a:p>
            <a:pPr algn="l"/>
            <a:r>
              <a:rPr sz="950" b="0" i="0">
                <a:solidFill>
                  <a:srgbClr val="93A79A"/>
                </a:solidFill>
                <a:latin typeface="Arial"/>
              </a:rPr>
              <a:t>five Greeks for seven products</a:t>
            </a:r>
          </a:p>
        </p:txBody>
      </p:sp>
      <p:sp>
        <p:nvSpPr>
          <p:cNvPr id="23" name="Rectangle 22"/>
          <p:cNvSpPr/>
          <p:nvPr/>
        </p:nvSpPr>
        <p:spPr>
          <a:xfrm>
            <a:off x="566928" y="4270248"/>
            <a:ext cx="370332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6008" y="1783080"/>
            <a:ext cx="457200" cy="274320"/>
          </a:xfrm>
          <a:prstGeom prst="rect">
            <a:avLst/>
          </a:prstGeom>
          <a:noFill/>
        </p:spPr>
        <p:txBody>
          <a:bodyPr wrap="square" lIns="0" tIns="0" rIns="0" bIns="0" anchor="t">
            <a:spAutoFit/>
          </a:bodyPr>
          <a:lstStyle/>
          <a:p>
            <a:pPr algn="l"/>
            <a:r>
              <a:rPr sz="1500" b="1" i="0">
                <a:solidFill>
                  <a:srgbClr val="3DDC84"/>
                </a:solidFill>
                <a:latin typeface="Consolas"/>
              </a:rPr>
              <a:t>05</a:t>
            </a:r>
          </a:p>
        </p:txBody>
      </p:sp>
      <p:sp>
        <p:nvSpPr>
          <p:cNvPr id="25" name="TextBox 24"/>
          <p:cNvSpPr txBox="1"/>
          <p:nvPr/>
        </p:nvSpPr>
        <p:spPr>
          <a:xfrm>
            <a:off x="5184648" y="1764792"/>
            <a:ext cx="3291840" cy="237744"/>
          </a:xfrm>
          <a:prstGeom prst="rect">
            <a:avLst/>
          </a:prstGeom>
          <a:noFill/>
        </p:spPr>
        <p:txBody>
          <a:bodyPr wrap="square" lIns="0" tIns="0" rIns="0" bIns="0" anchor="t">
            <a:spAutoFit/>
          </a:bodyPr>
          <a:lstStyle/>
          <a:p>
            <a:pPr algn="l"/>
            <a:r>
              <a:rPr sz="1350" b="1" i="0">
                <a:solidFill>
                  <a:srgbClr val="E8F2EA"/>
                </a:solidFill>
                <a:latin typeface="Arial"/>
              </a:rPr>
              <a:t>Scenario analysis</a:t>
            </a:r>
          </a:p>
        </p:txBody>
      </p:sp>
      <p:sp>
        <p:nvSpPr>
          <p:cNvPr id="26" name="TextBox 25"/>
          <p:cNvSpPr txBox="1"/>
          <p:nvPr/>
        </p:nvSpPr>
        <p:spPr>
          <a:xfrm>
            <a:off x="5184648" y="2011680"/>
            <a:ext cx="3291840" cy="201168"/>
          </a:xfrm>
          <a:prstGeom prst="rect">
            <a:avLst/>
          </a:prstGeom>
          <a:noFill/>
        </p:spPr>
        <p:txBody>
          <a:bodyPr wrap="square" lIns="0" tIns="0" rIns="0" bIns="0" anchor="t">
            <a:spAutoFit/>
          </a:bodyPr>
          <a:lstStyle/>
          <a:p>
            <a:pPr algn="l"/>
            <a:r>
              <a:rPr sz="950" b="0" i="0">
                <a:solidFill>
                  <a:srgbClr val="93A79A"/>
                </a:solidFill>
                <a:latin typeface="Arial"/>
              </a:rPr>
              <a:t>full revaluation, and where Taylor fails</a:t>
            </a:r>
          </a:p>
        </p:txBody>
      </p:sp>
      <p:sp>
        <p:nvSpPr>
          <p:cNvPr id="27" name="Rectangle 26"/>
          <p:cNvSpPr/>
          <p:nvPr/>
        </p:nvSpPr>
        <p:spPr>
          <a:xfrm>
            <a:off x="4636008" y="2295144"/>
            <a:ext cx="370332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36008" y="2441448"/>
            <a:ext cx="457200" cy="274320"/>
          </a:xfrm>
          <a:prstGeom prst="rect">
            <a:avLst/>
          </a:prstGeom>
          <a:noFill/>
        </p:spPr>
        <p:txBody>
          <a:bodyPr wrap="square" lIns="0" tIns="0" rIns="0" bIns="0" anchor="t">
            <a:spAutoFit/>
          </a:bodyPr>
          <a:lstStyle/>
          <a:p>
            <a:pPr algn="l"/>
            <a:r>
              <a:rPr sz="1500" b="1" i="0">
                <a:solidFill>
                  <a:srgbClr val="3DDC84"/>
                </a:solidFill>
                <a:latin typeface="Consolas"/>
              </a:rPr>
              <a:t>06</a:t>
            </a:r>
          </a:p>
        </p:txBody>
      </p:sp>
      <p:sp>
        <p:nvSpPr>
          <p:cNvPr id="29" name="TextBox 28"/>
          <p:cNvSpPr txBox="1"/>
          <p:nvPr/>
        </p:nvSpPr>
        <p:spPr>
          <a:xfrm>
            <a:off x="5184648" y="2423160"/>
            <a:ext cx="3291840" cy="237744"/>
          </a:xfrm>
          <a:prstGeom prst="rect">
            <a:avLst/>
          </a:prstGeom>
          <a:noFill/>
        </p:spPr>
        <p:txBody>
          <a:bodyPr wrap="square" lIns="0" tIns="0" rIns="0" bIns="0" anchor="t">
            <a:spAutoFit/>
          </a:bodyPr>
          <a:lstStyle/>
          <a:p>
            <a:pPr algn="l"/>
            <a:r>
              <a:rPr sz="1350" b="1" i="0">
                <a:solidFill>
                  <a:srgbClr val="E8F2EA"/>
                </a:solidFill>
                <a:latin typeface="Arial"/>
              </a:rPr>
              <a:t>Model validation</a:t>
            </a:r>
          </a:p>
        </p:txBody>
      </p:sp>
      <p:sp>
        <p:nvSpPr>
          <p:cNvPr id="30" name="TextBox 29"/>
          <p:cNvSpPr txBox="1"/>
          <p:nvPr/>
        </p:nvSpPr>
        <p:spPr>
          <a:xfrm>
            <a:off x="5184648" y="2670048"/>
            <a:ext cx="3291840" cy="201168"/>
          </a:xfrm>
          <a:prstGeom prst="rect">
            <a:avLst/>
          </a:prstGeom>
          <a:noFill/>
        </p:spPr>
        <p:txBody>
          <a:bodyPr wrap="square" lIns="0" tIns="0" rIns="0" bIns="0" anchor="t">
            <a:spAutoFit/>
          </a:bodyPr>
          <a:lstStyle/>
          <a:p>
            <a:pPr algn="l"/>
            <a:r>
              <a:rPr sz="950" b="0" i="0">
                <a:solidFill>
                  <a:srgbClr val="93A79A"/>
                </a:solidFill>
                <a:latin typeface="Arial"/>
              </a:rPr>
              <a:t>35 checks plus an independent audit</a:t>
            </a:r>
          </a:p>
        </p:txBody>
      </p:sp>
      <p:sp>
        <p:nvSpPr>
          <p:cNvPr id="31" name="Rectangle 30"/>
          <p:cNvSpPr/>
          <p:nvPr/>
        </p:nvSpPr>
        <p:spPr>
          <a:xfrm>
            <a:off x="4636008" y="2953512"/>
            <a:ext cx="370332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36008" y="3099815"/>
            <a:ext cx="457200" cy="274320"/>
          </a:xfrm>
          <a:prstGeom prst="rect">
            <a:avLst/>
          </a:prstGeom>
          <a:noFill/>
        </p:spPr>
        <p:txBody>
          <a:bodyPr wrap="square" lIns="0" tIns="0" rIns="0" bIns="0" anchor="t">
            <a:spAutoFit/>
          </a:bodyPr>
          <a:lstStyle/>
          <a:p>
            <a:pPr algn="l"/>
            <a:r>
              <a:rPr sz="1500" b="1" i="0">
                <a:solidFill>
                  <a:srgbClr val="3DDC84"/>
                </a:solidFill>
                <a:latin typeface="Consolas"/>
              </a:rPr>
              <a:t>07</a:t>
            </a:r>
          </a:p>
        </p:txBody>
      </p:sp>
      <p:sp>
        <p:nvSpPr>
          <p:cNvPr id="33" name="TextBox 32"/>
          <p:cNvSpPr txBox="1"/>
          <p:nvPr/>
        </p:nvSpPr>
        <p:spPr>
          <a:xfrm>
            <a:off x="5184648" y="3081527"/>
            <a:ext cx="3291840" cy="237744"/>
          </a:xfrm>
          <a:prstGeom prst="rect">
            <a:avLst/>
          </a:prstGeom>
          <a:noFill/>
        </p:spPr>
        <p:txBody>
          <a:bodyPr wrap="square" lIns="0" tIns="0" rIns="0" bIns="0" anchor="t">
            <a:spAutoFit/>
          </a:bodyPr>
          <a:lstStyle/>
          <a:p>
            <a:pPr algn="l"/>
            <a:r>
              <a:rPr sz="1350" b="1" i="0">
                <a:solidFill>
                  <a:srgbClr val="E8F2EA"/>
                </a:solidFill>
                <a:latin typeface="Arial"/>
              </a:rPr>
              <a:t>Live dashboard demo</a:t>
            </a:r>
          </a:p>
        </p:txBody>
      </p:sp>
      <p:sp>
        <p:nvSpPr>
          <p:cNvPr id="34" name="TextBox 33"/>
          <p:cNvSpPr txBox="1"/>
          <p:nvPr/>
        </p:nvSpPr>
        <p:spPr>
          <a:xfrm>
            <a:off x="5184648" y="3328415"/>
            <a:ext cx="3291840" cy="201168"/>
          </a:xfrm>
          <a:prstGeom prst="rect">
            <a:avLst/>
          </a:prstGeom>
          <a:noFill/>
        </p:spPr>
        <p:txBody>
          <a:bodyPr wrap="square" lIns="0" tIns="0" rIns="0" bIns="0" anchor="t">
            <a:spAutoFit/>
          </a:bodyPr>
          <a:lstStyle/>
          <a:p>
            <a:pPr algn="l"/>
            <a:r>
              <a:rPr sz="950" b="0" i="0">
                <a:solidFill>
                  <a:srgbClr val="93A79A"/>
                </a:solidFill>
                <a:latin typeface="Arial"/>
              </a:rPr>
              <a:t>nine pages, one sidebar</a:t>
            </a:r>
          </a:p>
        </p:txBody>
      </p:sp>
      <p:sp>
        <p:nvSpPr>
          <p:cNvPr id="35" name="Rectangle 34"/>
          <p:cNvSpPr/>
          <p:nvPr/>
        </p:nvSpPr>
        <p:spPr>
          <a:xfrm>
            <a:off x="4636008" y="3611879"/>
            <a:ext cx="370332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36008" y="3758184"/>
            <a:ext cx="457200" cy="274320"/>
          </a:xfrm>
          <a:prstGeom prst="rect">
            <a:avLst/>
          </a:prstGeom>
          <a:noFill/>
        </p:spPr>
        <p:txBody>
          <a:bodyPr wrap="square" lIns="0" tIns="0" rIns="0" bIns="0" anchor="t">
            <a:spAutoFit/>
          </a:bodyPr>
          <a:lstStyle/>
          <a:p>
            <a:pPr algn="l"/>
            <a:r>
              <a:rPr sz="1500" b="1" i="0">
                <a:solidFill>
                  <a:srgbClr val="3DDC84"/>
                </a:solidFill>
                <a:latin typeface="Consolas"/>
              </a:rPr>
              <a:t>08</a:t>
            </a:r>
          </a:p>
        </p:txBody>
      </p:sp>
      <p:sp>
        <p:nvSpPr>
          <p:cNvPr id="37" name="TextBox 36"/>
          <p:cNvSpPr txBox="1"/>
          <p:nvPr/>
        </p:nvSpPr>
        <p:spPr>
          <a:xfrm>
            <a:off x="5184648" y="3739896"/>
            <a:ext cx="3291840" cy="237744"/>
          </a:xfrm>
          <a:prstGeom prst="rect">
            <a:avLst/>
          </a:prstGeom>
          <a:noFill/>
        </p:spPr>
        <p:txBody>
          <a:bodyPr wrap="square" lIns="0" tIns="0" rIns="0" bIns="0" anchor="t">
            <a:spAutoFit/>
          </a:bodyPr>
          <a:lstStyle/>
          <a:p>
            <a:pPr algn="l"/>
            <a:r>
              <a:rPr sz="1350" b="1" i="0">
                <a:solidFill>
                  <a:srgbClr val="E8F2EA"/>
                </a:solidFill>
                <a:latin typeface="Arial"/>
              </a:rPr>
              <a:t>Findings &amp; next steps</a:t>
            </a:r>
          </a:p>
        </p:txBody>
      </p:sp>
      <p:sp>
        <p:nvSpPr>
          <p:cNvPr id="38" name="TextBox 37"/>
          <p:cNvSpPr txBox="1"/>
          <p:nvPr/>
        </p:nvSpPr>
        <p:spPr>
          <a:xfrm>
            <a:off x="5184648" y="3986784"/>
            <a:ext cx="3291840" cy="201168"/>
          </a:xfrm>
          <a:prstGeom prst="rect">
            <a:avLst/>
          </a:prstGeom>
          <a:noFill/>
        </p:spPr>
        <p:txBody>
          <a:bodyPr wrap="square" lIns="0" tIns="0" rIns="0" bIns="0" anchor="t">
            <a:spAutoFit/>
          </a:bodyPr>
          <a:lstStyle/>
          <a:p>
            <a:pPr algn="l"/>
            <a:r>
              <a:rPr sz="950" b="0" i="0">
                <a:solidFill>
                  <a:srgbClr val="93A79A"/>
                </a:solidFill>
                <a:latin typeface="Arial"/>
              </a:rPr>
              <a:t>results, limits, roadmap</a:t>
            </a:r>
          </a:p>
        </p:txBody>
      </p:sp>
      <p:sp>
        <p:nvSpPr>
          <p:cNvPr id="39" name="Rectangle 38"/>
          <p:cNvSpPr/>
          <p:nvPr/>
        </p:nvSpPr>
        <p:spPr>
          <a:xfrm>
            <a:off x="4636008" y="4270248"/>
            <a:ext cx="370332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66928" y="4498848"/>
            <a:ext cx="5486400" cy="201168"/>
          </a:xfrm>
          <a:prstGeom prst="rect">
            <a:avLst/>
          </a:prstGeom>
          <a:noFill/>
        </p:spPr>
        <p:txBody>
          <a:bodyPr wrap="square" lIns="0" tIns="0" rIns="0" bIns="0" anchor="t">
            <a:spAutoFit/>
          </a:bodyPr>
          <a:lstStyle/>
          <a:p>
            <a:pPr algn="l"/>
            <a:r>
              <a:rPr sz="900" b="0" i="0">
                <a:solidFill>
                  <a:srgbClr val="93A79A"/>
                </a:solidFill>
                <a:latin typeface="Consolas"/>
              </a:rPr>
              <a:t>~15 min talk  +  5 min demo  +  Q&amp;A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03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01 / OBJECTIVE</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Build what a derivatives</a:t>
            </a:r>
          </a:p>
          <a:p>
            <a:pPr algn="l">
              <a:lnSpc>
                <a:spcPct val="92000"/>
              </a:lnSpc>
            </a:pPr>
            <a:r>
              <a:rPr sz="2500" b="1" i="0">
                <a:solidFill>
                  <a:srgbClr val="E8F2EA"/>
                </a:solidFill>
                <a:latin typeface="Arial"/>
              </a:rPr>
              <a:t>quant desk actually uses.</a:t>
            </a:r>
          </a:p>
        </p:txBody>
      </p:sp>
      <p:sp>
        <p:nvSpPr>
          <p:cNvPr id="8" name="Rectangle 7"/>
          <p:cNvSpPr/>
          <p:nvPr/>
        </p:nvSpPr>
        <p:spPr>
          <a:xfrm>
            <a:off x="566928" y="1783080"/>
            <a:ext cx="1517904" cy="1874519"/>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874519"/>
            <a:ext cx="1280160" cy="164592"/>
          </a:xfrm>
          <a:prstGeom prst="rect">
            <a:avLst/>
          </a:prstGeom>
          <a:noFill/>
        </p:spPr>
        <p:txBody>
          <a:bodyPr wrap="square" lIns="0" tIns="0" rIns="0" bIns="0" anchor="t">
            <a:spAutoFit/>
          </a:bodyPr>
          <a:lstStyle/>
          <a:p>
            <a:pPr algn="l"/>
            <a:r>
              <a:rPr sz="800" b="1" i="0">
                <a:solidFill>
                  <a:srgbClr val="3DDC84"/>
                </a:solidFill>
                <a:latin typeface="Consolas"/>
              </a:rPr>
              <a:t>PRICE</a:t>
            </a:r>
          </a:p>
        </p:txBody>
      </p:sp>
      <p:sp>
        <p:nvSpPr>
          <p:cNvPr id="10" name="TextBox 9"/>
          <p:cNvSpPr txBox="1"/>
          <p:nvPr/>
        </p:nvSpPr>
        <p:spPr>
          <a:xfrm>
            <a:off x="685800" y="2066543"/>
            <a:ext cx="1280160" cy="310896"/>
          </a:xfrm>
          <a:prstGeom prst="rect">
            <a:avLst/>
          </a:prstGeom>
          <a:noFill/>
        </p:spPr>
        <p:txBody>
          <a:bodyPr wrap="square" lIns="0" tIns="0" rIns="0" bIns="0" anchor="t">
            <a:spAutoFit/>
          </a:bodyPr>
          <a:lstStyle/>
          <a:p>
            <a:pPr algn="l"/>
            <a:r>
              <a:rPr sz="1500" b="1" i="0">
                <a:solidFill>
                  <a:srgbClr val="E8F2EA"/>
                </a:solidFill>
                <a:latin typeface="Consolas"/>
              </a:rPr>
              <a:t>7 option types</a:t>
            </a:r>
          </a:p>
        </p:txBody>
      </p:sp>
      <p:sp>
        <p:nvSpPr>
          <p:cNvPr id="11" name="TextBox 10"/>
          <p:cNvSpPr txBox="1"/>
          <p:nvPr/>
        </p:nvSpPr>
        <p:spPr>
          <a:xfrm>
            <a:off x="685800" y="2564893"/>
            <a:ext cx="1280160" cy="1188719"/>
          </a:xfrm>
          <a:prstGeom prst="rect">
            <a:avLst/>
          </a:prstGeom>
          <a:noFill/>
        </p:spPr>
        <p:txBody>
          <a:bodyPr wrap="square" lIns="0" tIns="0" rIns="0" bIns="0" anchor="t">
            <a:spAutoFit/>
          </a:bodyPr>
          <a:lstStyle/>
          <a:p>
            <a:pPr algn="l"/>
            <a:r>
              <a:rPr sz="900" b="0" i="0" dirty="0">
                <a:solidFill>
                  <a:srgbClr val="93A79A"/>
                </a:solidFill>
                <a:latin typeface="Arial"/>
              </a:rPr>
              <a:t>European, American, futures, Asian, lookback, basket, barrier on 7 engines</a:t>
            </a:r>
          </a:p>
        </p:txBody>
      </p:sp>
      <p:sp>
        <p:nvSpPr>
          <p:cNvPr id="12" name="Rectangle 11"/>
          <p:cNvSpPr/>
          <p:nvPr/>
        </p:nvSpPr>
        <p:spPr>
          <a:xfrm>
            <a:off x="2194560" y="1783080"/>
            <a:ext cx="1517904" cy="1874519"/>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3432" y="1874519"/>
            <a:ext cx="1280160" cy="164592"/>
          </a:xfrm>
          <a:prstGeom prst="rect">
            <a:avLst/>
          </a:prstGeom>
          <a:noFill/>
        </p:spPr>
        <p:txBody>
          <a:bodyPr wrap="square" lIns="0" tIns="0" rIns="0" bIns="0" anchor="t">
            <a:spAutoFit/>
          </a:bodyPr>
          <a:lstStyle/>
          <a:p>
            <a:pPr algn="l"/>
            <a:r>
              <a:rPr sz="800" b="1" i="0">
                <a:solidFill>
                  <a:srgbClr val="3DDC84"/>
                </a:solidFill>
                <a:latin typeface="Consolas"/>
              </a:rPr>
              <a:t>MEASURE</a:t>
            </a:r>
          </a:p>
        </p:txBody>
      </p:sp>
      <p:sp>
        <p:nvSpPr>
          <p:cNvPr id="14" name="TextBox 13"/>
          <p:cNvSpPr txBox="1"/>
          <p:nvPr/>
        </p:nvSpPr>
        <p:spPr>
          <a:xfrm>
            <a:off x="2313432" y="2066543"/>
            <a:ext cx="1280160" cy="310896"/>
          </a:xfrm>
          <a:prstGeom prst="rect">
            <a:avLst/>
          </a:prstGeom>
          <a:noFill/>
        </p:spPr>
        <p:txBody>
          <a:bodyPr wrap="square" lIns="0" tIns="0" rIns="0" bIns="0" anchor="t">
            <a:spAutoFit/>
          </a:bodyPr>
          <a:lstStyle/>
          <a:p>
            <a:pPr algn="l"/>
            <a:r>
              <a:rPr sz="1500" b="1" i="0">
                <a:solidFill>
                  <a:srgbClr val="E8F2EA"/>
                </a:solidFill>
                <a:latin typeface="Consolas"/>
              </a:rPr>
              <a:t>Δ Γ ν Θ ρ</a:t>
            </a:r>
          </a:p>
        </p:txBody>
      </p:sp>
      <p:sp>
        <p:nvSpPr>
          <p:cNvPr id="15" name="TextBox 14"/>
          <p:cNvSpPr txBox="1"/>
          <p:nvPr/>
        </p:nvSpPr>
        <p:spPr>
          <a:xfrm>
            <a:off x="2313432" y="2366772"/>
            <a:ext cx="1280160" cy="1188719"/>
          </a:xfrm>
          <a:prstGeom prst="rect">
            <a:avLst/>
          </a:prstGeom>
          <a:noFill/>
        </p:spPr>
        <p:txBody>
          <a:bodyPr wrap="square" lIns="0" tIns="0" rIns="0" bIns="0" anchor="t">
            <a:spAutoFit/>
          </a:bodyPr>
          <a:lstStyle/>
          <a:p>
            <a:pPr algn="l"/>
            <a:r>
              <a:rPr sz="900" b="0" i="0">
                <a:solidFill>
                  <a:srgbClr val="93A79A"/>
                </a:solidFill>
                <a:latin typeface="Arial"/>
              </a:rPr>
              <a:t>for every product, in desk units, plus vanna, volga and charm</a:t>
            </a:r>
          </a:p>
        </p:txBody>
      </p:sp>
      <p:sp>
        <p:nvSpPr>
          <p:cNvPr id="16" name="Rectangle 15"/>
          <p:cNvSpPr/>
          <p:nvPr/>
        </p:nvSpPr>
        <p:spPr>
          <a:xfrm>
            <a:off x="3822191" y="1783080"/>
            <a:ext cx="1517904" cy="1874519"/>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874519"/>
            <a:ext cx="1280160" cy="164592"/>
          </a:xfrm>
          <a:prstGeom prst="rect">
            <a:avLst/>
          </a:prstGeom>
          <a:noFill/>
        </p:spPr>
        <p:txBody>
          <a:bodyPr wrap="square" lIns="0" tIns="0" rIns="0" bIns="0" anchor="t">
            <a:spAutoFit/>
          </a:bodyPr>
          <a:lstStyle/>
          <a:p>
            <a:pPr algn="l"/>
            <a:r>
              <a:rPr sz="800" b="1" i="0">
                <a:solidFill>
                  <a:srgbClr val="3DDC84"/>
                </a:solidFill>
                <a:latin typeface="Consolas"/>
              </a:rPr>
              <a:t>STRESS</a:t>
            </a:r>
          </a:p>
        </p:txBody>
      </p:sp>
      <p:sp>
        <p:nvSpPr>
          <p:cNvPr id="18" name="TextBox 17"/>
          <p:cNvSpPr txBox="1"/>
          <p:nvPr/>
        </p:nvSpPr>
        <p:spPr>
          <a:xfrm>
            <a:off x="3941063" y="2066543"/>
            <a:ext cx="1280160" cy="310896"/>
          </a:xfrm>
          <a:prstGeom prst="rect">
            <a:avLst/>
          </a:prstGeom>
          <a:noFill/>
        </p:spPr>
        <p:txBody>
          <a:bodyPr wrap="square" lIns="0" tIns="0" rIns="0" bIns="0" anchor="t">
            <a:spAutoFit/>
          </a:bodyPr>
          <a:lstStyle/>
          <a:p>
            <a:pPr algn="l"/>
            <a:r>
              <a:rPr sz="1500" b="1" i="0">
                <a:solidFill>
                  <a:srgbClr val="E8F2EA"/>
                </a:solidFill>
                <a:latin typeface="Consolas"/>
              </a:rPr>
              <a:t>46 shocks</a:t>
            </a:r>
          </a:p>
        </p:txBody>
      </p:sp>
      <p:sp>
        <p:nvSpPr>
          <p:cNvPr id="19" name="TextBox 18"/>
          <p:cNvSpPr txBox="1"/>
          <p:nvPr/>
        </p:nvSpPr>
        <p:spPr>
          <a:xfrm>
            <a:off x="3941063" y="2366772"/>
            <a:ext cx="1280160" cy="1188719"/>
          </a:xfrm>
          <a:prstGeom prst="rect">
            <a:avLst/>
          </a:prstGeom>
          <a:noFill/>
        </p:spPr>
        <p:txBody>
          <a:bodyPr wrap="square" lIns="0" tIns="0" rIns="0" bIns="0" anchor="t">
            <a:spAutoFit/>
          </a:bodyPr>
          <a:lstStyle/>
          <a:p>
            <a:pPr algn="l"/>
            <a:r>
              <a:rPr sz="900" b="0" i="0">
                <a:solidFill>
                  <a:srgbClr val="93A79A"/>
                </a:solidFill>
                <a:latin typeface="Arial"/>
              </a:rPr>
              <a:t>spot, vol, rate, time, barrier and correlation, all by full revaluation</a:t>
            </a:r>
          </a:p>
        </p:txBody>
      </p:sp>
      <p:sp>
        <p:nvSpPr>
          <p:cNvPr id="20" name="Rectangle 19"/>
          <p:cNvSpPr/>
          <p:nvPr/>
        </p:nvSpPr>
        <p:spPr>
          <a:xfrm>
            <a:off x="5449824" y="1783080"/>
            <a:ext cx="1517904" cy="1874519"/>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68696" y="1874519"/>
            <a:ext cx="1280160" cy="164592"/>
          </a:xfrm>
          <a:prstGeom prst="rect">
            <a:avLst/>
          </a:prstGeom>
          <a:noFill/>
        </p:spPr>
        <p:txBody>
          <a:bodyPr wrap="square" lIns="0" tIns="0" rIns="0" bIns="0" anchor="t">
            <a:spAutoFit/>
          </a:bodyPr>
          <a:lstStyle/>
          <a:p>
            <a:pPr algn="l"/>
            <a:r>
              <a:rPr sz="800" b="1" i="0">
                <a:solidFill>
                  <a:srgbClr val="3DDC84"/>
                </a:solidFill>
                <a:latin typeface="Consolas"/>
              </a:rPr>
              <a:t>PROVE</a:t>
            </a:r>
          </a:p>
        </p:txBody>
      </p:sp>
      <p:sp>
        <p:nvSpPr>
          <p:cNvPr id="22" name="TextBox 21"/>
          <p:cNvSpPr txBox="1"/>
          <p:nvPr/>
        </p:nvSpPr>
        <p:spPr>
          <a:xfrm>
            <a:off x="5568696" y="2066543"/>
            <a:ext cx="1280160" cy="310896"/>
          </a:xfrm>
          <a:prstGeom prst="rect">
            <a:avLst/>
          </a:prstGeom>
          <a:noFill/>
        </p:spPr>
        <p:txBody>
          <a:bodyPr wrap="square" lIns="0" tIns="0" rIns="0" bIns="0" anchor="t">
            <a:spAutoFit/>
          </a:bodyPr>
          <a:lstStyle/>
          <a:p>
            <a:pPr algn="l"/>
            <a:r>
              <a:rPr sz="1500" b="1" i="0">
                <a:solidFill>
                  <a:srgbClr val="E8F2EA"/>
                </a:solidFill>
                <a:latin typeface="Consolas"/>
              </a:rPr>
              <a:t>35 checks</a:t>
            </a:r>
          </a:p>
        </p:txBody>
      </p:sp>
      <p:sp>
        <p:nvSpPr>
          <p:cNvPr id="23" name="TextBox 22"/>
          <p:cNvSpPr txBox="1"/>
          <p:nvPr/>
        </p:nvSpPr>
        <p:spPr>
          <a:xfrm>
            <a:off x="5568696" y="2366772"/>
            <a:ext cx="1280160" cy="1188719"/>
          </a:xfrm>
          <a:prstGeom prst="rect">
            <a:avLst/>
          </a:prstGeom>
          <a:noFill/>
        </p:spPr>
        <p:txBody>
          <a:bodyPr wrap="square" lIns="0" tIns="0" rIns="0" bIns="0" anchor="t">
            <a:spAutoFit/>
          </a:bodyPr>
          <a:lstStyle/>
          <a:p>
            <a:pPr algn="l"/>
            <a:r>
              <a:rPr sz="900" b="0" i="0">
                <a:solidFill>
                  <a:srgbClr val="93A79A"/>
                </a:solidFill>
                <a:latin typeface="Arial"/>
              </a:rPr>
              <a:t>automated harness across 11 model families, 365 unit tests passing</a:t>
            </a:r>
          </a:p>
        </p:txBody>
      </p:sp>
      <p:sp>
        <p:nvSpPr>
          <p:cNvPr id="24" name="Rectangle 23"/>
          <p:cNvSpPr/>
          <p:nvPr/>
        </p:nvSpPr>
        <p:spPr>
          <a:xfrm>
            <a:off x="7077456" y="1783080"/>
            <a:ext cx="1517904" cy="1874519"/>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96328" y="1874519"/>
            <a:ext cx="1280160" cy="164592"/>
          </a:xfrm>
          <a:prstGeom prst="rect">
            <a:avLst/>
          </a:prstGeom>
          <a:noFill/>
        </p:spPr>
        <p:txBody>
          <a:bodyPr wrap="square" lIns="0" tIns="0" rIns="0" bIns="0" anchor="t">
            <a:spAutoFit/>
          </a:bodyPr>
          <a:lstStyle/>
          <a:p>
            <a:pPr algn="l"/>
            <a:r>
              <a:rPr sz="800" b="1" i="0">
                <a:solidFill>
                  <a:srgbClr val="3DDC84"/>
                </a:solidFill>
                <a:latin typeface="Consolas"/>
              </a:rPr>
              <a:t>SHOW</a:t>
            </a:r>
          </a:p>
        </p:txBody>
      </p:sp>
      <p:sp>
        <p:nvSpPr>
          <p:cNvPr id="26" name="TextBox 25"/>
          <p:cNvSpPr txBox="1"/>
          <p:nvPr/>
        </p:nvSpPr>
        <p:spPr>
          <a:xfrm>
            <a:off x="7196328" y="2066543"/>
            <a:ext cx="1280160" cy="310896"/>
          </a:xfrm>
          <a:prstGeom prst="rect">
            <a:avLst/>
          </a:prstGeom>
          <a:noFill/>
        </p:spPr>
        <p:txBody>
          <a:bodyPr wrap="square" lIns="0" tIns="0" rIns="0" bIns="0" anchor="t">
            <a:spAutoFit/>
          </a:bodyPr>
          <a:lstStyle/>
          <a:p>
            <a:pPr algn="l"/>
            <a:r>
              <a:rPr sz="1500" b="1" i="0">
                <a:solidFill>
                  <a:srgbClr val="E8F2EA"/>
                </a:solidFill>
                <a:latin typeface="Consolas"/>
              </a:rPr>
              <a:t>9-page app</a:t>
            </a:r>
          </a:p>
        </p:txBody>
      </p:sp>
      <p:sp>
        <p:nvSpPr>
          <p:cNvPr id="27" name="TextBox 26"/>
          <p:cNvSpPr txBox="1"/>
          <p:nvPr/>
        </p:nvSpPr>
        <p:spPr>
          <a:xfrm>
            <a:off x="7196328" y="2366772"/>
            <a:ext cx="1280160" cy="1188719"/>
          </a:xfrm>
          <a:prstGeom prst="rect">
            <a:avLst/>
          </a:prstGeom>
          <a:noFill/>
        </p:spPr>
        <p:txBody>
          <a:bodyPr wrap="square" lIns="0" tIns="0" rIns="0" bIns="0" anchor="t">
            <a:spAutoFit/>
          </a:bodyPr>
          <a:lstStyle/>
          <a:p>
            <a:pPr algn="l"/>
            <a:r>
              <a:rPr sz="900" b="0" i="0">
                <a:solidFill>
                  <a:srgbClr val="93A79A"/>
                </a:solidFill>
                <a:latin typeface="Arial"/>
              </a:rPr>
              <a:t>Next.js front end on a FastAPI layer; original Streamlit dashboard kept</a:t>
            </a:r>
          </a:p>
        </p:txBody>
      </p:sp>
      <p:sp>
        <p:nvSpPr>
          <p:cNvPr id="28" name="TextBox 27"/>
          <p:cNvSpPr txBox="1"/>
          <p:nvPr/>
        </p:nvSpPr>
        <p:spPr>
          <a:xfrm>
            <a:off x="566928" y="3886200"/>
            <a:ext cx="8046720" cy="228600"/>
          </a:xfrm>
          <a:prstGeom prst="rect">
            <a:avLst/>
          </a:prstGeom>
          <a:noFill/>
        </p:spPr>
        <p:txBody>
          <a:bodyPr wrap="square" lIns="0" tIns="0" rIns="0" bIns="0" anchor="t">
            <a:spAutoFit/>
          </a:bodyPr>
          <a:lstStyle/>
          <a:p>
            <a:pPr algn="l"/>
            <a:r>
              <a:rPr sz="900" b="1" i="0">
                <a:solidFill>
                  <a:srgbClr val="3DDC84"/>
                </a:solidFill>
                <a:latin typeface="Consolas"/>
              </a:rPr>
              <a:t>Deliverables  </a:t>
            </a:r>
            <a:r>
              <a:rPr sz="1000" b="0" i="0">
                <a:solidFill>
                  <a:srgbClr val="93A79A"/>
                </a:solidFill>
                <a:latin typeface="Arial"/>
              </a:rPr>
              <a:t>documented Python package  ·  unit tests  ·  web dashboard  ·  validation harness  ·  this deck</a:t>
            </a:r>
          </a:p>
        </p:txBody>
      </p:sp>
      <p:sp>
        <p:nvSpPr>
          <p:cNvPr id="29" name="TextBox 28"/>
          <p:cNvSpPr txBox="1"/>
          <p:nvPr/>
        </p:nvSpPr>
        <p:spPr>
          <a:xfrm>
            <a:off x="566928" y="4224528"/>
            <a:ext cx="8046720" cy="228600"/>
          </a:xfrm>
          <a:prstGeom prst="rect">
            <a:avLst/>
          </a:prstGeom>
          <a:noFill/>
        </p:spPr>
        <p:txBody>
          <a:bodyPr wrap="square" lIns="0" tIns="0" rIns="0" bIns="0" anchor="t">
            <a:spAutoFit/>
          </a:bodyPr>
          <a:lstStyle/>
          <a:p>
            <a:pPr algn="l"/>
            <a:r>
              <a:rPr sz="1000" b="0" i="0">
                <a:solidFill>
                  <a:srgbClr val="93A79A"/>
                </a:solidFill>
                <a:latin typeface="Arial"/>
              </a:rPr>
              <a:t>Who uses this: derivatives quants pricing a trade, model-validation teams checking it, and risk desks stressing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04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02 / MODEL_MAP</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One engine.</a:t>
            </a:r>
          </a:p>
          <a:p>
            <a:pPr algn="l">
              <a:lnSpc>
                <a:spcPct val="92000"/>
              </a:lnSpc>
            </a:pPr>
            <a:r>
              <a:rPr sz="2500" b="1" i="0">
                <a:solidFill>
                  <a:srgbClr val="E8F2EA"/>
                </a:solidFill>
                <a:latin typeface="Arial"/>
              </a:rPr>
              <a:t>Seven products.</a:t>
            </a:r>
          </a:p>
        </p:txBody>
      </p:sp>
      <p:sp>
        <p:nvSpPr>
          <p:cNvPr id="8" name="TextBox 7"/>
          <p:cNvSpPr txBox="1"/>
          <p:nvPr/>
        </p:nvSpPr>
        <p:spPr>
          <a:xfrm>
            <a:off x="566928" y="1700784"/>
            <a:ext cx="1554480" cy="237744"/>
          </a:xfrm>
          <a:prstGeom prst="rect">
            <a:avLst/>
          </a:prstGeom>
          <a:noFill/>
        </p:spPr>
        <p:txBody>
          <a:bodyPr wrap="square" lIns="0" tIns="0" rIns="0" bIns="0" anchor="ctr">
            <a:spAutoFit/>
          </a:bodyPr>
          <a:lstStyle/>
          <a:p>
            <a:pPr algn="l"/>
            <a:r>
              <a:rPr sz="1150" b="1" i="0">
                <a:solidFill>
                  <a:srgbClr val="E8F2EA"/>
                </a:solidFill>
                <a:latin typeface="Consolas"/>
              </a:rPr>
              <a:t>EUROPEAN</a:t>
            </a:r>
          </a:p>
        </p:txBody>
      </p:sp>
      <p:sp>
        <p:nvSpPr>
          <p:cNvPr id="9" name="Rectangle 8"/>
          <p:cNvSpPr/>
          <p:nvPr/>
        </p:nvSpPr>
        <p:spPr>
          <a:xfrm>
            <a:off x="2194560" y="1815084"/>
            <a:ext cx="13716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566160" y="1783080"/>
            <a:ext cx="73152" cy="73152"/>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94760" y="1700784"/>
            <a:ext cx="2377440" cy="237744"/>
          </a:xfrm>
          <a:prstGeom prst="rect">
            <a:avLst/>
          </a:prstGeom>
          <a:noFill/>
        </p:spPr>
        <p:txBody>
          <a:bodyPr wrap="square" lIns="0" tIns="0" rIns="0" bIns="0" anchor="ctr">
            <a:spAutoFit/>
          </a:bodyPr>
          <a:lstStyle/>
          <a:p>
            <a:pPr algn="l"/>
            <a:r>
              <a:rPr sz="1150" b="1" i="0">
                <a:solidFill>
                  <a:srgbClr val="3DDC84"/>
                </a:solidFill>
                <a:latin typeface="Consolas"/>
              </a:rPr>
              <a:t>BSM</a:t>
            </a:r>
          </a:p>
        </p:txBody>
      </p:sp>
      <p:sp>
        <p:nvSpPr>
          <p:cNvPr id="12" name="TextBox 11"/>
          <p:cNvSpPr txBox="1"/>
          <p:nvPr/>
        </p:nvSpPr>
        <p:spPr>
          <a:xfrm>
            <a:off x="6172200" y="1700784"/>
            <a:ext cx="2743200" cy="237744"/>
          </a:xfrm>
          <a:prstGeom prst="rect">
            <a:avLst/>
          </a:prstGeom>
          <a:noFill/>
        </p:spPr>
        <p:txBody>
          <a:bodyPr wrap="square" lIns="0" tIns="0" rIns="0" bIns="0" anchor="ctr">
            <a:spAutoFit/>
          </a:bodyPr>
          <a:lstStyle/>
          <a:p>
            <a:pPr algn="l"/>
            <a:r>
              <a:rPr sz="950" b="0" i="0">
                <a:solidFill>
                  <a:srgbClr val="93A79A"/>
                </a:solidFill>
                <a:latin typeface="Arial"/>
              </a:rPr>
              <a:t>closed form · price + all 5 Greeks</a:t>
            </a:r>
          </a:p>
        </p:txBody>
      </p:sp>
      <p:sp>
        <p:nvSpPr>
          <p:cNvPr id="13" name="TextBox 12"/>
          <p:cNvSpPr txBox="1"/>
          <p:nvPr/>
        </p:nvSpPr>
        <p:spPr>
          <a:xfrm>
            <a:off x="566928" y="2066544"/>
            <a:ext cx="1554480" cy="237744"/>
          </a:xfrm>
          <a:prstGeom prst="rect">
            <a:avLst/>
          </a:prstGeom>
          <a:noFill/>
        </p:spPr>
        <p:txBody>
          <a:bodyPr wrap="square" lIns="0" tIns="0" rIns="0" bIns="0" anchor="ctr">
            <a:spAutoFit/>
          </a:bodyPr>
          <a:lstStyle/>
          <a:p>
            <a:pPr algn="l"/>
            <a:r>
              <a:rPr sz="1150" b="1" i="0">
                <a:solidFill>
                  <a:srgbClr val="E8F2EA"/>
                </a:solidFill>
                <a:latin typeface="Consolas"/>
              </a:rPr>
              <a:t>AMERICAN</a:t>
            </a:r>
          </a:p>
        </p:txBody>
      </p:sp>
      <p:sp>
        <p:nvSpPr>
          <p:cNvPr id="14" name="Rectangle 13"/>
          <p:cNvSpPr/>
          <p:nvPr/>
        </p:nvSpPr>
        <p:spPr>
          <a:xfrm>
            <a:off x="2194560" y="2180844"/>
            <a:ext cx="13716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566160" y="2148840"/>
            <a:ext cx="73152" cy="73152"/>
          </a:xfrm>
          <a:prstGeom prst="ellipse">
            <a:avLst/>
          </a:prstGeom>
          <a:solidFill>
            <a:srgbClr val="5BC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94760" y="2066544"/>
            <a:ext cx="2377440" cy="237744"/>
          </a:xfrm>
          <a:prstGeom prst="rect">
            <a:avLst/>
          </a:prstGeom>
          <a:noFill/>
        </p:spPr>
        <p:txBody>
          <a:bodyPr wrap="square" lIns="0" tIns="0" rIns="0" bIns="0" anchor="ctr">
            <a:spAutoFit/>
          </a:bodyPr>
          <a:lstStyle/>
          <a:p>
            <a:pPr algn="l"/>
            <a:r>
              <a:rPr sz="1150" b="1" i="0">
                <a:solidFill>
                  <a:srgbClr val="5BC8F5"/>
                </a:solidFill>
                <a:latin typeface="Consolas"/>
              </a:rPr>
              <a:t>CRR / LR TREE  +  LSMC</a:t>
            </a:r>
          </a:p>
        </p:txBody>
      </p:sp>
      <p:sp>
        <p:nvSpPr>
          <p:cNvPr id="17" name="TextBox 16"/>
          <p:cNvSpPr txBox="1"/>
          <p:nvPr/>
        </p:nvSpPr>
        <p:spPr>
          <a:xfrm>
            <a:off x="6172200" y="2066544"/>
            <a:ext cx="2743200" cy="237744"/>
          </a:xfrm>
          <a:prstGeom prst="rect">
            <a:avLst/>
          </a:prstGeom>
          <a:noFill/>
        </p:spPr>
        <p:txBody>
          <a:bodyPr wrap="square" lIns="0" tIns="0" rIns="0" bIns="0" anchor="ctr">
            <a:spAutoFit/>
          </a:bodyPr>
          <a:lstStyle/>
          <a:p>
            <a:pPr algn="l"/>
            <a:r>
              <a:rPr sz="950" b="0" i="0">
                <a:solidFill>
                  <a:srgbClr val="93A79A"/>
                </a:solidFill>
                <a:latin typeface="Arial"/>
              </a:rPr>
              <a:t>early exercise · tree or fitted rule</a:t>
            </a:r>
          </a:p>
        </p:txBody>
      </p:sp>
      <p:sp>
        <p:nvSpPr>
          <p:cNvPr id="18" name="TextBox 17"/>
          <p:cNvSpPr txBox="1"/>
          <p:nvPr/>
        </p:nvSpPr>
        <p:spPr>
          <a:xfrm>
            <a:off x="566928" y="2432304"/>
            <a:ext cx="1554480" cy="237744"/>
          </a:xfrm>
          <a:prstGeom prst="rect">
            <a:avLst/>
          </a:prstGeom>
          <a:noFill/>
        </p:spPr>
        <p:txBody>
          <a:bodyPr wrap="square" lIns="0" tIns="0" rIns="0" bIns="0" anchor="ctr">
            <a:spAutoFit/>
          </a:bodyPr>
          <a:lstStyle/>
          <a:p>
            <a:pPr algn="l"/>
            <a:r>
              <a:rPr sz="1150" b="1" i="0">
                <a:solidFill>
                  <a:srgbClr val="E8F2EA"/>
                </a:solidFill>
                <a:latin typeface="Consolas"/>
              </a:rPr>
              <a:t>FUTURES OPT</a:t>
            </a:r>
          </a:p>
        </p:txBody>
      </p:sp>
      <p:sp>
        <p:nvSpPr>
          <p:cNvPr id="19" name="Rectangle 18"/>
          <p:cNvSpPr/>
          <p:nvPr/>
        </p:nvSpPr>
        <p:spPr>
          <a:xfrm>
            <a:off x="2194560" y="2546604"/>
            <a:ext cx="13716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566160" y="2514600"/>
            <a:ext cx="73152" cy="73152"/>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94760" y="2432304"/>
            <a:ext cx="2377440" cy="237744"/>
          </a:xfrm>
          <a:prstGeom prst="rect">
            <a:avLst/>
          </a:prstGeom>
          <a:noFill/>
        </p:spPr>
        <p:txBody>
          <a:bodyPr wrap="square" lIns="0" tIns="0" rIns="0" bIns="0" anchor="ctr">
            <a:spAutoFit/>
          </a:bodyPr>
          <a:lstStyle/>
          <a:p>
            <a:pPr algn="l"/>
            <a:r>
              <a:rPr sz="1150" b="1" i="0">
                <a:solidFill>
                  <a:srgbClr val="3DDC84"/>
                </a:solidFill>
                <a:latin typeface="Consolas"/>
              </a:rPr>
              <a:t>BLACK-76</a:t>
            </a:r>
          </a:p>
        </p:txBody>
      </p:sp>
      <p:sp>
        <p:nvSpPr>
          <p:cNvPr id="22" name="TextBox 21"/>
          <p:cNvSpPr txBox="1"/>
          <p:nvPr/>
        </p:nvSpPr>
        <p:spPr>
          <a:xfrm>
            <a:off x="6172200" y="2432304"/>
            <a:ext cx="2743200" cy="237744"/>
          </a:xfrm>
          <a:prstGeom prst="rect">
            <a:avLst/>
          </a:prstGeom>
          <a:noFill/>
        </p:spPr>
        <p:txBody>
          <a:bodyPr wrap="square" lIns="0" tIns="0" rIns="0" bIns="0" anchor="ctr">
            <a:spAutoFit/>
          </a:bodyPr>
          <a:lstStyle/>
          <a:p>
            <a:pPr algn="l"/>
            <a:r>
              <a:rPr sz="950" b="0" i="0">
                <a:solidFill>
                  <a:srgbClr val="93A79A"/>
                </a:solidFill>
                <a:latin typeface="Arial"/>
              </a:rPr>
              <a:t>F replaces S·e^((r−q)T) · no carry to model</a:t>
            </a:r>
          </a:p>
        </p:txBody>
      </p:sp>
      <p:sp>
        <p:nvSpPr>
          <p:cNvPr id="23" name="TextBox 22"/>
          <p:cNvSpPr txBox="1"/>
          <p:nvPr/>
        </p:nvSpPr>
        <p:spPr>
          <a:xfrm>
            <a:off x="566928" y="2798064"/>
            <a:ext cx="1554480" cy="237744"/>
          </a:xfrm>
          <a:prstGeom prst="rect">
            <a:avLst/>
          </a:prstGeom>
          <a:noFill/>
        </p:spPr>
        <p:txBody>
          <a:bodyPr wrap="square" lIns="0" tIns="0" rIns="0" bIns="0" anchor="ctr">
            <a:spAutoFit/>
          </a:bodyPr>
          <a:lstStyle/>
          <a:p>
            <a:pPr algn="l"/>
            <a:r>
              <a:rPr sz="1150" b="1" i="0">
                <a:solidFill>
                  <a:srgbClr val="E8F2EA"/>
                </a:solidFill>
                <a:latin typeface="Consolas"/>
              </a:rPr>
              <a:t>ASIAN</a:t>
            </a:r>
          </a:p>
        </p:txBody>
      </p:sp>
      <p:sp>
        <p:nvSpPr>
          <p:cNvPr id="24" name="Rectangle 23"/>
          <p:cNvSpPr/>
          <p:nvPr/>
        </p:nvSpPr>
        <p:spPr>
          <a:xfrm>
            <a:off x="2194560" y="2912364"/>
            <a:ext cx="13716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566160" y="2880360"/>
            <a:ext cx="73152" cy="73152"/>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94760" y="2798064"/>
            <a:ext cx="2377440" cy="237744"/>
          </a:xfrm>
          <a:prstGeom prst="rect">
            <a:avLst/>
          </a:prstGeom>
          <a:noFill/>
        </p:spPr>
        <p:txBody>
          <a:bodyPr wrap="square" lIns="0" tIns="0" rIns="0" bIns="0" anchor="ctr">
            <a:spAutoFit/>
          </a:bodyPr>
          <a:lstStyle/>
          <a:p>
            <a:pPr algn="l"/>
            <a:r>
              <a:rPr sz="1150" b="1" i="0">
                <a:solidFill>
                  <a:srgbClr val="FFB020"/>
                </a:solidFill>
                <a:latin typeface="Consolas"/>
              </a:rPr>
              <a:t>MONTE CARLO</a:t>
            </a:r>
          </a:p>
        </p:txBody>
      </p:sp>
      <p:sp>
        <p:nvSpPr>
          <p:cNvPr id="27" name="TextBox 26"/>
          <p:cNvSpPr txBox="1"/>
          <p:nvPr/>
        </p:nvSpPr>
        <p:spPr>
          <a:xfrm>
            <a:off x="6172200" y="2798064"/>
            <a:ext cx="2743200" cy="237744"/>
          </a:xfrm>
          <a:prstGeom prst="rect">
            <a:avLst/>
          </a:prstGeom>
          <a:noFill/>
        </p:spPr>
        <p:txBody>
          <a:bodyPr wrap="square" lIns="0" tIns="0" rIns="0" bIns="0" anchor="ctr">
            <a:spAutoFit/>
          </a:bodyPr>
          <a:lstStyle/>
          <a:p>
            <a:pPr algn="l"/>
            <a:r>
              <a:rPr sz="950" b="0" i="0">
                <a:solidFill>
                  <a:srgbClr val="93A79A"/>
                </a:solidFill>
                <a:latin typeface="Arial"/>
              </a:rPr>
              <a:t>path average · geometric control variate</a:t>
            </a:r>
          </a:p>
        </p:txBody>
      </p:sp>
      <p:sp>
        <p:nvSpPr>
          <p:cNvPr id="28" name="TextBox 27"/>
          <p:cNvSpPr txBox="1"/>
          <p:nvPr/>
        </p:nvSpPr>
        <p:spPr>
          <a:xfrm>
            <a:off x="566928" y="3163824"/>
            <a:ext cx="1554480" cy="237744"/>
          </a:xfrm>
          <a:prstGeom prst="rect">
            <a:avLst/>
          </a:prstGeom>
          <a:noFill/>
        </p:spPr>
        <p:txBody>
          <a:bodyPr wrap="square" lIns="0" tIns="0" rIns="0" bIns="0" anchor="ctr">
            <a:spAutoFit/>
          </a:bodyPr>
          <a:lstStyle/>
          <a:p>
            <a:pPr algn="l"/>
            <a:r>
              <a:rPr sz="1150" b="1" i="0">
                <a:solidFill>
                  <a:srgbClr val="E8F2EA"/>
                </a:solidFill>
                <a:latin typeface="Consolas"/>
              </a:rPr>
              <a:t>LOOKBACK</a:t>
            </a:r>
          </a:p>
        </p:txBody>
      </p:sp>
      <p:sp>
        <p:nvSpPr>
          <p:cNvPr id="29" name="Rectangle 28"/>
          <p:cNvSpPr/>
          <p:nvPr/>
        </p:nvSpPr>
        <p:spPr>
          <a:xfrm>
            <a:off x="2194560" y="3278124"/>
            <a:ext cx="13716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566160" y="3246120"/>
            <a:ext cx="73152" cy="73152"/>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3163824"/>
            <a:ext cx="2377440" cy="237744"/>
          </a:xfrm>
          <a:prstGeom prst="rect">
            <a:avLst/>
          </a:prstGeom>
          <a:noFill/>
        </p:spPr>
        <p:txBody>
          <a:bodyPr wrap="square" lIns="0" tIns="0" rIns="0" bIns="0" anchor="ctr">
            <a:spAutoFit/>
          </a:bodyPr>
          <a:lstStyle/>
          <a:p>
            <a:pPr algn="l"/>
            <a:r>
              <a:rPr sz="1150" b="1" i="0">
                <a:solidFill>
                  <a:srgbClr val="FFB020"/>
                </a:solidFill>
                <a:latin typeface="Consolas"/>
              </a:rPr>
              <a:t>MONTE CARLO</a:t>
            </a:r>
          </a:p>
        </p:txBody>
      </p:sp>
      <p:sp>
        <p:nvSpPr>
          <p:cNvPr id="32" name="TextBox 31"/>
          <p:cNvSpPr txBox="1"/>
          <p:nvPr/>
        </p:nvSpPr>
        <p:spPr>
          <a:xfrm>
            <a:off x="6172200" y="3163824"/>
            <a:ext cx="2743200" cy="237744"/>
          </a:xfrm>
          <a:prstGeom prst="rect">
            <a:avLst/>
          </a:prstGeom>
          <a:noFill/>
        </p:spPr>
        <p:txBody>
          <a:bodyPr wrap="square" lIns="0" tIns="0" rIns="0" bIns="0" anchor="ctr">
            <a:spAutoFit/>
          </a:bodyPr>
          <a:lstStyle/>
          <a:p>
            <a:pPr algn="l"/>
            <a:r>
              <a:rPr sz="950" b="0" i="0">
                <a:solidFill>
                  <a:srgbClr val="93A79A"/>
                </a:solidFill>
                <a:latin typeface="Arial"/>
              </a:rPr>
              <a:t>path max / min · continuity correction</a:t>
            </a:r>
          </a:p>
        </p:txBody>
      </p:sp>
      <p:sp>
        <p:nvSpPr>
          <p:cNvPr id="33" name="TextBox 32"/>
          <p:cNvSpPr txBox="1"/>
          <p:nvPr/>
        </p:nvSpPr>
        <p:spPr>
          <a:xfrm>
            <a:off x="566928" y="3529584"/>
            <a:ext cx="1554480" cy="237744"/>
          </a:xfrm>
          <a:prstGeom prst="rect">
            <a:avLst/>
          </a:prstGeom>
          <a:noFill/>
        </p:spPr>
        <p:txBody>
          <a:bodyPr wrap="square" lIns="0" tIns="0" rIns="0" bIns="0" anchor="ctr">
            <a:spAutoFit/>
          </a:bodyPr>
          <a:lstStyle/>
          <a:p>
            <a:pPr algn="l"/>
            <a:r>
              <a:rPr sz="1150" b="1" i="0">
                <a:solidFill>
                  <a:srgbClr val="E8F2EA"/>
                </a:solidFill>
                <a:latin typeface="Consolas"/>
              </a:rPr>
              <a:t>BASKET</a:t>
            </a:r>
          </a:p>
        </p:txBody>
      </p:sp>
      <p:sp>
        <p:nvSpPr>
          <p:cNvPr id="34" name="Rectangle 33"/>
          <p:cNvSpPr/>
          <p:nvPr/>
        </p:nvSpPr>
        <p:spPr>
          <a:xfrm>
            <a:off x="2194560" y="3643884"/>
            <a:ext cx="13716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566160" y="3611880"/>
            <a:ext cx="73152" cy="73152"/>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94760" y="3529584"/>
            <a:ext cx="2377440" cy="237744"/>
          </a:xfrm>
          <a:prstGeom prst="rect">
            <a:avLst/>
          </a:prstGeom>
          <a:noFill/>
        </p:spPr>
        <p:txBody>
          <a:bodyPr wrap="square" lIns="0" tIns="0" rIns="0" bIns="0" anchor="ctr">
            <a:spAutoFit/>
          </a:bodyPr>
          <a:lstStyle/>
          <a:p>
            <a:pPr algn="l"/>
            <a:r>
              <a:rPr sz="1150" b="1" i="0">
                <a:solidFill>
                  <a:srgbClr val="FFB020"/>
                </a:solidFill>
                <a:latin typeface="Consolas"/>
              </a:rPr>
              <a:t>MONTE CARLO</a:t>
            </a:r>
          </a:p>
        </p:txBody>
      </p:sp>
      <p:sp>
        <p:nvSpPr>
          <p:cNvPr id="37" name="TextBox 36"/>
          <p:cNvSpPr txBox="1"/>
          <p:nvPr/>
        </p:nvSpPr>
        <p:spPr>
          <a:xfrm>
            <a:off x="6172200" y="3529584"/>
            <a:ext cx="2743200" cy="237744"/>
          </a:xfrm>
          <a:prstGeom prst="rect">
            <a:avLst/>
          </a:prstGeom>
          <a:noFill/>
        </p:spPr>
        <p:txBody>
          <a:bodyPr wrap="square" lIns="0" tIns="0" rIns="0" bIns="0" anchor="ctr">
            <a:spAutoFit/>
          </a:bodyPr>
          <a:lstStyle/>
          <a:p>
            <a:pPr algn="l"/>
            <a:r>
              <a:rPr sz="950" b="0" i="0">
                <a:solidFill>
                  <a:srgbClr val="93A79A"/>
                </a:solidFill>
                <a:latin typeface="Arial"/>
              </a:rPr>
              <a:t>correlated assets · Cholesky</a:t>
            </a:r>
          </a:p>
        </p:txBody>
      </p:sp>
      <p:sp>
        <p:nvSpPr>
          <p:cNvPr id="38" name="TextBox 37"/>
          <p:cNvSpPr txBox="1"/>
          <p:nvPr/>
        </p:nvSpPr>
        <p:spPr>
          <a:xfrm>
            <a:off x="566928" y="3895344"/>
            <a:ext cx="1554480" cy="237744"/>
          </a:xfrm>
          <a:prstGeom prst="rect">
            <a:avLst/>
          </a:prstGeom>
          <a:noFill/>
        </p:spPr>
        <p:txBody>
          <a:bodyPr wrap="square" lIns="0" tIns="0" rIns="0" bIns="0" anchor="ctr">
            <a:spAutoFit/>
          </a:bodyPr>
          <a:lstStyle/>
          <a:p>
            <a:pPr algn="l"/>
            <a:r>
              <a:rPr sz="1150" b="1" i="0">
                <a:solidFill>
                  <a:srgbClr val="E8F2EA"/>
                </a:solidFill>
                <a:latin typeface="Consolas"/>
              </a:rPr>
              <a:t>BARRIER</a:t>
            </a:r>
          </a:p>
        </p:txBody>
      </p:sp>
      <p:sp>
        <p:nvSpPr>
          <p:cNvPr id="39" name="Rectangle 38"/>
          <p:cNvSpPr/>
          <p:nvPr/>
        </p:nvSpPr>
        <p:spPr>
          <a:xfrm>
            <a:off x="2194560" y="4009644"/>
            <a:ext cx="13716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566160" y="3977640"/>
            <a:ext cx="73152" cy="73152"/>
          </a:xfrm>
          <a:prstGeom prst="ellipse">
            <a:avLst/>
          </a:prstGeom>
          <a:solidFill>
            <a:srgbClr val="B78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794760" y="3895344"/>
            <a:ext cx="2377440" cy="237744"/>
          </a:xfrm>
          <a:prstGeom prst="rect">
            <a:avLst/>
          </a:prstGeom>
          <a:noFill/>
        </p:spPr>
        <p:txBody>
          <a:bodyPr wrap="square" lIns="0" tIns="0" rIns="0" bIns="0" anchor="ctr">
            <a:spAutoFit/>
          </a:bodyPr>
          <a:lstStyle/>
          <a:p>
            <a:pPr algn="l"/>
            <a:r>
              <a:rPr sz="1150" b="1" i="0">
                <a:solidFill>
                  <a:srgbClr val="B78CFF"/>
                </a:solidFill>
                <a:latin typeface="Consolas"/>
              </a:rPr>
              <a:t>FD · PDE</a:t>
            </a:r>
          </a:p>
        </p:txBody>
      </p:sp>
      <p:sp>
        <p:nvSpPr>
          <p:cNvPr id="42" name="TextBox 41"/>
          <p:cNvSpPr txBox="1"/>
          <p:nvPr/>
        </p:nvSpPr>
        <p:spPr>
          <a:xfrm>
            <a:off x="6172200" y="3895344"/>
            <a:ext cx="2743200" cy="237744"/>
          </a:xfrm>
          <a:prstGeom prst="rect">
            <a:avLst/>
          </a:prstGeom>
          <a:noFill/>
        </p:spPr>
        <p:txBody>
          <a:bodyPr wrap="square" lIns="0" tIns="0" rIns="0" bIns="0" anchor="ctr">
            <a:spAutoFit/>
          </a:bodyPr>
          <a:lstStyle/>
          <a:p>
            <a:pPr algn="l"/>
            <a:r>
              <a:rPr sz="950" b="0" i="0">
                <a:solidFill>
                  <a:srgbClr val="93A79A"/>
                </a:solidFill>
                <a:latin typeface="Arial"/>
              </a:rPr>
              <a:t>knock-in / knock-out as a boundary</a:t>
            </a:r>
          </a:p>
        </p:txBody>
      </p:sp>
      <p:sp>
        <p:nvSpPr>
          <p:cNvPr id="43" name="Oval 42"/>
          <p:cNvSpPr/>
          <p:nvPr/>
        </p:nvSpPr>
        <p:spPr>
          <a:xfrm>
            <a:off x="566928" y="4471416"/>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3232" y="4407408"/>
            <a:ext cx="1188720" cy="201168"/>
          </a:xfrm>
          <a:prstGeom prst="rect">
            <a:avLst/>
          </a:prstGeom>
          <a:noFill/>
        </p:spPr>
        <p:txBody>
          <a:bodyPr wrap="square" lIns="0" tIns="0" rIns="0" bIns="0" anchor="ctr">
            <a:spAutoFit/>
          </a:bodyPr>
          <a:lstStyle/>
          <a:p>
            <a:pPr algn="l"/>
            <a:r>
              <a:rPr sz="900" b="0" i="0">
                <a:solidFill>
                  <a:srgbClr val="93A79A"/>
                </a:solidFill>
                <a:latin typeface="Consolas"/>
              </a:rPr>
              <a:t>analytic</a:t>
            </a:r>
          </a:p>
        </p:txBody>
      </p:sp>
      <p:sp>
        <p:nvSpPr>
          <p:cNvPr id="45" name="Oval 44"/>
          <p:cNvSpPr/>
          <p:nvPr/>
        </p:nvSpPr>
        <p:spPr>
          <a:xfrm>
            <a:off x="1938528" y="4471416"/>
            <a:ext cx="82296" cy="82296"/>
          </a:xfrm>
          <a:prstGeom prst="ellipse">
            <a:avLst/>
          </a:prstGeom>
          <a:solidFill>
            <a:srgbClr val="5BC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084832" y="4407408"/>
            <a:ext cx="1188720" cy="201168"/>
          </a:xfrm>
          <a:prstGeom prst="rect">
            <a:avLst/>
          </a:prstGeom>
          <a:noFill/>
        </p:spPr>
        <p:txBody>
          <a:bodyPr wrap="square" lIns="0" tIns="0" rIns="0" bIns="0" anchor="ctr">
            <a:spAutoFit/>
          </a:bodyPr>
          <a:lstStyle/>
          <a:p>
            <a:pPr algn="l"/>
            <a:r>
              <a:rPr sz="900" b="0" i="0">
                <a:solidFill>
                  <a:srgbClr val="93A79A"/>
                </a:solidFill>
                <a:latin typeface="Consolas"/>
              </a:rPr>
              <a:t>tree</a:t>
            </a:r>
          </a:p>
        </p:txBody>
      </p:sp>
      <p:sp>
        <p:nvSpPr>
          <p:cNvPr id="47" name="Oval 46"/>
          <p:cNvSpPr/>
          <p:nvPr/>
        </p:nvSpPr>
        <p:spPr>
          <a:xfrm>
            <a:off x="3310128" y="4471416"/>
            <a:ext cx="82296" cy="82296"/>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456432" y="4407408"/>
            <a:ext cx="1188720" cy="201168"/>
          </a:xfrm>
          <a:prstGeom prst="rect">
            <a:avLst/>
          </a:prstGeom>
          <a:noFill/>
        </p:spPr>
        <p:txBody>
          <a:bodyPr wrap="square" lIns="0" tIns="0" rIns="0" bIns="0" anchor="ctr">
            <a:spAutoFit/>
          </a:bodyPr>
          <a:lstStyle/>
          <a:p>
            <a:pPr algn="l"/>
            <a:r>
              <a:rPr sz="900" b="0" i="0">
                <a:solidFill>
                  <a:srgbClr val="93A79A"/>
                </a:solidFill>
                <a:latin typeface="Consolas"/>
              </a:rPr>
              <a:t>Monte Carlo</a:t>
            </a:r>
          </a:p>
        </p:txBody>
      </p:sp>
      <p:sp>
        <p:nvSpPr>
          <p:cNvPr id="49" name="Oval 48"/>
          <p:cNvSpPr/>
          <p:nvPr/>
        </p:nvSpPr>
        <p:spPr>
          <a:xfrm>
            <a:off x="4681728" y="4471416"/>
            <a:ext cx="82296" cy="82296"/>
          </a:xfrm>
          <a:prstGeom prst="ellipse">
            <a:avLst/>
          </a:prstGeom>
          <a:solidFill>
            <a:srgbClr val="B78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828032" y="4407408"/>
            <a:ext cx="1188720" cy="201168"/>
          </a:xfrm>
          <a:prstGeom prst="rect">
            <a:avLst/>
          </a:prstGeom>
          <a:noFill/>
        </p:spPr>
        <p:txBody>
          <a:bodyPr wrap="square" lIns="0" tIns="0" rIns="0" bIns="0" anchor="ctr">
            <a:spAutoFit/>
          </a:bodyPr>
          <a:lstStyle/>
          <a:p>
            <a:pPr algn="l"/>
            <a:r>
              <a:rPr sz="900" b="0" i="0">
                <a:solidFill>
                  <a:srgbClr val="93A79A"/>
                </a:solidFill>
                <a:latin typeface="Consolas"/>
              </a:rPr>
              <a:t>PDE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05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02 / ARCHITECTURE</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Instruments describe.</a:t>
            </a:r>
          </a:p>
          <a:p>
            <a:pPr algn="l">
              <a:lnSpc>
                <a:spcPct val="92000"/>
              </a:lnSpc>
            </a:pPr>
            <a:r>
              <a:rPr sz="2500" b="1" i="0">
                <a:solidFill>
                  <a:srgbClr val="E8F2EA"/>
                </a:solidFill>
                <a:latin typeface="Arial"/>
              </a:rPr>
              <a:t>Engines price.</a:t>
            </a:r>
          </a:p>
        </p:txBody>
      </p:sp>
      <p:sp>
        <p:nvSpPr>
          <p:cNvPr id="8" name="Rectangle 7"/>
          <p:cNvSpPr/>
          <p:nvPr/>
        </p:nvSpPr>
        <p:spPr>
          <a:xfrm>
            <a:off x="566928" y="1737360"/>
            <a:ext cx="914400" cy="3840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737360"/>
            <a:ext cx="914400" cy="384048"/>
          </a:xfrm>
          <a:prstGeom prst="rect">
            <a:avLst/>
          </a:prstGeom>
          <a:noFill/>
        </p:spPr>
        <p:txBody>
          <a:bodyPr wrap="square" lIns="0" tIns="0" rIns="0" bIns="0" anchor="ctr">
            <a:spAutoFit/>
          </a:bodyPr>
          <a:lstStyle/>
          <a:p>
            <a:pPr algn="ctr"/>
            <a:r>
              <a:rPr sz="850" b="0" i="0">
                <a:solidFill>
                  <a:srgbClr val="E8F2EA"/>
                </a:solidFill>
                <a:latin typeface="Consolas"/>
              </a:rPr>
              <a:t>market_data/</a:t>
            </a:r>
          </a:p>
        </p:txBody>
      </p:sp>
      <p:sp>
        <p:nvSpPr>
          <p:cNvPr id="10" name="TextBox 9"/>
          <p:cNvSpPr txBox="1"/>
          <p:nvPr/>
        </p:nvSpPr>
        <p:spPr>
          <a:xfrm>
            <a:off x="1481328" y="1737360"/>
            <a:ext cx="105156" cy="384048"/>
          </a:xfrm>
          <a:prstGeom prst="rect">
            <a:avLst/>
          </a:prstGeom>
          <a:noFill/>
        </p:spPr>
        <p:txBody>
          <a:bodyPr wrap="square" lIns="0" tIns="0" rIns="0" bIns="0" anchor="ctr">
            <a:spAutoFit/>
          </a:bodyPr>
          <a:lstStyle/>
          <a:p>
            <a:pPr algn="ctr"/>
            <a:r>
              <a:rPr sz="900" b="0" i="0">
                <a:solidFill>
                  <a:srgbClr val="93A79A"/>
                </a:solidFill>
                <a:latin typeface="Arial"/>
              </a:rPr>
              <a:t>→</a:t>
            </a:r>
          </a:p>
        </p:txBody>
      </p:sp>
      <p:sp>
        <p:nvSpPr>
          <p:cNvPr id="11" name="Rectangle 10"/>
          <p:cNvSpPr/>
          <p:nvPr/>
        </p:nvSpPr>
        <p:spPr>
          <a:xfrm>
            <a:off x="1586484" y="1737360"/>
            <a:ext cx="914400" cy="3840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86484" y="1737360"/>
            <a:ext cx="914400" cy="384048"/>
          </a:xfrm>
          <a:prstGeom prst="rect">
            <a:avLst/>
          </a:prstGeom>
          <a:noFill/>
        </p:spPr>
        <p:txBody>
          <a:bodyPr wrap="square" lIns="0" tIns="0" rIns="0" bIns="0" anchor="ctr">
            <a:spAutoFit/>
          </a:bodyPr>
          <a:lstStyle/>
          <a:p>
            <a:pPr algn="ctr"/>
            <a:r>
              <a:rPr sz="850" b="0" i="0">
                <a:solidFill>
                  <a:srgbClr val="E8F2EA"/>
                </a:solidFill>
                <a:latin typeface="Consolas"/>
              </a:rPr>
              <a:t>calibration/</a:t>
            </a:r>
          </a:p>
        </p:txBody>
      </p:sp>
      <p:sp>
        <p:nvSpPr>
          <p:cNvPr id="13" name="TextBox 12"/>
          <p:cNvSpPr txBox="1"/>
          <p:nvPr/>
        </p:nvSpPr>
        <p:spPr>
          <a:xfrm>
            <a:off x="2500884" y="1737360"/>
            <a:ext cx="105156" cy="384048"/>
          </a:xfrm>
          <a:prstGeom prst="rect">
            <a:avLst/>
          </a:prstGeom>
          <a:noFill/>
        </p:spPr>
        <p:txBody>
          <a:bodyPr wrap="square" lIns="0" tIns="0" rIns="0" bIns="0" anchor="ctr">
            <a:spAutoFit/>
          </a:bodyPr>
          <a:lstStyle/>
          <a:p>
            <a:pPr algn="ctr"/>
            <a:r>
              <a:rPr sz="900" b="0" i="0">
                <a:solidFill>
                  <a:srgbClr val="93A79A"/>
                </a:solidFill>
                <a:latin typeface="Arial"/>
              </a:rPr>
              <a:t>→</a:t>
            </a:r>
          </a:p>
        </p:txBody>
      </p:sp>
      <p:sp>
        <p:nvSpPr>
          <p:cNvPr id="14" name="Rectangle 13"/>
          <p:cNvSpPr/>
          <p:nvPr/>
        </p:nvSpPr>
        <p:spPr>
          <a:xfrm>
            <a:off x="2606040" y="1737360"/>
            <a:ext cx="914400" cy="384048"/>
          </a:xfrm>
          <a:prstGeom prst="rect">
            <a:avLst/>
          </a:prstGeom>
          <a:solidFill>
            <a:srgbClr val="111813"/>
          </a:solidFill>
          <a:ln w="9525">
            <a:solidFill>
              <a:srgbClr val="3DDC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06040" y="1737360"/>
            <a:ext cx="914400" cy="384048"/>
          </a:xfrm>
          <a:prstGeom prst="rect">
            <a:avLst/>
          </a:prstGeom>
          <a:noFill/>
        </p:spPr>
        <p:txBody>
          <a:bodyPr wrap="square" lIns="0" tIns="0" rIns="0" bIns="0" anchor="ctr">
            <a:spAutoFit/>
          </a:bodyPr>
          <a:lstStyle/>
          <a:p>
            <a:pPr algn="ctr"/>
            <a:r>
              <a:rPr sz="850" b="0" i="0">
                <a:solidFill>
                  <a:srgbClr val="3DDC84"/>
                </a:solidFill>
                <a:latin typeface="Consolas"/>
              </a:rPr>
              <a:t>models/</a:t>
            </a:r>
          </a:p>
        </p:txBody>
      </p:sp>
      <p:sp>
        <p:nvSpPr>
          <p:cNvPr id="16" name="TextBox 15"/>
          <p:cNvSpPr txBox="1"/>
          <p:nvPr/>
        </p:nvSpPr>
        <p:spPr>
          <a:xfrm>
            <a:off x="3520440" y="1737360"/>
            <a:ext cx="105156" cy="384048"/>
          </a:xfrm>
          <a:prstGeom prst="rect">
            <a:avLst/>
          </a:prstGeom>
          <a:noFill/>
        </p:spPr>
        <p:txBody>
          <a:bodyPr wrap="square" lIns="0" tIns="0" rIns="0" bIns="0" anchor="ctr">
            <a:spAutoFit/>
          </a:bodyPr>
          <a:lstStyle/>
          <a:p>
            <a:pPr algn="ctr"/>
            <a:r>
              <a:rPr sz="900" b="0" i="0">
                <a:solidFill>
                  <a:srgbClr val="93A79A"/>
                </a:solidFill>
                <a:latin typeface="Arial"/>
              </a:rPr>
              <a:t>→</a:t>
            </a:r>
          </a:p>
        </p:txBody>
      </p:sp>
      <p:sp>
        <p:nvSpPr>
          <p:cNvPr id="17" name="Rectangle 16"/>
          <p:cNvSpPr/>
          <p:nvPr/>
        </p:nvSpPr>
        <p:spPr>
          <a:xfrm>
            <a:off x="3625596" y="1737360"/>
            <a:ext cx="914400" cy="3840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25596" y="1737360"/>
            <a:ext cx="914400" cy="384048"/>
          </a:xfrm>
          <a:prstGeom prst="rect">
            <a:avLst/>
          </a:prstGeom>
          <a:noFill/>
        </p:spPr>
        <p:txBody>
          <a:bodyPr wrap="square" lIns="0" tIns="0" rIns="0" bIns="0" anchor="ctr">
            <a:spAutoFit/>
          </a:bodyPr>
          <a:lstStyle/>
          <a:p>
            <a:pPr algn="ctr"/>
            <a:r>
              <a:rPr sz="850" b="0" i="0">
                <a:solidFill>
                  <a:srgbClr val="E8F2EA"/>
                </a:solidFill>
                <a:latin typeface="Consolas"/>
              </a:rPr>
              <a:t>scenario/</a:t>
            </a:r>
          </a:p>
        </p:txBody>
      </p:sp>
      <p:sp>
        <p:nvSpPr>
          <p:cNvPr id="19" name="TextBox 18"/>
          <p:cNvSpPr txBox="1"/>
          <p:nvPr/>
        </p:nvSpPr>
        <p:spPr>
          <a:xfrm>
            <a:off x="4539996" y="1737360"/>
            <a:ext cx="105156" cy="384048"/>
          </a:xfrm>
          <a:prstGeom prst="rect">
            <a:avLst/>
          </a:prstGeom>
          <a:noFill/>
        </p:spPr>
        <p:txBody>
          <a:bodyPr wrap="square" lIns="0" tIns="0" rIns="0" bIns="0" anchor="ctr">
            <a:spAutoFit/>
          </a:bodyPr>
          <a:lstStyle/>
          <a:p>
            <a:pPr algn="ctr"/>
            <a:r>
              <a:rPr sz="900" b="0" i="0">
                <a:solidFill>
                  <a:srgbClr val="93A79A"/>
                </a:solidFill>
                <a:latin typeface="Arial"/>
              </a:rPr>
              <a:t>→</a:t>
            </a:r>
          </a:p>
        </p:txBody>
      </p:sp>
      <p:sp>
        <p:nvSpPr>
          <p:cNvPr id="20" name="Rectangle 19"/>
          <p:cNvSpPr/>
          <p:nvPr/>
        </p:nvSpPr>
        <p:spPr>
          <a:xfrm>
            <a:off x="4645152" y="1737360"/>
            <a:ext cx="914400" cy="3840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45152" y="1737360"/>
            <a:ext cx="914400" cy="384048"/>
          </a:xfrm>
          <a:prstGeom prst="rect">
            <a:avLst/>
          </a:prstGeom>
          <a:noFill/>
        </p:spPr>
        <p:txBody>
          <a:bodyPr wrap="square" lIns="0" tIns="0" rIns="0" bIns="0" anchor="ctr">
            <a:spAutoFit/>
          </a:bodyPr>
          <a:lstStyle/>
          <a:p>
            <a:pPr algn="ctr"/>
            <a:r>
              <a:rPr sz="850" b="0" i="0">
                <a:solidFill>
                  <a:srgbClr val="E8F2EA"/>
                </a:solidFill>
                <a:latin typeface="Consolas"/>
              </a:rPr>
              <a:t>strategies/</a:t>
            </a:r>
          </a:p>
        </p:txBody>
      </p:sp>
      <p:sp>
        <p:nvSpPr>
          <p:cNvPr id="22" name="TextBox 21"/>
          <p:cNvSpPr txBox="1"/>
          <p:nvPr/>
        </p:nvSpPr>
        <p:spPr>
          <a:xfrm>
            <a:off x="5559552" y="1737360"/>
            <a:ext cx="105156" cy="384048"/>
          </a:xfrm>
          <a:prstGeom prst="rect">
            <a:avLst/>
          </a:prstGeom>
          <a:noFill/>
        </p:spPr>
        <p:txBody>
          <a:bodyPr wrap="square" lIns="0" tIns="0" rIns="0" bIns="0" anchor="ctr">
            <a:spAutoFit/>
          </a:bodyPr>
          <a:lstStyle/>
          <a:p>
            <a:pPr algn="ctr"/>
            <a:r>
              <a:rPr sz="900" b="0" i="0">
                <a:solidFill>
                  <a:srgbClr val="93A79A"/>
                </a:solidFill>
                <a:latin typeface="Arial"/>
              </a:rPr>
              <a:t>→</a:t>
            </a:r>
          </a:p>
        </p:txBody>
      </p:sp>
      <p:sp>
        <p:nvSpPr>
          <p:cNvPr id="23" name="Rectangle 22"/>
          <p:cNvSpPr/>
          <p:nvPr/>
        </p:nvSpPr>
        <p:spPr>
          <a:xfrm>
            <a:off x="5664708" y="1737360"/>
            <a:ext cx="914400" cy="3840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4708" y="1737360"/>
            <a:ext cx="914400" cy="384048"/>
          </a:xfrm>
          <a:prstGeom prst="rect">
            <a:avLst/>
          </a:prstGeom>
          <a:noFill/>
        </p:spPr>
        <p:txBody>
          <a:bodyPr wrap="square" lIns="0" tIns="0" rIns="0" bIns="0" anchor="ctr">
            <a:spAutoFit/>
          </a:bodyPr>
          <a:lstStyle/>
          <a:p>
            <a:pPr algn="ctr"/>
            <a:r>
              <a:rPr sz="850" b="0" i="0">
                <a:solidFill>
                  <a:srgbClr val="E8F2EA"/>
                </a:solidFill>
                <a:latin typeface="Consolas"/>
              </a:rPr>
              <a:t>validation/</a:t>
            </a:r>
          </a:p>
        </p:txBody>
      </p:sp>
      <p:sp>
        <p:nvSpPr>
          <p:cNvPr id="25" name="TextBox 24"/>
          <p:cNvSpPr txBox="1"/>
          <p:nvPr/>
        </p:nvSpPr>
        <p:spPr>
          <a:xfrm>
            <a:off x="6579108" y="1737360"/>
            <a:ext cx="105156" cy="384048"/>
          </a:xfrm>
          <a:prstGeom prst="rect">
            <a:avLst/>
          </a:prstGeom>
          <a:noFill/>
        </p:spPr>
        <p:txBody>
          <a:bodyPr wrap="square" lIns="0" tIns="0" rIns="0" bIns="0" anchor="ctr">
            <a:spAutoFit/>
          </a:bodyPr>
          <a:lstStyle/>
          <a:p>
            <a:pPr algn="ctr"/>
            <a:r>
              <a:rPr sz="900" b="0" i="0">
                <a:solidFill>
                  <a:srgbClr val="93A79A"/>
                </a:solidFill>
                <a:latin typeface="Arial"/>
              </a:rPr>
              <a:t>→</a:t>
            </a:r>
          </a:p>
        </p:txBody>
      </p:sp>
      <p:sp>
        <p:nvSpPr>
          <p:cNvPr id="26" name="Rectangle 25"/>
          <p:cNvSpPr/>
          <p:nvPr/>
        </p:nvSpPr>
        <p:spPr>
          <a:xfrm>
            <a:off x="6684264" y="1737360"/>
            <a:ext cx="914400" cy="3840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84264" y="1737360"/>
            <a:ext cx="914400" cy="384048"/>
          </a:xfrm>
          <a:prstGeom prst="rect">
            <a:avLst/>
          </a:prstGeom>
          <a:noFill/>
        </p:spPr>
        <p:txBody>
          <a:bodyPr wrap="square" lIns="0" tIns="0" rIns="0" bIns="0" anchor="ctr">
            <a:spAutoFit/>
          </a:bodyPr>
          <a:lstStyle/>
          <a:p>
            <a:pPr algn="ctr"/>
            <a:r>
              <a:rPr sz="850" b="0" i="0">
                <a:solidFill>
                  <a:srgbClr val="E8F2EA"/>
                </a:solidFill>
                <a:latin typeface="Consolas"/>
              </a:rPr>
              <a:t>api/</a:t>
            </a:r>
          </a:p>
        </p:txBody>
      </p:sp>
      <p:sp>
        <p:nvSpPr>
          <p:cNvPr id="28" name="TextBox 27"/>
          <p:cNvSpPr txBox="1"/>
          <p:nvPr/>
        </p:nvSpPr>
        <p:spPr>
          <a:xfrm>
            <a:off x="7598663" y="1737360"/>
            <a:ext cx="105156" cy="384048"/>
          </a:xfrm>
          <a:prstGeom prst="rect">
            <a:avLst/>
          </a:prstGeom>
          <a:noFill/>
        </p:spPr>
        <p:txBody>
          <a:bodyPr wrap="square" lIns="0" tIns="0" rIns="0" bIns="0" anchor="ctr">
            <a:spAutoFit/>
          </a:bodyPr>
          <a:lstStyle/>
          <a:p>
            <a:pPr algn="ctr"/>
            <a:r>
              <a:rPr sz="900" b="0" i="0">
                <a:solidFill>
                  <a:srgbClr val="93A79A"/>
                </a:solidFill>
                <a:latin typeface="Arial"/>
              </a:rPr>
              <a:t>→</a:t>
            </a:r>
          </a:p>
        </p:txBody>
      </p:sp>
      <p:sp>
        <p:nvSpPr>
          <p:cNvPr id="29" name="Rectangle 28"/>
          <p:cNvSpPr/>
          <p:nvPr/>
        </p:nvSpPr>
        <p:spPr>
          <a:xfrm>
            <a:off x="7703819" y="1737360"/>
            <a:ext cx="914400" cy="3840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03819" y="1737360"/>
            <a:ext cx="914400" cy="384048"/>
          </a:xfrm>
          <a:prstGeom prst="rect">
            <a:avLst/>
          </a:prstGeom>
          <a:noFill/>
        </p:spPr>
        <p:txBody>
          <a:bodyPr wrap="square" lIns="0" tIns="0" rIns="0" bIns="0" anchor="ctr">
            <a:spAutoFit/>
          </a:bodyPr>
          <a:lstStyle/>
          <a:p>
            <a:pPr algn="ctr"/>
            <a:r>
              <a:rPr sz="850" b="0" i="0">
                <a:solidFill>
                  <a:srgbClr val="E8F2EA"/>
                </a:solidFill>
                <a:latin typeface="Consolas"/>
              </a:rPr>
              <a:t>web/</a:t>
            </a:r>
          </a:p>
        </p:txBody>
      </p:sp>
      <p:sp>
        <p:nvSpPr>
          <p:cNvPr id="31" name="Rectangle 30"/>
          <p:cNvSpPr/>
          <p:nvPr/>
        </p:nvSpPr>
        <p:spPr>
          <a:xfrm>
            <a:off x="566928" y="2395728"/>
            <a:ext cx="1060704" cy="329184"/>
          </a:xfrm>
          <a:prstGeom prst="rect">
            <a:avLst/>
          </a:prstGeom>
          <a:solidFill>
            <a:srgbClr val="0A0E0B"/>
          </a:solidFill>
          <a:ln w="9525">
            <a:solidFill>
              <a:srgbClr val="3DDC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2395728"/>
            <a:ext cx="1060704" cy="329184"/>
          </a:xfrm>
          <a:prstGeom prst="rect">
            <a:avLst/>
          </a:prstGeom>
          <a:noFill/>
        </p:spPr>
        <p:txBody>
          <a:bodyPr wrap="square" lIns="0" tIns="0" rIns="0" bIns="0" anchor="ctr">
            <a:spAutoFit/>
          </a:bodyPr>
          <a:lstStyle/>
          <a:p>
            <a:pPr algn="ctr"/>
            <a:r>
              <a:rPr sz="850" b="1" i="0">
                <a:solidFill>
                  <a:srgbClr val="3DDC84"/>
                </a:solidFill>
                <a:latin typeface="Consolas"/>
              </a:rPr>
              <a:t>BSM</a:t>
            </a:r>
          </a:p>
        </p:txBody>
      </p:sp>
      <p:sp>
        <p:nvSpPr>
          <p:cNvPr id="33" name="Rectangle 32"/>
          <p:cNvSpPr/>
          <p:nvPr/>
        </p:nvSpPr>
        <p:spPr>
          <a:xfrm>
            <a:off x="1732788" y="2395728"/>
            <a:ext cx="1060704" cy="329184"/>
          </a:xfrm>
          <a:prstGeom prst="rect">
            <a:avLst/>
          </a:prstGeom>
          <a:solidFill>
            <a:srgbClr val="0A0E0B"/>
          </a:solidFill>
          <a:ln w="9525">
            <a:solidFill>
              <a:srgbClr val="3DDC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732788" y="2395728"/>
            <a:ext cx="1060704" cy="329184"/>
          </a:xfrm>
          <a:prstGeom prst="rect">
            <a:avLst/>
          </a:prstGeom>
          <a:noFill/>
        </p:spPr>
        <p:txBody>
          <a:bodyPr wrap="square" lIns="0" tIns="0" rIns="0" bIns="0" anchor="ctr">
            <a:spAutoFit/>
          </a:bodyPr>
          <a:lstStyle/>
          <a:p>
            <a:pPr algn="ctr"/>
            <a:r>
              <a:rPr sz="850" b="1" i="0">
                <a:solidFill>
                  <a:srgbClr val="3DDC84"/>
                </a:solidFill>
                <a:latin typeface="Consolas"/>
              </a:rPr>
              <a:t>BLACK-76</a:t>
            </a:r>
          </a:p>
        </p:txBody>
      </p:sp>
      <p:sp>
        <p:nvSpPr>
          <p:cNvPr id="35" name="Rectangle 34"/>
          <p:cNvSpPr/>
          <p:nvPr/>
        </p:nvSpPr>
        <p:spPr>
          <a:xfrm>
            <a:off x="2898648" y="2395728"/>
            <a:ext cx="1060704" cy="329184"/>
          </a:xfrm>
          <a:prstGeom prst="rect">
            <a:avLst/>
          </a:prstGeom>
          <a:solidFill>
            <a:srgbClr val="0A0E0B"/>
          </a:solidFill>
          <a:ln w="9525">
            <a:solidFill>
              <a:srgbClr val="5BC8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98648" y="2395728"/>
            <a:ext cx="1060704" cy="329184"/>
          </a:xfrm>
          <a:prstGeom prst="rect">
            <a:avLst/>
          </a:prstGeom>
          <a:noFill/>
        </p:spPr>
        <p:txBody>
          <a:bodyPr wrap="square" lIns="0" tIns="0" rIns="0" bIns="0" anchor="ctr">
            <a:spAutoFit/>
          </a:bodyPr>
          <a:lstStyle/>
          <a:p>
            <a:pPr algn="ctr"/>
            <a:r>
              <a:rPr sz="850" b="1" i="0">
                <a:solidFill>
                  <a:srgbClr val="5BC8F5"/>
                </a:solidFill>
                <a:latin typeface="Consolas"/>
              </a:rPr>
              <a:t>CRR</a:t>
            </a:r>
          </a:p>
        </p:txBody>
      </p:sp>
      <p:sp>
        <p:nvSpPr>
          <p:cNvPr id="37" name="Rectangle 36"/>
          <p:cNvSpPr/>
          <p:nvPr/>
        </p:nvSpPr>
        <p:spPr>
          <a:xfrm>
            <a:off x="4064507" y="2395728"/>
            <a:ext cx="1060704" cy="329184"/>
          </a:xfrm>
          <a:prstGeom prst="rect">
            <a:avLst/>
          </a:prstGeom>
          <a:solidFill>
            <a:srgbClr val="0A0E0B"/>
          </a:solidFill>
          <a:ln w="9525">
            <a:solidFill>
              <a:srgbClr val="5BC8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064507" y="2395728"/>
            <a:ext cx="1060704" cy="329184"/>
          </a:xfrm>
          <a:prstGeom prst="rect">
            <a:avLst/>
          </a:prstGeom>
          <a:noFill/>
        </p:spPr>
        <p:txBody>
          <a:bodyPr wrap="square" lIns="0" tIns="0" rIns="0" bIns="0" anchor="ctr">
            <a:spAutoFit/>
          </a:bodyPr>
          <a:lstStyle/>
          <a:p>
            <a:pPr algn="ctr"/>
            <a:r>
              <a:rPr sz="850" b="1" i="0">
                <a:solidFill>
                  <a:srgbClr val="5BC8F5"/>
                </a:solidFill>
                <a:latin typeface="Consolas"/>
              </a:rPr>
              <a:t>LR</a:t>
            </a:r>
          </a:p>
        </p:txBody>
      </p:sp>
      <p:sp>
        <p:nvSpPr>
          <p:cNvPr id="39" name="Rectangle 38"/>
          <p:cNvSpPr/>
          <p:nvPr/>
        </p:nvSpPr>
        <p:spPr>
          <a:xfrm>
            <a:off x="5230368" y="2395728"/>
            <a:ext cx="1060704" cy="329184"/>
          </a:xfrm>
          <a:prstGeom prst="rect">
            <a:avLst/>
          </a:prstGeom>
          <a:solidFill>
            <a:srgbClr val="0A0E0B"/>
          </a:solidFill>
          <a:ln w="952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230368" y="2395728"/>
            <a:ext cx="1060704" cy="329184"/>
          </a:xfrm>
          <a:prstGeom prst="rect">
            <a:avLst/>
          </a:prstGeom>
          <a:noFill/>
        </p:spPr>
        <p:txBody>
          <a:bodyPr wrap="square" lIns="0" tIns="0" rIns="0" bIns="0" anchor="ctr">
            <a:spAutoFit/>
          </a:bodyPr>
          <a:lstStyle/>
          <a:p>
            <a:pPr algn="ctr"/>
            <a:r>
              <a:rPr sz="850" b="1" i="0">
                <a:solidFill>
                  <a:srgbClr val="FFB020"/>
                </a:solidFill>
                <a:latin typeface="Consolas"/>
              </a:rPr>
              <a:t>MONTE CARLO</a:t>
            </a:r>
          </a:p>
        </p:txBody>
      </p:sp>
      <p:sp>
        <p:nvSpPr>
          <p:cNvPr id="41" name="Rectangle 40"/>
          <p:cNvSpPr/>
          <p:nvPr/>
        </p:nvSpPr>
        <p:spPr>
          <a:xfrm>
            <a:off x="6396228" y="2395728"/>
            <a:ext cx="1060704" cy="329184"/>
          </a:xfrm>
          <a:prstGeom prst="rect">
            <a:avLst/>
          </a:prstGeom>
          <a:solidFill>
            <a:srgbClr val="0A0E0B"/>
          </a:solidFill>
          <a:ln w="952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96228" y="2395728"/>
            <a:ext cx="1060704" cy="329184"/>
          </a:xfrm>
          <a:prstGeom prst="rect">
            <a:avLst/>
          </a:prstGeom>
          <a:noFill/>
        </p:spPr>
        <p:txBody>
          <a:bodyPr wrap="square" lIns="0" tIns="0" rIns="0" bIns="0" anchor="ctr">
            <a:spAutoFit/>
          </a:bodyPr>
          <a:lstStyle/>
          <a:p>
            <a:pPr algn="ctr"/>
            <a:r>
              <a:rPr sz="850" b="1" i="0">
                <a:solidFill>
                  <a:srgbClr val="FFB020"/>
                </a:solidFill>
                <a:latin typeface="Consolas"/>
              </a:rPr>
              <a:t>LSMC</a:t>
            </a:r>
          </a:p>
        </p:txBody>
      </p:sp>
      <p:sp>
        <p:nvSpPr>
          <p:cNvPr id="43" name="Rectangle 42"/>
          <p:cNvSpPr/>
          <p:nvPr/>
        </p:nvSpPr>
        <p:spPr>
          <a:xfrm>
            <a:off x="7562088" y="2395728"/>
            <a:ext cx="1060704" cy="329184"/>
          </a:xfrm>
          <a:prstGeom prst="rect">
            <a:avLst/>
          </a:prstGeom>
          <a:solidFill>
            <a:srgbClr val="0A0E0B"/>
          </a:solidFill>
          <a:ln w="9525">
            <a:solidFill>
              <a:srgbClr val="B78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562088" y="2395728"/>
            <a:ext cx="1060704" cy="329184"/>
          </a:xfrm>
          <a:prstGeom prst="rect">
            <a:avLst/>
          </a:prstGeom>
          <a:noFill/>
        </p:spPr>
        <p:txBody>
          <a:bodyPr wrap="square" lIns="0" tIns="0" rIns="0" bIns="0" anchor="ctr">
            <a:spAutoFit/>
          </a:bodyPr>
          <a:lstStyle/>
          <a:p>
            <a:pPr algn="ctr"/>
            <a:r>
              <a:rPr sz="850" b="1" i="0">
                <a:solidFill>
                  <a:srgbClr val="B78CFF"/>
                </a:solidFill>
                <a:latin typeface="Consolas"/>
              </a:rPr>
              <a:t>FD · PDE</a:t>
            </a:r>
          </a:p>
        </p:txBody>
      </p:sp>
      <p:sp>
        <p:nvSpPr>
          <p:cNvPr id="45" name="TextBox 44"/>
          <p:cNvSpPr txBox="1"/>
          <p:nvPr/>
        </p:nvSpPr>
        <p:spPr>
          <a:xfrm>
            <a:off x="566928" y="2926080"/>
            <a:ext cx="2194560" cy="228600"/>
          </a:xfrm>
          <a:prstGeom prst="rect">
            <a:avLst/>
          </a:prstGeom>
          <a:noFill/>
        </p:spPr>
        <p:txBody>
          <a:bodyPr wrap="square" lIns="0" tIns="0" rIns="0" bIns="0" anchor="ctr">
            <a:spAutoFit/>
          </a:bodyPr>
          <a:lstStyle/>
          <a:p>
            <a:pPr algn="l"/>
            <a:r>
              <a:rPr sz="950" b="0" i="0">
                <a:solidFill>
                  <a:srgbClr val="93A79A"/>
                </a:solidFill>
                <a:latin typeface="Arial"/>
              </a:rPr>
              <a:t>every engine implements →</a:t>
            </a:r>
          </a:p>
        </p:txBody>
      </p:sp>
      <p:sp>
        <p:nvSpPr>
          <p:cNvPr id="46" name="Rectangle 45"/>
          <p:cNvSpPr/>
          <p:nvPr/>
        </p:nvSpPr>
        <p:spPr>
          <a:xfrm>
            <a:off x="2651760" y="2898648"/>
            <a:ext cx="5394960" cy="29260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651760" y="2898648"/>
            <a:ext cx="5394960" cy="292608"/>
          </a:xfrm>
          <a:prstGeom prst="rect">
            <a:avLst/>
          </a:prstGeom>
          <a:noFill/>
        </p:spPr>
        <p:txBody>
          <a:bodyPr wrap="square" lIns="0" tIns="0" rIns="0" bIns="0" anchor="ctr">
            <a:spAutoFit/>
          </a:bodyPr>
          <a:lstStyle/>
          <a:p>
            <a:pPr algn="ctr"/>
            <a:r>
              <a:rPr sz="1050" b="1" i="0">
                <a:solidFill>
                  <a:srgbClr val="3DDC84"/>
                </a:solidFill>
                <a:latin typeface="Consolas"/>
              </a:rPr>
              <a:t>price()  delta()  gamma()  vega()  theta()  rho()</a:t>
            </a:r>
          </a:p>
        </p:txBody>
      </p:sp>
      <p:sp>
        <p:nvSpPr>
          <p:cNvPr id="48" name="TextBox 47"/>
          <p:cNvSpPr txBox="1"/>
          <p:nvPr/>
        </p:nvSpPr>
        <p:spPr>
          <a:xfrm>
            <a:off x="566928" y="3456432"/>
            <a:ext cx="1517904" cy="329184"/>
          </a:xfrm>
          <a:prstGeom prst="rect">
            <a:avLst/>
          </a:prstGeom>
          <a:noFill/>
        </p:spPr>
        <p:txBody>
          <a:bodyPr wrap="square" lIns="0" tIns="0" rIns="0" bIns="0" anchor="t">
            <a:spAutoFit/>
          </a:bodyPr>
          <a:lstStyle/>
          <a:p>
            <a:pPr algn="l"/>
            <a:r>
              <a:rPr sz="2000" b="1" i="0">
                <a:solidFill>
                  <a:srgbClr val="E8F2EA"/>
                </a:solidFill>
                <a:latin typeface="Consolas"/>
              </a:rPr>
              <a:t>3,356</a:t>
            </a:r>
          </a:p>
        </p:txBody>
      </p:sp>
      <p:sp>
        <p:nvSpPr>
          <p:cNvPr id="49" name="TextBox 48"/>
          <p:cNvSpPr txBox="1"/>
          <p:nvPr/>
        </p:nvSpPr>
        <p:spPr>
          <a:xfrm>
            <a:off x="566928" y="3813048"/>
            <a:ext cx="1463040" cy="384048"/>
          </a:xfrm>
          <a:prstGeom prst="rect">
            <a:avLst/>
          </a:prstGeom>
          <a:noFill/>
        </p:spPr>
        <p:txBody>
          <a:bodyPr wrap="square" lIns="0" tIns="0" rIns="0" bIns="0" anchor="t">
            <a:spAutoFit/>
          </a:bodyPr>
          <a:lstStyle/>
          <a:p>
            <a:pPr algn="l"/>
            <a:r>
              <a:rPr sz="900" b="0" i="0">
                <a:solidFill>
                  <a:srgbClr val="93A79A"/>
                </a:solidFill>
                <a:latin typeface="Arial"/>
              </a:rPr>
              <a:t>lines in the engine</a:t>
            </a:r>
          </a:p>
        </p:txBody>
      </p:sp>
      <p:sp>
        <p:nvSpPr>
          <p:cNvPr id="50" name="TextBox 49"/>
          <p:cNvSpPr txBox="1"/>
          <p:nvPr/>
        </p:nvSpPr>
        <p:spPr>
          <a:xfrm>
            <a:off x="2194560" y="3456432"/>
            <a:ext cx="1517904" cy="329184"/>
          </a:xfrm>
          <a:prstGeom prst="rect">
            <a:avLst/>
          </a:prstGeom>
          <a:noFill/>
        </p:spPr>
        <p:txBody>
          <a:bodyPr wrap="square" lIns="0" tIns="0" rIns="0" bIns="0" anchor="t">
            <a:spAutoFit/>
          </a:bodyPr>
          <a:lstStyle/>
          <a:p>
            <a:pPr algn="l"/>
            <a:r>
              <a:rPr sz="2000" b="1" i="0">
                <a:solidFill>
                  <a:srgbClr val="E8F2EA"/>
                </a:solidFill>
                <a:latin typeface="Consolas"/>
              </a:rPr>
              <a:t>1,342</a:t>
            </a:r>
          </a:p>
        </p:txBody>
      </p:sp>
      <p:sp>
        <p:nvSpPr>
          <p:cNvPr id="51" name="TextBox 50"/>
          <p:cNvSpPr txBox="1"/>
          <p:nvPr/>
        </p:nvSpPr>
        <p:spPr>
          <a:xfrm>
            <a:off x="2194560" y="3813048"/>
            <a:ext cx="1463040" cy="384048"/>
          </a:xfrm>
          <a:prstGeom prst="rect">
            <a:avLst/>
          </a:prstGeom>
          <a:noFill/>
        </p:spPr>
        <p:txBody>
          <a:bodyPr wrap="square" lIns="0" tIns="0" rIns="0" bIns="0" anchor="t">
            <a:spAutoFit/>
          </a:bodyPr>
          <a:lstStyle/>
          <a:p>
            <a:pPr algn="l"/>
            <a:r>
              <a:rPr sz="900" b="0" i="0">
                <a:solidFill>
                  <a:srgbClr val="93A79A"/>
                </a:solidFill>
                <a:latin typeface="Arial"/>
              </a:rPr>
              <a:t>lines of API, 14 endpoints</a:t>
            </a:r>
          </a:p>
        </p:txBody>
      </p:sp>
      <p:sp>
        <p:nvSpPr>
          <p:cNvPr id="52" name="TextBox 51"/>
          <p:cNvSpPr txBox="1"/>
          <p:nvPr/>
        </p:nvSpPr>
        <p:spPr>
          <a:xfrm>
            <a:off x="3822191" y="3456432"/>
            <a:ext cx="1517904" cy="329184"/>
          </a:xfrm>
          <a:prstGeom prst="rect">
            <a:avLst/>
          </a:prstGeom>
          <a:noFill/>
        </p:spPr>
        <p:txBody>
          <a:bodyPr wrap="square" lIns="0" tIns="0" rIns="0" bIns="0" anchor="t">
            <a:spAutoFit/>
          </a:bodyPr>
          <a:lstStyle/>
          <a:p>
            <a:pPr algn="l"/>
            <a:r>
              <a:rPr sz="2000" b="1" i="0">
                <a:solidFill>
                  <a:srgbClr val="E8F2EA"/>
                </a:solidFill>
                <a:latin typeface="Consolas"/>
              </a:rPr>
              <a:t>3,219</a:t>
            </a:r>
          </a:p>
        </p:txBody>
      </p:sp>
      <p:sp>
        <p:nvSpPr>
          <p:cNvPr id="53" name="TextBox 52"/>
          <p:cNvSpPr txBox="1"/>
          <p:nvPr/>
        </p:nvSpPr>
        <p:spPr>
          <a:xfrm>
            <a:off x="3822191" y="3813048"/>
            <a:ext cx="1463040" cy="384048"/>
          </a:xfrm>
          <a:prstGeom prst="rect">
            <a:avLst/>
          </a:prstGeom>
          <a:noFill/>
        </p:spPr>
        <p:txBody>
          <a:bodyPr wrap="square" lIns="0" tIns="0" rIns="0" bIns="0" anchor="t">
            <a:spAutoFit/>
          </a:bodyPr>
          <a:lstStyle/>
          <a:p>
            <a:pPr algn="l"/>
            <a:r>
              <a:rPr sz="900" b="0" i="0">
                <a:solidFill>
                  <a:srgbClr val="93A79A"/>
                </a:solidFill>
                <a:latin typeface="Arial"/>
              </a:rPr>
              <a:t>lines of front end, 9 pages</a:t>
            </a:r>
          </a:p>
        </p:txBody>
      </p:sp>
      <p:sp>
        <p:nvSpPr>
          <p:cNvPr id="54" name="TextBox 53"/>
          <p:cNvSpPr txBox="1"/>
          <p:nvPr/>
        </p:nvSpPr>
        <p:spPr>
          <a:xfrm>
            <a:off x="5449824" y="3456432"/>
            <a:ext cx="1517904" cy="329184"/>
          </a:xfrm>
          <a:prstGeom prst="rect">
            <a:avLst/>
          </a:prstGeom>
          <a:noFill/>
        </p:spPr>
        <p:txBody>
          <a:bodyPr wrap="square" lIns="0" tIns="0" rIns="0" bIns="0" anchor="t">
            <a:spAutoFit/>
          </a:bodyPr>
          <a:lstStyle/>
          <a:p>
            <a:pPr algn="l"/>
            <a:r>
              <a:rPr sz="2000" b="1" i="0">
                <a:solidFill>
                  <a:srgbClr val="E8F2EA"/>
                </a:solidFill>
                <a:latin typeface="Consolas"/>
              </a:rPr>
              <a:t>365</a:t>
            </a:r>
          </a:p>
        </p:txBody>
      </p:sp>
      <p:sp>
        <p:nvSpPr>
          <p:cNvPr id="55" name="TextBox 54"/>
          <p:cNvSpPr txBox="1"/>
          <p:nvPr/>
        </p:nvSpPr>
        <p:spPr>
          <a:xfrm>
            <a:off x="5449824" y="3813048"/>
            <a:ext cx="1463040" cy="384048"/>
          </a:xfrm>
          <a:prstGeom prst="rect">
            <a:avLst/>
          </a:prstGeom>
          <a:noFill/>
        </p:spPr>
        <p:txBody>
          <a:bodyPr wrap="square" lIns="0" tIns="0" rIns="0" bIns="0" anchor="t">
            <a:spAutoFit/>
          </a:bodyPr>
          <a:lstStyle/>
          <a:p>
            <a:pPr algn="l"/>
            <a:r>
              <a:rPr sz="900" b="0" i="0">
                <a:solidFill>
                  <a:srgbClr val="93A79A"/>
                </a:solidFill>
                <a:latin typeface="Arial"/>
              </a:rPr>
              <a:t>tests in 15 files, all passing</a:t>
            </a:r>
          </a:p>
        </p:txBody>
      </p:sp>
      <p:sp>
        <p:nvSpPr>
          <p:cNvPr id="56" name="TextBox 55"/>
          <p:cNvSpPr txBox="1"/>
          <p:nvPr/>
        </p:nvSpPr>
        <p:spPr>
          <a:xfrm>
            <a:off x="7077456" y="3456432"/>
            <a:ext cx="1517904" cy="329184"/>
          </a:xfrm>
          <a:prstGeom prst="rect">
            <a:avLst/>
          </a:prstGeom>
          <a:noFill/>
        </p:spPr>
        <p:txBody>
          <a:bodyPr wrap="square" lIns="0" tIns="0" rIns="0" bIns="0" anchor="t">
            <a:spAutoFit/>
          </a:bodyPr>
          <a:lstStyle/>
          <a:p>
            <a:pPr algn="l"/>
            <a:r>
              <a:rPr sz="2000" b="1" i="0">
                <a:solidFill>
                  <a:srgbClr val="E8F2EA"/>
                </a:solidFill>
                <a:latin typeface="Consolas"/>
              </a:rPr>
              <a:t>35</a:t>
            </a:r>
          </a:p>
        </p:txBody>
      </p:sp>
      <p:sp>
        <p:nvSpPr>
          <p:cNvPr id="57" name="TextBox 56"/>
          <p:cNvSpPr txBox="1"/>
          <p:nvPr/>
        </p:nvSpPr>
        <p:spPr>
          <a:xfrm>
            <a:off x="7077456" y="3813048"/>
            <a:ext cx="1463040" cy="384048"/>
          </a:xfrm>
          <a:prstGeom prst="rect">
            <a:avLst/>
          </a:prstGeom>
          <a:noFill/>
        </p:spPr>
        <p:txBody>
          <a:bodyPr wrap="square" lIns="0" tIns="0" rIns="0" bIns="0" anchor="t">
            <a:spAutoFit/>
          </a:bodyPr>
          <a:lstStyle/>
          <a:p>
            <a:pPr algn="l"/>
            <a:r>
              <a:rPr sz="900" b="0" i="0">
                <a:solidFill>
                  <a:srgbClr val="93A79A"/>
                </a:solidFill>
                <a:latin typeface="Arial"/>
              </a:rPr>
              <a:t>validation checks</a:t>
            </a:r>
          </a:p>
        </p:txBody>
      </p:sp>
      <p:sp>
        <p:nvSpPr>
          <p:cNvPr id="58" name="TextBox 57"/>
          <p:cNvSpPr txBox="1"/>
          <p:nvPr/>
        </p:nvSpPr>
        <p:spPr>
          <a:xfrm>
            <a:off x="566928" y="4370832"/>
            <a:ext cx="8046720" cy="228600"/>
          </a:xfrm>
          <a:prstGeom prst="rect">
            <a:avLst/>
          </a:prstGeom>
          <a:noFill/>
        </p:spPr>
        <p:txBody>
          <a:bodyPr wrap="square" lIns="0" tIns="0" rIns="0" bIns="0" anchor="t">
            <a:spAutoFit/>
          </a:bodyPr>
          <a:lstStyle/>
          <a:p>
            <a:pPr algn="l"/>
            <a:r>
              <a:rPr sz="950" b="0" i="0">
                <a:solidFill>
                  <a:srgbClr val="93A79A"/>
                </a:solidFill>
                <a:latin typeface="Arial"/>
              </a:rPr>
              <a:t>Design rule: the dashboard and API contain no pricing maths. Units are fixed across engines: vega per vol point, theta per day, rho per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06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1 / MARKET_DATA</a:t>
            </a:r>
          </a:p>
        </p:txBody>
      </p:sp>
      <p:sp>
        <p:nvSpPr>
          <p:cNvPr id="7" name="Title"/>
          <p:cNvSpPr txBox="1"/>
          <p:nvPr/>
        </p:nvSpPr>
        <p:spPr>
          <a:xfrm>
            <a:off x="566928" y="530352"/>
            <a:ext cx="310896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Ten inputs.</a:t>
            </a:r>
          </a:p>
          <a:p>
            <a:pPr algn="l">
              <a:lnSpc>
                <a:spcPct val="92000"/>
              </a:lnSpc>
            </a:pPr>
            <a:r>
              <a:rPr sz="2500" b="1" i="0">
                <a:solidFill>
                  <a:srgbClr val="E8F2EA"/>
                </a:solidFill>
                <a:latin typeface="Arial"/>
              </a:rPr>
              <a:t>Each one can</a:t>
            </a:r>
          </a:p>
          <a:p>
            <a:pPr algn="l">
              <a:lnSpc>
                <a:spcPct val="92000"/>
              </a:lnSpc>
            </a:pPr>
            <a:r>
              <a:rPr sz="2500" b="1" i="0">
                <a:solidFill>
                  <a:srgbClr val="E8F2EA"/>
                </a:solidFill>
                <a:latin typeface="Arial"/>
              </a:rPr>
              <a:t>break a price.</a:t>
            </a:r>
          </a:p>
        </p:txBody>
      </p:sp>
      <p:sp>
        <p:nvSpPr>
          <p:cNvPr id="8" name="TextBox 7"/>
          <p:cNvSpPr txBox="1"/>
          <p:nvPr/>
        </p:nvSpPr>
        <p:spPr>
          <a:xfrm>
            <a:off x="3794760" y="457200"/>
            <a:ext cx="1737360" cy="274320"/>
          </a:xfrm>
          <a:prstGeom prst="rect">
            <a:avLst/>
          </a:prstGeom>
          <a:noFill/>
        </p:spPr>
        <p:txBody>
          <a:bodyPr wrap="square" lIns="0" tIns="0" rIns="0" bIns="0" anchor="ctr">
            <a:spAutoFit/>
          </a:bodyPr>
          <a:lstStyle/>
          <a:p>
            <a:pPr algn="l"/>
            <a:r>
              <a:rPr sz="1000" b="1" i="0">
                <a:solidFill>
                  <a:srgbClr val="E8F2EA"/>
                </a:solidFill>
                <a:latin typeface="Arial"/>
              </a:rPr>
              <a:t>Underlying price</a:t>
            </a:r>
          </a:p>
        </p:txBody>
      </p:sp>
      <p:sp>
        <p:nvSpPr>
          <p:cNvPr id="9" name="TextBox 8"/>
          <p:cNvSpPr txBox="1"/>
          <p:nvPr/>
        </p:nvSpPr>
        <p:spPr>
          <a:xfrm>
            <a:off x="5532120" y="457200"/>
            <a:ext cx="3291840" cy="274320"/>
          </a:xfrm>
          <a:prstGeom prst="rect">
            <a:avLst/>
          </a:prstGeom>
          <a:noFill/>
        </p:spPr>
        <p:txBody>
          <a:bodyPr wrap="square" lIns="0" tIns="0" rIns="0" bIns="0" anchor="ctr">
            <a:spAutoFit/>
          </a:bodyPr>
          <a:lstStyle/>
          <a:p>
            <a:pPr algn="l"/>
            <a:r>
              <a:rPr sz="950" b="0" i="0">
                <a:solidFill>
                  <a:srgbClr val="FFB020"/>
                </a:solidFill>
                <a:latin typeface="Consolas"/>
              </a:rPr>
              <a:t>332.89  Yahoo last price</a:t>
            </a:r>
          </a:p>
        </p:txBody>
      </p:sp>
      <p:sp>
        <p:nvSpPr>
          <p:cNvPr id="10" name="Rectangle 9"/>
          <p:cNvSpPr/>
          <p:nvPr/>
        </p:nvSpPr>
        <p:spPr>
          <a:xfrm>
            <a:off x="3794760" y="77266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94760" y="822960"/>
            <a:ext cx="1737360" cy="274320"/>
          </a:xfrm>
          <a:prstGeom prst="rect">
            <a:avLst/>
          </a:prstGeom>
          <a:noFill/>
        </p:spPr>
        <p:txBody>
          <a:bodyPr wrap="square" lIns="0" tIns="0" rIns="0" bIns="0" anchor="ctr">
            <a:spAutoFit/>
          </a:bodyPr>
          <a:lstStyle/>
          <a:p>
            <a:pPr algn="l"/>
            <a:r>
              <a:rPr sz="1000" b="1" i="0">
                <a:solidFill>
                  <a:srgbClr val="E8F2EA"/>
                </a:solidFill>
                <a:latin typeface="Arial"/>
              </a:rPr>
              <a:t>Strike · expiry</a:t>
            </a:r>
          </a:p>
        </p:txBody>
      </p:sp>
      <p:sp>
        <p:nvSpPr>
          <p:cNvPr id="12" name="TextBox 11"/>
          <p:cNvSpPr txBox="1"/>
          <p:nvPr/>
        </p:nvSpPr>
        <p:spPr>
          <a:xfrm>
            <a:off x="5532120" y="822960"/>
            <a:ext cx="3291840" cy="274320"/>
          </a:xfrm>
          <a:prstGeom prst="rect">
            <a:avLst/>
          </a:prstGeom>
          <a:noFill/>
        </p:spPr>
        <p:txBody>
          <a:bodyPr wrap="square" lIns="0" tIns="0" rIns="0" bIns="0" anchor="ctr">
            <a:spAutoFit/>
          </a:bodyPr>
          <a:lstStyle/>
          <a:p>
            <a:pPr algn="l"/>
            <a:r>
              <a:rPr sz="950" b="0" i="0">
                <a:solidFill>
                  <a:srgbClr val="FFB020"/>
                </a:solidFill>
                <a:latin typeface="Consolas"/>
              </a:rPr>
              <a:t>335 · 13-Nov-2026 (38 d, nearest to a 36-day target)</a:t>
            </a:r>
          </a:p>
        </p:txBody>
      </p:sp>
      <p:sp>
        <p:nvSpPr>
          <p:cNvPr id="13" name="Rectangle 12"/>
          <p:cNvSpPr/>
          <p:nvPr/>
        </p:nvSpPr>
        <p:spPr>
          <a:xfrm>
            <a:off x="3794760" y="113842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94760" y="1188720"/>
            <a:ext cx="1737360" cy="274320"/>
          </a:xfrm>
          <a:prstGeom prst="rect">
            <a:avLst/>
          </a:prstGeom>
          <a:noFill/>
        </p:spPr>
        <p:txBody>
          <a:bodyPr wrap="square" lIns="0" tIns="0" rIns="0" bIns="0" anchor="ctr">
            <a:spAutoFit/>
          </a:bodyPr>
          <a:lstStyle/>
          <a:p>
            <a:pPr algn="l"/>
            <a:r>
              <a:rPr sz="1000" b="1" i="0">
                <a:solidFill>
                  <a:srgbClr val="E8F2EA"/>
                </a:solidFill>
                <a:latin typeface="Arial"/>
              </a:rPr>
              <a:t>Risk-free rate</a:t>
            </a:r>
          </a:p>
        </p:txBody>
      </p:sp>
      <p:sp>
        <p:nvSpPr>
          <p:cNvPr id="15" name="TextBox 14"/>
          <p:cNvSpPr txBox="1"/>
          <p:nvPr/>
        </p:nvSpPr>
        <p:spPr>
          <a:xfrm>
            <a:off x="5532120" y="1188720"/>
            <a:ext cx="3291840" cy="274320"/>
          </a:xfrm>
          <a:prstGeom prst="rect">
            <a:avLst/>
          </a:prstGeom>
          <a:noFill/>
        </p:spPr>
        <p:txBody>
          <a:bodyPr wrap="square" lIns="0" tIns="0" rIns="0" bIns="0" anchor="ctr">
            <a:spAutoFit/>
          </a:bodyPr>
          <a:lstStyle/>
          <a:p>
            <a:pPr algn="l"/>
            <a:r>
              <a:rPr sz="950" b="0" i="0">
                <a:solidFill>
                  <a:srgbClr val="FFB020"/>
                </a:solidFill>
                <a:latin typeface="Consolas"/>
              </a:rPr>
              <a:t>4.02%  13-week T-bill (^IRX)</a:t>
            </a:r>
          </a:p>
        </p:txBody>
      </p:sp>
      <p:sp>
        <p:nvSpPr>
          <p:cNvPr id="16" name="Rectangle 15"/>
          <p:cNvSpPr/>
          <p:nvPr/>
        </p:nvSpPr>
        <p:spPr>
          <a:xfrm>
            <a:off x="3794760" y="150418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94760" y="1554480"/>
            <a:ext cx="1737360" cy="274320"/>
          </a:xfrm>
          <a:prstGeom prst="rect">
            <a:avLst/>
          </a:prstGeom>
          <a:noFill/>
        </p:spPr>
        <p:txBody>
          <a:bodyPr wrap="square" lIns="0" tIns="0" rIns="0" bIns="0" anchor="ctr">
            <a:spAutoFit/>
          </a:bodyPr>
          <a:lstStyle/>
          <a:p>
            <a:pPr algn="l"/>
            <a:r>
              <a:rPr sz="1000" b="1" i="0">
                <a:solidFill>
                  <a:srgbClr val="E8F2EA"/>
                </a:solidFill>
                <a:latin typeface="Arial"/>
              </a:rPr>
              <a:t>Dividend yield</a:t>
            </a:r>
          </a:p>
        </p:txBody>
      </p:sp>
      <p:sp>
        <p:nvSpPr>
          <p:cNvPr id="18" name="TextBox 17"/>
          <p:cNvSpPr txBox="1"/>
          <p:nvPr/>
        </p:nvSpPr>
        <p:spPr>
          <a:xfrm>
            <a:off x="5532120" y="1554480"/>
            <a:ext cx="3291840" cy="274320"/>
          </a:xfrm>
          <a:prstGeom prst="rect">
            <a:avLst/>
          </a:prstGeom>
          <a:noFill/>
        </p:spPr>
        <p:txBody>
          <a:bodyPr wrap="square" lIns="0" tIns="0" rIns="0" bIns="0" anchor="ctr">
            <a:spAutoFit/>
          </a:bodyPr>
          <a:lstStyle/>
          <a:p>
            <a:pPr algn="l"/>
            <a:r>
              <a:rPr sz="950" b="0" i="0">
                <a:solidFill>
                  <a:srgbClr val="FFB020"/>
                </a:solidFill>
                <a:latin typeface="Consolas"/>
              </a:rPr>
              <a:t>0.32%  vendor field cross-checked vs trailing 12 m (0.318%)</a:t>
            </a:r>
          </a:p>
        </p:txBody>
      </p:sp>
      <p:sp>
        <p:nvSpPr>
          <p:cNvPr id="19" name="Rectangle 18"/>
          <p:cNvSpPr/>
          <p:nvPr/>
        </p:nvSpPr>
        <p:spPr>
          <a:xfrm>
            <a:off x="3794760" y="186994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94760" y="1920240"/>
            <a:ext cx="1737360" cy="274320"/>
          </a:xfrm>
          <a:prstGeom prst="rect">
            <a:avLst/>
          </a:prstGeom>
          <a:noFill/>
        </p:spPr>
        <p:txBody>
          <a:bodyPr wrap="square" lIns="0" tIns="0" rIns="0" bIns="0" anchor="ctr">
            <a:spAutoFit/>
          </a:bodyPr>
          <a:lstStyle/>
          <a:p>
            <a:pPr algn="l"/>
            <a:r>
              <a:rPr sz="1000" b="1" i="0">
                <a:solidFill>
                  <a:srgbClr val="E8F2EA"/>
                </a:solidFill>
                <a:latin typeface="Arial"/>
              </a:rPr>
              <a:t>Implied volatility</a:t>
            </a:r>
          </a:p>
        </p:txBody>
      </p:sp>
      <p:sp>
        <p:nvSpPr>
          <p:cNvPr id="21" name="TextBox 20"/>
          <p:cNvSpPr txBox="1"/>
          <p:nvPr/>
        </p:nvSpPr>
        <p:spPr>
          <a:xfrm>
            <a:off x="5532120" y="1920240"/>
            <a:ext cx="3291840" cy="274320"/>
          </a:xfrm>
          <a:prstGeom prst="rect">
            <a:avLst/>
          </a:prstGeom>
          <a:noFill/>
        </p:spPr>
        <p:txBody>
          <a:bodyPr wrap="square" lIns="0" tIns="0" rIns="0" bIns="0" anchor="ctr">
            <a:spAutoFit/>
          </a:bodyPr>
          <a:lstStyle/>
          <a:p>
            <a:pPr algn="l"/>
            <a:r>
              <a:rPr sz="950" b="0" i="0">
                <a:solidFill>
                  <a:srgbClr val="FFB020"/>
                </a:solidFill>
                <a:latin typeface="Consolas"/>
              </a:rPr>
              <a:t>solved per strike with Brent on the mid</a:t>
            </a:r>
          </a:p>
        </p:txBody>
      </p:sp>
      <p:sp>
        <p:nvSpPr>
          <p:cNvPr id="22" name="Rectangle 21"/>
          <p:cNvSpPr/>
          <p:nvPr/>
        </p:nvSpPr>
        <p:spPr>
          <a:xfrm>
            <a:off x="3794760" y="223570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94760" y="2286000"/>
            <a:ext cx="1737360" cy="274320"/>
          </a:xfrm>
          <a:prstGeom prst="rect">
            <a:avLst/>
          </a:prstGeom>
          <a:noFill/>
        </p:spPr>
        <p:txBody>
          <a:bodyPr wrap="square" lIns="0" tIns="0" rIns="0" bIns="0" anchor="ctr">
            <a:spAutoFit/>
          </a:bodyPr>
          <a:lstStyle/>
          <a:p>
            <a:pPr algn="l"/>
            <a:r>
              <a:rPr sz="1000" b="1" i="0">
                <a:solidFill>
                  <a:srgbClr val="E8F2EA"/>
                </a:solidFill>
                <a:latin typeface="Arial"/>
              </a:rPr>
              <a:t>Realised volatility</a:t>
            </a:r>
          </a:p>
        </p:txBody>
      </p:sp>
      <p:sp>
        <p:nvSpPr>
          <p:cNvPr id="24" name="TextBox 23"/>
          <p:cNvSpPr txBox="1"/>
          <p:nvPr/>
        </p:nvSpPr>
        <p:spPr>
          <a:xfrm>
            <a:off x="5532120" y="2286000"/>
            <a:ext cx="3291840" cy="274320"/>
          </a:xfrm>
          <a:prstGeom prst="rect">
            <a:avLst/>
          </a:prstGeom>
          <a:noFill/>
        </p:spPr>
        <p:txBody>
          <a:bodyPr wrap="square" lIns="0" tIns="0" rIns="0" bIns="0" anchor="ctr">
            <a:spAutoFit/>
          </a:bodyPr>
          <a:lstStyle/>
          <a:p>
            <a:pPr algn="l"/>
            <a:r>
              <a:rPr sz="950" b="0" i="0">
                <a:solidFill>
                  <a:srgbClr val="FFB020"/>
                </a:solidFill>
                <a:latin typeface="Consolas"/>
              </a:rPr>
              <a:t>24.8%  from 251 daily closes</a:t>
            </a:r>
          </a:p>
        </p:txBody>
      </p:sp>
      <p:sp>
        <p:nvSpPr>
          <p:cNvPr id="25" name="Rectangle 24"/>
          <p:cNvSpPr/>
          <p:nvPr/>
        </p:nvSpPr>
        <p:spPr>
          <a:xfrm>
            <a:off x="3794760" y="260146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94760" y="2651760"/>
            <a:ext cx="1737360" cy="274320"/>
          </a:xfrm>
          <a:prstGeom prst="rect">
            <a:avLst/>
          </a:prstGeom>
          <a:noFill/>
        </p:spPr>
        <p:txBody>
          <a:bodyPr wrap="square" lIns="0" tIns="0" rIns="0" bIns="0" anchor="ctr">
            <a:spAutoFit/>
          </a:bodyPr>
          <a:lstStyle/>
          <a:p>
            <a:pPr algn="l"/>
            <a:r>
              <a:rPr sz="1000" b="1" i="0">
                <a:solidFill>
                  <a:srgbClr val="E8F2EA"/>
                </a:solidFill>
                <a:latin typeface="Arial"/>
              </a:rPr>
              <a:t>Market option price</a:t>
            </a:r>
          </a:p>
        </p:txBody>
      </p:sp>
      <p:sp>
        <p:nvSpPr>
          <p:cNvPr id="27" name="TextBox 26"/>
          <p:cNvSpPr txBox="1"/>
          <p:nvPr/>
        </p:nvSpPr>
        <p:spPr>
          <a:xfrm>
            <a:off x="5532120" y="2651760"/>
            <a:ext cx="3291840" cy="274320"/>
          </a:xfrm>
          <a:prstGeom prst="rect">
            <a:avLst/>
          </a:prstGeom>
          <a:noFill/>
        </p:spPr>
        <p:txBody>
          <a:bodyPr wrap="square" lIns="0" tIns="0" rIns="0" bIns="0" anchor="ctr">
            <a:spAutoFit/>
          </a:bodyPr>
          <a:lstStyle/>
          <a:p>
            <a:pPr algn="l"/>
            <a:r>
              <a:rPr sz="950" b="0" i="0">
                <a:solidFill>
                  <a:srgbClr val="FFB020"/>
                </a:solidFill>
                <a:latin typeface="Consolas"/>
              </a:rPr>
              <a:t>mid of bid/ask; last trade only if no bid</a:t>
            </a:r>
          </a:p>
        </p:txBody>
      </p:sp>
      <p:sp>
        <p:nvSpPr>
          <p:cNvPr id="28" name="Rectangle 27"/>
          <p:cNvSpPr/>
          <p:nvPr/>
        </p:nvSpPr>
        <p:spPr>
          <a:xfrm>
            <a:off x="3794760" y="296722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794760" y="3017520"/>
            <a:ext cx="1737360" cy="274320"/>
          </a:xfrm>
          <a:prstGeom prst="rect">
            <a:avLst/>
          </a:prstGeom>
          <a:noFill/>
        </p:spPr>
        <p:txBody>
          <a:bodyPr wrap="square" lIns="0" tIns="0" rIns="0" bIns="0" anchor="ctr">
            <a:spAutoFit/>
          </a:bodyPr>
          <a:lstStyle/>
          <a:p>
            <a:pPr algn="l"/>
            <a:r>
              <a:rPr sz="1000" b="1" i="0">
                <a:solidFill>
                  <a:srgbClr val="E8F2EA"/>
                </a:solidFill>
                <a:latin typeface="Arial"/>
              </a:rPr>
              <a:t>Bid-ask spread</a:t>
            </a:r>
          </a:p>
        </p:txBody>
      </p:sp>
      <p:sp>
        <p:nvSpPr>
          <p:cNvPr id="30" name="TextBox 29"/>
          <p:cNvSpPr txBox="1"/>
          <p:nvPr/>
        </p:nvSpPr>
        <p:spPr>
          <a:xfrm>
            <a:off x="5532120" y="3017520"/>
            <a:ext cx="3291840" cy="274320"/>
          </a:xfrm>
          <a:prstGeom prst="rect">
            <a:avLst/>
          </a:prstGeom>
          <a:noFill/>
        </p:spPr>
        <p:txBody>
          <a:bodyPr wrap="square" lIns="0" tIns="0" rIns="0" bIns="0" anchor="ctr">
            <a:spAutoFit/>
          </a:bodyPr>
          <a:lstStyle/>
          <a:p>
            <a:pPr algn="l"/>
            <a:r>
              <a:rPr sz="950" b="0" i="0">
                <a:solidFill>
                  <a:srgbClr val="FFB020"/>
                </a:solidFill>
                <a:latin typeface="Consolas"/>
              </a:rPr>
              <a:t>kept if ≤ 15% of mid</a:t>
            </a:r>
          </a:p>
        </p:txBody>
      </p:sp>
      <p:sp>
        <p:nvSpPr>
          <p:cNvPr id="31" name="Rectangle 30"/>
          <p:cNvSpPr/>
          <p:nvPr/>
        </p:nvSpPr>
        <p:spPr>
          <a:xfrm>
            <a:off x="3794760" y="333298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94760" y="3383280"/>
            <a:ext cx="1737360" cy="274320"/>
          </a:xfrm>
          <a:prstGeom prst="rect">
            <a:avLst/>
          </a:prstGeom>
          <a:noFill/>
        </p:spPr>
        <p:txBody>
          <a:bodyPr wrap="square" lIns="0" tIns="0" rIns="0" bIns="0" anchor="ctr">
            <a:spAutoFit/>
          </a:bodyPr>
          <a:lstStyle/>
          <a:p>
            <a:pPr algn="l"/>
            <a:r>
              <a:rPr sz="1000" b="1" i="0">
                <a:solidFill>
                  <a:srgbClr val="E8F2EA"/>
                </a:solidFill>
                <a:latin typeface="Arial"/>
              </a:rPr>
              <a:t>Volume · open interest</a:t>
            </a:r>
          </a:p>
        </p:txBody>
      </p:sp>
      <p:sp>
        <p:nvSpPr>
          <p:cNvPr id="33" name="TextBox 32"/>
          <p:cNvSpPr txBox="1"/>
          <p:nvPr/>
        </p:nvSpPr>
        <p:spPr>
          <a:xfrm>
            <a:off x="5532120" y="3383280"/>
            <a:ext cx="3291840" cy="274320"/>
          </a:xfrm>
          <a:prstGeom prst="rect">
            <a:avLst/>
          </a:prstGeom>
          <a:noFill/>
        </p:spPr>
        <p:txBody>
          <a:bodyPr wrap="square" lIns="0" tIns="0" rIns="0" bIns="0" anchor="ctr">
            <a:spAutoFit/>
          </a:bodyPr>
          <a:lstStyle/>
          <a:p>
            <a:pPr algn="l"/>
            <a:r>
              <a:rPr sz="950" b="0" i="0">
                <a:solidFill>
                  <a:srgbClr val="FFB020"/>
                </a:solidFill>
                <a:latin typeface="Consolas"/>
              </a:rPr>
              <a:t>kept if volume ≥ 5 and OI ≥ 20</a:t>
            </a:r>
          </a:p>
        </p:txBody>
      </p:sp>
      <p:sp>
        <p:nvSpPr>
          <p:cNvPr id="34" name="Rectangle 33"/>
          <p:cNvSpPr/>
          <p:nvPr/>
        </p:nvSpPr>
        <p:spPr>
          <a:xfrm>
            <a:off x="3794760" y="3698748"/>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794760" y="3749039"/>
            <a:ext cx="1737360" cy="274320"/>
          </a:xfrm>
          <a:prstGeom prst="rect">
            <a:avLst/>
          </a:prstGeom>
          <a:noFill/>
        </p:spPr>
        <p:txBody>
          <a:bodyPr wrap="square" lIns="0" tIns="0" rIns="0" bIns="0" anchor="ctr">
            <a:spAutoFit/>
          </a:bodyPr>
          <a:lstStyle/>
          <a:p>
            <a:pPr algn="l"/>
            <a:r>
              <a:rPr sz="1000" b="1" i="0">
                <a:solidFill>
                  <a:srgbClr val="E8F2EA"/>
                </a:solidFill>
                <a:latin typeface="Arial"/>
              </a:rPr>
              <a:t>Sanity filters</a:t>
            </a:r>
          </a:p>
        </p:txBody>
      </p:sp>
      <p:sp>
        <p:nvSpPr>
          <p:cNvPr id="36" name="TextBox 35"/>
          <p:cNvSpPr txBox="1"/>
          <p:nvPr/>
        </p:nvSpPr>
        <p:spPr>
          <a:xfrm>
            <a:off x="5532120" y="3749039"/>
            <a:ext cx="3291840" cy="274320"/>
          </a:xfrm>
          <a:prstGeom prst="rect">
            <a:avLst/>
          </a:prstGeom>
          <a:noFill/>
        </p:spPr>
        <p:txBody>
          <a:bodyPr wrap="square" lIns="0" tIns="0" rIns="0" bIns="0" anchor="ctr">
            <a:spAutoFit/>
          </a:bodyPr>
          <a:lstStyle/>
          <a:p>
            <a:pPr algn="l"/>
            <a:r>
              <a:rPr sz="950" b="0" i="0">
                <a:solidFill>
                  <a:srgbClr val="FFB020"/>
                </a:solidFill>
                <a:latin typeface="Consolas"/>
              </a:rPr>
              <a:t>moneyness 60–140%, inside no-arbitrage bounds</a:t>
            </a:r>
          </a:p>
        </p:txBody>
      </p:sp>
      <p:sp>
        <p:nvSpPr>
          <p:cNvPr id="37" name="Rectangle 36"/>
          <p:cNvSpPr/>
          <p:nvPr/>
        </p:nvSpPr>
        <p:spPr>
          <a:xfrm>
            <a:off x="3794760" y="4064507"/>
            <a:ext cx="5029200" cy="7315"/>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6928" y="2148840"/>
            <a:ext cx="3017520" cy="457200"/>
          </a:xfrm>
          <a:prstGeom prst="rect">
            <a:avLst/>
          </a:prstGeom>
          <a:noFill/>
        </p:spPr>
        <p:txBody>
          <a:bodyPr wrap="square" lIns="0" tIns="0" rIns="0" bIns="0" anchor="t">
            <a:spAutoFit/>
          </a:bodyPr>
          <a:lstStyle/>
          <a:p>
            <a:pPr algn="l">
              <a:spcAft>
                <a:spcPts val="400"/>
              </a:spcAft>
            </a:pPr>
            <a:r>
              <a:rPr sz="900" b="1" i="0">
                <a:solidFill>
                  <a:srgbClr val="3DDC84"/>
                </a:solidFill>
                <a:latin typeface="Consolas"/>
              </a:rPr>
              <a:t>Source  </a:t>
            </a:r>
            <a:r>
              <a:rPr sz="1000" b="0" i="0">
                <a:solidFill>
                  <a:srgbClr val="E8F2EA"/>
                </a:solidFill>
                <a:latin typeface="Arial"/>
              </a:rPr>
              <a:t>Yahoo Finance (yfinance)</a:t>
            </a:r>
          </a:p>
          <a:p>
            <a:pPr algn="l">
              <a:spcAft>
                <a:spcPts val="400"/>
              </a:spcAft>
            </a:pPr>
            <a:r>
              <a:rPr sz="900" b="1" i="0">
                <a:solidFill>
                  <a:srgbClr val="3DDC84"/>
                </a:solidFill>
                <a:latin typeface="Consolas"/>
              </a:rPr>
              <a:t>Snapshot  </a:t>
            </a:r>
            <a:r>
              <a:rPr sz="1000" b="0" i="0">
                <a:solidFill>
                  <a:srgbClr val="E8F2EA"/>
                </a:solidFill>
                <a:latin typeface="Arial"/>
              </a:rPr>
              <a:t>AAPL · 06-Oct-2026 · 53 raw quotes</a:t>
            </a:r>
          </a:p>
        </p:txBody>
      </p:sp>
      <p:sp>
        <p:nvSpPr>
          <p:cNvPr id="39" name="Rectangle 38"/>
          <p:cNvSpPr/>
          <p:nvPr/>
        </p:nvSpPr>
        <p:spPr>
          <a:xfrm>
            <a:off x="566928" y="2834640"/>
            <a:ext cx="2926080" cy="16002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04088" y="2926080"/>
            <a:ext cx="2651760" cy="182880"/>
          </a:xfrm>
          <a:prstGeom prst="rect">
            <a:avLst/>
          </a:prstGeom>
          <a:noFill/>
        </p:spPr>
        <p:txBody>
          <a:bodyPr wrap="square" lIns="0" tIns="0" rIns="0" bIns="0" anchor="t">
            <a:spAutoFit/>
          </a:bodyPr>
          <a:lstStyle/>
          <a:p>
            <a:pPr algn="l"/>
            <a:r>
              <a:rPr sz="800" b="1" i="0">
                <a:solidFill>
                  <a:srgbClr val="FFB020"/>
                </a:solidFill>
                <a:latin typeface="Consolas"/>
              </a:rPr>
              <a:t>INSIGHT</a:t>
            </a:r>
          </a:p>
        </p:txBody>
      </p:sp>
      <p:sp>
        <p:nvSpPr>
          <p:cNvPr id="41" name="TextBox 40"/>
          <p:cNvSpPr txBox="1"/>
          <p:nvPr/>
        </p:nvSpPr>
        <p:spPr>
          <a:xfrm>
            <a:off x="704088" y="3154680"/>
            <a:ext cx="2651760" cy="1188720"/>
          </a:xfrm>
          <a:prstGeom prst="rect">
            <a:avLst/>
          </a:prstGeom>
          <a:noFill/>
        </p:spPr>
        <p:txBody>
          <a:bodyPr wrap="square" lIns="0" tIns="0" rIns="0" bIns="0" anchor="t">
            <a:spAutoFit/>
          </a:bodyPr>
          <a:lstStyle/>
          <a:p>
            <a:pPr algn="l">
              <a:lnSpc>
                <a:spcPct val="105000"/>
              </a:lnSpc>
            </a:pPr>
            <a:r>
              <a:rPr sz="1000" b="0" i="0">
                <a:solidFill>
                  <a:srgbClr val="E8F2EA"/>
                </a:solidFill>
                <a:latin typeface="Arial"/>
              </a:rPr>
              <a:t>Outside US hours Yahoo reported open interest of 0 on all 53 rows, so the liquidity filter kept none. A filter is only as good as the hour the data was pulled.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07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3 / CLOSED_FORM</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Closed form: the benchmark</a:t>
            </a:r>
          </a:p>
          <a:p>
            <a:pPr algn="l">
              <a:lnSpc>
                <a:spcPct val="92000"/>
              </a:lnSpc>
            </a:pPr>
            <a:r>
              <a:rPr sz="2500" b="1" i="0">
                <a:solidFill>
                  <a:srgbClr val="E8F2EA"/>
                </a:solidFill>
                <a:latin typeface="Arial"/>
              </a:rPr>
              <a:t>every other engine must match.</a:t>
            </a:r>
          </a:p>
        </p:txBody>
      </p:sp>
      <p:sp>
        <p:nvSpPr>
          <p:cNvPr id="8" name="Rectangle 7"/>
          <p:cNvSpPr/>
          <p:nvPr/>
        </p:nvSpPr>
        <p:spPr>
          <a:xfrm>
            <a:off x="566928" y="1691640"/>
            <a:ext cx="3794760" cy="102412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773936"/>
            <a:ext cx="3474720" cy="182880"/>
          </a:xfrm>
          <a:prstGeom prst="rect">
            <a:avLst/>
          </a:prstGeom>
          <a:noFill/>
        </p:spPr>
        <p:txBody>
          <a:bodyPr wrap="square" lIns="0" tIns="0" rIns="0" bIns="0" anchor="t">
            <a:spAutoFit/>
          </a:bodyPr>
          <a:lstStyle/>
          <a:p>
            <a:pPr algn="l"/>
            <a:r>
              <a:rPr sz="800" b="1" i="0">
                <a:solidFill>
                  <a:srgbClr val="3DDC84"/>
                </a:solidFill>
                <a:latin typeface="Consolas"/>
              </a:rPr>
              <a:t>BLACK-SCHOLES-MERTON</a:t>
            </a:r>
          </a:p>
        </p:txBody>
      </p:sp>
      <p:sp>
        <p:nvSpPr>
          <p:cNvPr id="10" name="TextBox 9"/>
          <p:cNvSpPr txBox="1"/>
          <p:nvPr/>
        </p:nvSpPr>
        <p:spPr>
          <a:xfrm>
            <a:off x="704088" y="2011680"/>
            <a:ext cx="3566160" cy="256032"/>
          </a:xfrm>
          <a:prstGeom prst="rect">
            <a:avLst/>
          </a:prstGeom>
          <a:noFill/>
        </p:spPr>
        <p:txBody>
          <a:bodyPr wrap="square" lIns="0" tIns="0" rIns="0" bIns="0" anchor="t">
            <a:spAutoFit/>
          </a:bodyPr>
          <a:lstStyle/>
          <a:p>
            <a:pPr algn="l"/>
            <a:r>
              <a:rPr sz="1200" b="1" i="0">
                <a:solidFill>
                  <a:srgbClr val="E8F2EA"/>
                </a:solidFill>
                <a:latin typeface="Consolas"/>
              </a:rPr>
              <a:t>C = S·e^(−qT)·N(d₁) − K·e^(−rT)·N(d₂)</a:t>
            </a:r>
          </a:p>
        </p:txBody>
      </p:sp>
      <p:sp>
        <p:nvSpPr>
          <p:cNvPr id="11" name="TextBox 10"/>
          <p:cNvSpPr txBox="1"/>
          <p:nvPr/>
        </p:nvSpPr>
        <p:spPr>
          <a:xfrm>
            <a:off x="704088" y="2331720"/>
            <a:ext cx="3566160" cy="274320"/>
          </a:xfrm>
          <a:prstGeom prst="rect">
            <a:avLst/>
          </a:prstGeom>
          <a:noFill/>
        </p:spPr>
        <p:txBody>
          <a:bodyPr wrap="square" lIns="0" tIns="0" rIns="0" bIns="0" anchor="t">
            <a:spAutoFit/>
          </a:bodyPr>
          <a:lstStyle/>
          <a:p>
            <a:pPr algn="l"/>
            <a:r>
              <a:rPr sz="850" b="0" i="0">
                <a:solidFill>
                  <a:srgbClr val="93A79A"/>
                </a:solidFill>
                <a:latin typeface="Consolas"/>
              </a:rPr>
              <a:t>d₁ = [ln(S/K)+(r−q+½σ²)T] / σ√T      d₂ = d₁ − σ√T</a:t>
            </a:r>
          </a:p>
        </p:txBody>
      </p:sp>
      <p:sp>
        <p:nvSpPr>
          <p:cNvPr id="12" name="Rectangle 11"/>
          <p:cNvSpPr/>
          <p:nvPr/>
        </p:nvSpPr>
        <p:spPr>
          <a:xfrm>
            <a:off x="566928" y="2834640"/>
            <a:ext cx="886968" cy="65836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 y="2898648"/>
            <a:ext cx="777240" cy="164592"/>
          </a:xfrm>
          <a:prstGeom prst="rect">
            <a:avLst/>
          </a:prstGeom>
          <a:noFill/>
        </p:spPr>
        <p:txBody>
          <a:bodyPr wrap="square" lIns="0" tIns="0" rIns="0" bIns="0" anchor="t">
            <a:spAutoFit/>
          </a:bodyPr>
          <a:lstStyle/>
          <a:p>
            <a:pPr algn="l"/>
            <a:r>
              <a:rPr sz="750" b="1" i="0">
                <a:solidFill>
                  <a:srgbClr val="93A79A"/>
                </a:solidFill>
                <a:latin typeface="Consolas"/>
              </a:rPr>
              <a:t>CALL</a:t>
            </a:r>
          </a:p>
        </p:txBody>
      </p:sp>
      <p:sp>
        <p:nvSpPr>
          <p:cNvPr id="14" name="TextBox 13"/>
          <p:cNvSpPr txBox="1"/>
          <p:nvPr/>
        </p:nvSpPr>
        <p:spPr>
          <a:xfrm>
            <a:off x="649224" y="3108960"/>
            <a:ext cx="777240" cy="274320"/>
          </a:xfrm>
          <a:prstGeom prst="rect">
            <a:avLst/>
          </a:prstGeom>
          <a:noFill/>
        </p:spPr>
        <p:txBody>
          <a:bodyPr wrap="square" lIns="0" tIns="0" rIns="0" bIns="0" anchor="t">
            <a:spAutoFit/>
          </a:bodyPr>
          <a:lstStyle/>
          <a:p>
            <a:pPr algn="l"/>
            <a:r>
              <a:rPr sz="1200" b="1" i="0">
                <a:solidFill>
                  <a:srgbClr val="3DDC84"/>
                </a:solidFill>
                <a:latin typeface="Consolas"/>
              </a:rPr>
              <a:t>10.4506</a:t>
            </a:r>
          </a:p>
        </p:txBody>
      </p:sp>
      <p:sp>
        <p:nvSpPr>
          <p:cNvPr id="15" name="Rectangle 14"/>
          <p:cNvSpPr/>
          <p:nvPr/>
        </p:nvSpPr>
        <p:spPr>
          <a:xfrm>
            <a:off x="1536192" y="2834640"/>
            <a:ext cx="886968" cy="65836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18488" y="2898648"/>
            <a:ext cx="777240" cy="164592"/>
          </a:xfrm>
          <a:prstGeom prst="rect">
            <a:avLst/>
          </a:prstGeom>
          <a:noFill/>
        </p:spPr>
        <p:txBody>
          <a:bodyPr wrap="square" lIns="0" tIns="0" rIns="0" bIns="0" anchor="t">
            <a:spAutoFit/>
          </a:bodyPr>
          <a:lstStyle/>
          <a:p>
            <a:pPr algn="l"/>
            <a:r>
              <a:rPr sz="750" b="1" i="0">
                <a:solidFill>
                  <a:srgbClr val="93A79A"/>
                </a:solidFill>
                <a:latin typeface="Consolas"/>
              </a:rPr>
              <a:t>PUT</a:t>
            </a:r>
          </a:p>
        </p:txBody>
      </p:sp>
      <p:sp>
        <p:nvSpPr>
          <p:cNvPr id="17" name="TextBox 16"/>
          <p:cNvSpPr txBox="1"/>
          <p:nvPr/>
        </p:nvSpPr>
        <p:spPr>
          <a:xfrm>
            <a:off x="1618488" y="3108960"/>
            <a:ext cx="777240" cy="274320"/>
          </a:xfrm>
          <a:prstGeom prst="rect">
            <a:avLst/>
          </a:prstGeom>
          <a:noFill/>
        </p:spPr>
        <p:txBody>
          <a:bodyPr wrap="square" lIns="0" tIns="0" rIns="0" bIns="0" anchor="t">
            <a:spAutoFit/>
          </a:bodyPr>
          <a:lstStyle/>
          <a:p>
            <a:pPr algn="l"/>
            <a:r>
              <a:rPr sz="1200" b="1" i="0">
                <a:solidFill>
                  <a:srgbClr val="E8F2EA"/>
                </a:solidFill>
                <a:latin typeface="Consolas"/>
              </a:rPr>
              <a:t>5.5735</a:t>
            </a:r>
          </a:p>
        </p:txBody>
      </p:sp>
      <p:sp>
        <p:nvSpPr>
          <p:cNvPr id="18" name="Rectangle 17"/>
          <p:cNvSpPr/>
          <p:nvPr/>
        </p:nvSpPr>
        <p:spPr>
          <a:xfrm>
            <a:off x="2505456" y="2834640"/>
            <a:ext cx="886968" cy="65836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87752" y="2898648"/>
            <a:ext cx="777240" cy="164592"/>
          </a:xfrm>
          <a:prstGeom prst="rect">
            <a:avLst/>
          </a:prstGeom>
          <a:noFill/>
        </p:spPr>
        <p:txBody>
          <a:bodyPr wrap="square" lIns="0" tIns="0" rIns="0" bIns="0" anchor="t">
            <a:spAutoFit/>
          </a:bodyPr>
          <a:lstStyle/>
          <a:p>
            <a:pPr algn="l"/>
            <a:r>
              <a:rPr sz="750" b="1" i="0">
                <a:solidFill>
                  <a:srgbClr val="93A79A"/>
                </a:solidFill>
                <a:latin typeface="Consolas"/>
              </a:rPr>
              <a:t>PARITY</a:t>
            </a:r>
          </a:p>
        </p:txBody>
      </p:sp>
      <p:sp>
        <p:nvSpPr>
          <p:cNvPr id="20" name="TextBox 19"/>
          <p:cNvSpPr txBox="1"/>
          <p:nvPr/>
        </p:nvSpPr>
        <p:spPr>
          <a:xfrm>
            <a:off x="2587752" y="3108960"/>
            <a:ext cx="777240" cy="274320"/>
          </a:xfrm>
          <a:prstGeom prst="rect">
            <a:avLst/>
          </a:prstGeom>
          <a:noFill/>
        </p:spPr>
        <p:txBody>
          <a:bodyPr wrap="square" lIns="0" tIns="0" rIns="0" bIns="0" anchor="t">
            <a:spAutoFit/>
          </a:bodyPr>
          <a:lstStyle/>
          <a:p>
            <a:pPr algn="l"/>
            <a:r>
              <a:rPr sz="1200" b="1" i="0">
                <a:solidFill>
                  <a:srgbClr val="E8F2EA"/>
                </a:solidFill>
                <a:latin typeface="Consolas"/>
              </a:rPr>
              <a:t>exact</a:t>
            </a:r>
          </a:p>
        </p:txBody>
      </p:sp>
      <p:sp>
        <p:nvSpPr>
          <p:cNvPr id="21" name="Rectangle 20"/>
          <p:cNvSpPr/>
          <p:nvPr/>
        </p:nvSpPr>
        <p:spPr>
          <a:xfrm>
            <a:off x="3474720" y="2834640"/>
            <a:ext cx="886968" cy="65836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57016" y="2898648"/>
            <a:ext cx="777240" cy="164592"/>
          </a:xfrm>
          <a:prstGeom prst="rect">
            <a:avLst/>
          </a:prstGeom>
          <a:noFill/>
        </p:spPr>
        <p:txBody>
          <a:bodyPr wrap="square" lIns="0" tIns="0" rIns="0" bIns="0" anchor="t">
            <a:spAutoFit/>
          </a:bodyPr>
          <a:lstStyle/>
          <a:p>
            <a:pPr algn="l"/>
            <a:r>
              <a:rPr sz="750" b="1" i="0">
                <a:solidFill>
                  <a:srgbClr val="93A79A"/>
                </a:solidFill>
                <a:latin typeface="Consolas"/>
              </a:rPr>
              <a:t>IV(11.00)</a:t>
            </a:r>
          </a:p>
        </p:txBody>
      </p:sp>
      <p:sp>
        <p:nvSpPr>
          <p:cNvPr id="23" name="TextBox 22"/>
          <p:cNvSpPr txBox="1"/>
          <p:nvPr/>
        </p:nvSpPr>
        <p:spPr>
          <a:xfrm>
            <a:off x="3557016" y="3108960"/>
            <a:ext cx="777240" cy="274320"/>
          </a:xfrm>
          <a:prstGeom prst="rect">
            <a:avLst/>
          </a:prstGeom>
          <a:noFill/>
        </p:spPr>
        <p:txBody>
          <a:bodyPr wrap="square" lIns="0" tIns="0" rIns="0" bIns="0" anchor="t">
            <a:spAutoFit/>
          </a:bodyPr>
          <a:lstStyle/>
          <a:p>
            <a:pPr algn="l"/>
            <a:r>
              <a:rPr sz="1200" b="1" i="0">
                <a:solidFill>
                  <a:srgbClr val="E8F2EA"/>
                </a:solidFill>
                <a:latin typeface="Consolas"/>
              </a:rPr>
              <a:t>21.46%</a:t>
            </a:r>
          </a:p>
        </p:txBody>
      </p:sp>
      <p:sp>
        <p:nvSpPr>
          <p:cNvPr id="24" name="TextBox 23"/>
          <p:cNvSpPr txBox="1"/>
          <p:nvPr/>
        </p:nvSpPr>
        <p:spPr>
          <a:xfrm>
            <a:off x="566928" y="3639312"/>
            <a:ext cx="3794760" cy="1097280"/>
          </a:xfrm>
          <a:prstGeom prst="rect">
            <a:avLst/>
          </a:prstGeom>
          <a:noFill/>
        </p:spPr>
        <p:txBody>
          <a:bodyPr wrap="square" lIns="0" tIns="0" rIns="0" bIns="0" anchor="t">
            <a:spAutoFit/>
          </a:bodyPr>
          <a:lstStyle/>
          <a:p>
            <a:pPr marL="155448" indent="-155448" algn="l">
              <a:spcAft>
                <a:spcPts val="400"/>
              </a:spcAft>
              <a:buClr>
                <a:srgbClr val="3DDC84"/>
              </a:buClr>
              <a:buFont typeface="Arial"/>
              <a:buChar char="▪"/>
            </a:pPr>
            <a:r>
              <a:rPr sz="1000" b="0" i="0">
                <a:solidFill>
                  <a:srgbClr val="E8F2EA"/>
                </a:solidFill>
                <a:latin typeface="Arial"/>
              </a:rPr>
              <a:t>Vectorised precomputation: all six outputs share the same normal evaluations.</a:t>
            </a:r>
          </a:p>
          <a:p>
            <a:pPr marL="155448" indent="-155448" algn="l">
              <a:spcAft>
                <a:spcPts val="400"/>
              </a:spcAft>
              <a:buClr>
                <a:srgbClr val="3DDC84"/>
              </a:buClr>
              <a:buFont typeface="Arial"/>
              <a:buChar char="▪"/>
            </a:pPr>
            <a:r>
              <a:rPr sz="1000" b="0" i="0">
                <a:solidFill>
                  <a:srgbClr val="E8F2EA"/>
                </a:solidFill>
                <a:latin typeface="Arial"/>
              </a:rPr>
              <a:t>Zero volatility is handled explicitly instead of silently defaulting to 20%.</a:t>
            </a:r>
          </a:p>
          <a:p>
            <a:pPr marL="155448" indent="-155448" algn="l">
              <a:spcAft>
                <a:spcPts val="400"/>
              </a:spcAft>
              <a:buClr>
                <a:srgbClr val="3DDC84"/>
              </a:buClr>
              <a:buFont typeface="Arial"/>
              <a:buChar char="▪"/>
            </a:pPr>
            <a:r>
              <a:rPr sz="1000" b="0" i="0">
                <a:solidFill>
                  <a:srgbClr val="E8F2EA"/>
                </a:solidFill>
                <a:latin typeface="Arial"/>
              </a:rPr>
              <a:t>The implied-vol solver returns no value for a price outside no-arbitrage bounds.</a:t>
            </a:r>
          </a:p>
        </p:txBody>
      </p:sp>
      <p:sp>
        <p:nvSpPr>
          <p:cNvPr id="25" name="Rectangle 24"/>
          <p:cNvSpPr/>
          <p:nvPr/>
        </p:nvSpPr>
        <p:spPr>
          <a:xfrm>
            <a:off x="4572000" y="1691640"/>
            <a:ext cx="4160520" cy="29718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09160" y="1773936"/>
            <a:ext cx="3886200" cy="182880"/>
          </a:xfrm>
          <a:prstGeom prst="rect">
            <a:avLst/>
          </a:prstGeom>
          <a:noFill/>
        </p:spPr>
        <p:txBody>
          <a:bodyPr wrap="square" lIns="0" tIns="0" rIns="0" bIns="0" anchor="t">
            <a:spAutoFit/>
          </a:bodyPr>
          <a:lstStyle/>
          <a:p>
            <a:pPr algn="l"/>
            <a:r>
              <a:rPr sz="900" b="1" i="0">
                <a:solidFill>
                  <a:srgbClr val="E8F2EA"/>
                </a:solidFill>
                <a:latin typeface="Consolas"/>
              </a:rPr>
              <a:t>CALL VALUE vs SPOT</a:t>
            </a:r>
          </a:p>
        </p:txBody>
      </p:sp>
      <p:graphicFrame>
        <p:nvGraphicFramePr>
          <p:cNvPr id="27" name="Chart 26"/>
          <p:cNvGraphicFramePr>
            <a:graphicFrameLocks noGrp="1"/>
          </p:cNvGraphicFramePr>
          <p:nvPr/>
        </p:nvGraphicFramePr>
        <p:xfrm>
          <a:off x="4626864" y="1984248"/>
          <a:ext cx="4032504"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Box 27"/>
          <p:cNvSpPr txBox="1"/>
          <p:nvPr/>
        </p:nvSpPr>
        <p:spPr>
          <a:xfrm>
            <a:off x="4709160" y="4334255"/>
            <a:ext cx="3886200" cy="274320"/>
          </a:xfrm>
          <a:prstGeom prst="rect">
            <a:avLst/>
          </a:prstGeom>
          <a:noFill/>
        </p:spPr>
        <p:txBody>
          <a:bodyPr wrap="square" lIns="0" tIns="0" rIns="0" bIns="0" anchor="t">
            <a:spAutoFit/>
          </a:bodyPr>
          <a:lstStyle/>
          <a:p>
            <a:pPr algn="l"/>
            <a:r>
              <a:rPr sz="900" b="0" i="0">
                <a:solidFill>
                  <a:srgbClr val="93A79A"/>
                </a:solidFill>
                <a:latin typeface="Arial"/>
              </a:rPr>
              <a:t>Time value is widest at the strike and decays toward intrinsic.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08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3 / GREEK_PROFILES</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Gamma concentrates at the</a:t>
            </a:r>
          </a:p>
          <a:p>
            <a:pPr algn="l">
              <a:lnSpc>
                <a:spcPct val="92000"/>
              </a:lnSpc>
            </a:pPr>
            <a:r>
              <a:rPr sz="2500" b="1" i="0">
                <a:solidFill>
                  <a:srgbClr val="E8F2EA"/>
                </a:solidFill>
                <a:latin typeface="Arial"/>
              </a:rPr>
              <a:t>strike as expiry approaches.</a:t>
            </a:r>
          </a:p>
        </p:txBody>
      </p:sp>
      <p:sp>
        <p:nvSpPr>
          <p:cNvPr id="8" name="Rectangle 7"/>
          <p:cNvSpPr/>
          <p:nvPr/>
        </p:nvSpPr>
        <p:spPr>
          <a:xfrm>
            <a:off x="566928" y="1691640"/>
            <a:ext cx="3977639" cy="239572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773936"/>
            <a:ext cx="3703320" cy="182880"/>
          </a:xfrm>
          <a:prstGeom prst="rect">
            <a:avLst/>
          </a:prstGeom>
          <a:noFill/>
        </p:spPr>
        <p:txBody>
          <a:bodyPr wrap="square" lIns="0" tIns="0" rIns="0" bIns="0" anchor="t">
            <a:spAutoFit/>
          </a:bodyPr>
          <a:lstStyle/>
          <a:p>
            <a:pPr algn="l"/>
            <a:r>
              <a:rPr sz="900" b="1" i="0">
                <a:solidFill>
                  <a:srgbClr val="E8F2EA"/>
                </a:solidFill>
                <a:latin typeface="Consolas"/>
              </a:rPr>
              <a:t>DELTA vs SPOT</a:t>
            </a:r>
          </a:p>
        </p:txBody>
      </p:sp>
      <p:graphicFrame>
        <p:nvGraphicFramePr>
          <p:cNvPr id="10" name="Chart 9"/>
          <p:cNvGraphicFramePr>
            <a:graphicFrameLocks noGrp="1"/>
          </p:cNvGraphicFramePr>
          <p:nvPr/>
        </p:nvGraphicFramePr>
        <p:xfrm>
          <a:off x="621792" y="1984248"/>
          <a:ext cx="3849624" cy="2066544"/>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4754880" y="1691640"/>
            <a:ext cx="3977639" cy="239572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773936"/>
            <a:ext cx="3703320" cy="182880"/>
          </a:xfrm>
          <a:prstGeom prst="rect">
            <a:avLst/>
          </a:prstGeom>
          <a:noFill/>
        </p:spPr>
        <p:txBody>
          <a:bodyPr wrap="square" lIns="0" tIns="0" rIns="0" bIns="0" anchor="t">
            <a:spAutoFit/>
          </a:bodyPr>
          <a:lstStyle/>
          <a:p>
            <a:pPr algn="l"/>
            <a:r>
              <a:rPr sz="900" b="1" i="0">
                <a:solidFill>
                  <a:srgbClr val="E8F2EA"/>
                </a:solidFill>
                <a:latin typeface="Consolas"/>
              </a:rPr>
              <a:t>GAMMA vs SPOT</a:t>
            </a:r>
          </a:p>
        </p:txBody>
      </p:sp>
      <p:graphicFrame>
        <p:nvGraphicFramePr>
          <p:cNvPr id="13" name="Chart 12"/>
          <p:cNvGraphicFramePr>
            <a:graphicFrameLocks noGrp="1"/>
          </p:cNvGraphicFramePr>
          <p:nvPr/>
        </p:nvGraphicFramePr>
        <p:xfrm>
          <a:off x="4809744" y="1984248"/>
          <a:ext cx="3849624" cy="2066544"/>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566928" y="4206240"/>
            <a:ext cx="8138160" cy="228600"/>
          </a:xfrm>
          <a:prstGeom prst="rect">
            <a:avLst/>
          </a:prstGeom>
          <a:noFill/>
        </p:spPr>
        <p:txBody>
          <a:bodyPr wrap="square" lIns="0" tIns="0" rIns="0" bIns="0" anchor="t">
            <a:spAutoFit/>
          </a:bodyPr>
          <a:lstStyle/>
          <a:p>
            <a:pPr algn="l"/>
            <a:r>
              <a:rPr sz="1050" b="0" i="0">
                <a:solidFill>
                  <a:srgbClr val="93A79A"/>
                </a:solidFill>
                <a:latin typeface="Arial"/>
              </a:rPr>
              <a:t>At-the-money gamma  </a:t>
            </a:r>
            <a:r>
              <a:rPr sz="1050" b="1" i="0">
                <a:solidFill>
                  <a:srgbClr val="E8F2EA"/>
                </a:solidFill>
                <a:latin typeface="Consolas"/>
              </a:rPr>
              <a:t>0.0188</a:t>
            </a:r>
            <a:r>
              <a:rPr sz="1050" b="0" i="0">
                <a:solidFill>
                  <a:srgbClr val="93A79A"/>
                </a:solidFill>
                <a:latin typeface="Arial"/>
              </a:rPr>
              <a:t> at 1 year  →  </a:t>
            </a:r>
            <a:r>
              <a:rPr sz="1050" b="1" i="0">
                <a:solidFill>
                  <a:srgbClr val="FFB020"/>
                </a:solidFill>
                <a:latin typeface="Consolas"/>
              </a:rPr>
              <a:t>0.0896</a:t>
            </a:r>
            <a:r>
              <a:rPr sz="1050" b="0" i="0">
                <a:solidFill>
                  <a:srgbClr val="93A79A"/>
                </a:solidFill>
                <a:latin typeface="Arial"/>
              </a:rPr>
              <a:t> at 18 days: 4.8× the hedging sensitivity for the same contract.</a:t>
            </a:r>
          </a:p>
        </p:txBody>
      </p:sp>
      <p:sp>
        <p:nvSpPr>
          <p:cNvPr id="15" name="TextBox 14"/>
          <p:cNvSpPr txBox="1"/>
          <p:nvPr/>
        </p:nvSpPr>
        <p:spPr>
          <a:xfrm>
            <a:off x="566928" y="4480560"/>
            <a:ext cx="8138160" cy="201168"/>
          </a:xfrm>
          <a:prstGeom prst="rect">
            <a:avLst/>
          </a:prstGeom>
          <a:noFill/>
        </p:spPr>
        <p:txBody>
          <a:bodyPr wrap="square" lIns="0" tIns="0" rIns="0" bIns="0" anchor="t">
            <a:spAutoFit/>
          </a:bodyPr>
          <a:lstStyle/>
          <a:p>
            <a:pPr algn="l"/>
            <a:r>
              <a:rPr sz="900" b="0" i="0">
                <a:solidFill>
                  <a:srgbClr val="93A79A"/>
                </a:solidFill>
                <a:latin typeface="Consolas"/>
              </a:rPr>
              <a:t>Units on every engine:  vega per 1 vol point  ·  theta per calendar day  ·  rho per 1% of rate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09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5 / BLACK_76</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One model. Two questions:</a:t>
            </a:r>
          </a:p>
          <a:p>
            <a:pPr algn="l">
              <a:lnSpc>
                <a:spcPct val="92000"/>
              </a:lnSpc>
            </a:pPr>
            <a:r>
              <a:rPr sz="2500" b="1" i="0">
                <a:solidFill>
                  <a:srgbClr val="E8F2EA"/>
                </a:solidFill>
                <a:latin typeface="Arial"/>
              </a:rPr>
              <a:t>spot Greeks or futures Greeks.</a:t>
            </a:r>
          </a:p>
        </p:txBody>
      </p:sp>
      <p:sp>
        <p:nvSpPr>
          <p:cNvPr id="8" name="Rectangle 7"/>
          <p:cNvSpPr/>
          <p:nvPr/>
        </p:nvSpPr>
        <p:spPr>
          <a:xfrm>
            <a:off x="566928" y="1691640"/>
            <a:ext cx="3794760" cy="71323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764792"/>
            <a:ext cx="3474720" cy="182880"/>
          </a:xfrm>
          <a:prstGeom prst="rect">
            <a:avLst/>
          </a:prstGeom>
          <a:noFill/>
        </p:spPr>
        <p:txBody>
          <a:bodyPr wrap="square" lIns="0" tIns="0" rIns="0" bIns="0" anchor="t">
            <a:spAutoFit/>
          </a:bodyPr>
          <a:lstStyle/>
          <a:p>
            <a:pPr algn="l"/>
            <a:r>
              <a:rPr sz="800" b="1" i="0">
                <a:solidFill>
                  <a:srgbClr val="3DDC84"/>
                </a:solidFill>
                <a:latin typeface="Consolas"/>
              </a:rPr>
              <a:t>BLACK-76 · FUTURES OPTIONS</a:t>
            </a:r>
          </a:p>
        </p:txBody>
      </p:sp>
      <p:sp>
        <p:nvSpPr>
          <p:cNvPr id="10" name="TextBox 9"/>
          <p:cNvSpPr txBox="1"/>
          <p:nvPr/>
        </p:nvSpPr>
        <p:spPr>
          <a:xfrm>
            <a:off x="704088" y="1993392"/>
            <a:ext cx="3566160" cy="274320"/>
          </a:xfrm>
          <a:prstGeom prst="rect">
            <a:avLst/>
          </a:prstGeom>
          <a:noFill/>
        </p:spPr>
        <p:txBody>
          <a:bodyPr wrap="square" lIns="0" tIns="0" rIns="0" bIns="0" anchor="t">
            <a:spAutoFit/>
          </a:bodyPr>
          <a:lstStyle/>
          <a:p>
            <a:pPr algn="l"/>
            <a:r>
              <a:rPr sz="1200" b="1" i="0">
                <a:solidFill>
                  <a:srgbClr val="E8F2EA"/>
                </a:solidFill>
                <a:latin typeface="Consolas"/>
              </a:rPr>
              <a:t>C = e^(−rT)·[F·N(d₁) − K·N(d₂)]</a:t>
            </a:r>
          </a:p>
        </p:txBody>
      </p:sp>
      <p:sp>
        <p:nvSpPr>
          <p:cNvPr id="11" name="Rectangle 10"/>
          <p:cNvSpPr/>
          <p:nvPr/>
        </p:nvSpPr>
        <p:spPr>
          <a:xfrm>
            <a:off x="566928" y="2523744"/>
            <a:ext cx="1847088" cy="13716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 y="2596896"/>
            <a:ext cx="1645920" cy="182880"/>
          </a:xfrm>
          <a:prstGeom prst="rect">
            <a:avLst/>
          </a:prstGeom>
          <a:noFill/>
        </p:spPr>
        <p:txBody>
          <a:bodyPr wrap="square" lIns="0" tIns="0" rIns="0" bIns="0" anchor="t">
            <a:spAutoFit/>
          </a:bodyPr>
          <a:lstStyle/>
          <a:p>
            <a:pPr algn="l"/>
            <a:r>
              <a:rPr sz="800" b="1" i="0">
                <a:solidFill>
                  <a:srgbClr val="93A79A"/>
                </a:solidFill>
                <a:latin typeface="Consolas"/>
              </a:rPr>
              <a:t>STOCK MODE</a:t>
            </a:r>
          </a:p>
        </p:txBody>
      </p:sp>
      <p:sp>
        <p:nvSpPr>
          <p:cNvPr id="13" name="TextBox 12"/>
          <p:cNvSpPr txBox="1"/>
          <p:nvPr/>
        </p:nvSpPr>
        <p:spPr>
          <a:xfrm>
            <a:off x="676656" y="2788920"/>
            <a:ext cx="1645920" cy="182880"/>
          </a:xfrm>
          <a:prstGeom prst="rect">
            <a:avLst/>
          </a:prstGeom>
          <a:noFill/>
        </p:spPr>
        <p:txBody>
          <a:bodyPr wrap="square" lIns="0" tIns="0" rIns="0" bIns="0" anchor="t">
            <a:spAutoFit/>
          </a:bodyPr>
          <a:lstStyle/>
          <a:p>
            <a:pPr algn="l"/>
            <a:r>
              <a:rPr sz="850" b="0" i="0">
                <a:solidFill>
                  <a:srgbClr val="93A79A"/>
                </a:solidFill>
                <a:latin typeface="Consolas"/>
              </a:rPr>
              <a:t>F = S·e^((r−q)T)</a:t>
            </a:r>
          </a:p>
        </p:txBody>
      </p:sp>
      <p:sp>
        <p:nvSpPr>
          <p:cNvPr id="14" name="TextBox 13"/>
          <p:cNvSpPr txBox="1"/>
          <p:nvPr/>
        </p:nvSpPr>
        <p:spPr>
          <a:xfrm>
            <a:off x="676656" y="3054096"/>
            <a:ext cx="640080" cy="219456"/>
          </a:xfrm>
          <a:prstGeom prst="rect">
            <a:avLst/>
          </a:prstGeom>
          <a:noFill/>
        </p:spPr>
        <p:txBody>
          <a:bodyPr wrap="square" lIns="0" tIns="0" rIns="0" bIns="0" anchor="ctr">
            <a:spAutoFit/>
          </a:bodyPr>
          <a:lstStyle/>
          <a:p>
            <a:pPr algn="l"/>
            <a:r>
              <a:rPr sz="950" b="0" i="0">
                <a:solidFill>
                  <a:srgbClr val="93A79A"/>
                </a:solidFill>
                <a:latin typeface="Arial"/>
              </a:rPr>
              <a:t>price</a:t>
            </a:r>
          </a:p>
        </p:txBody>
      </p:sp>
      <p:sp>
        <p:nvSpPr>
          <p:cNvPr id="15" name="TextBox 14"/>
          <p:cNvSpPr txBox="1"/>
          <p:nvPr/>
        </p:nvSpPr>
        <p:spPr>
          <a:xfrm>
            <a:off x="1252728" y="3054096"/>
            <a:ext cx="1042415" cy="219456"/>
          </a:xfrm>
          <a:prstGeom prst="rect">
            <a:avLst/>
          </a:prstGeom>
          <a:noFill/>
        </p:spPr>
        <p:txBody>
          <a:bodyPr wrap="square" lIns="0" tIns="0" rIns="0" bIns="0" anchor="ctr">
            <a:spAutoFit/>
          </a:bodyPr>
          <a:lstStyle/>
          <a:p>
            <a:pPr algn="r"/>
            <a:r>
              <a:rPr sz="1100" b="1" i="0">
                <a:solidFill>
                  <a:srgbClr val="E8F2EA"/>
                </a:solidFill>
                <a:latin typeface="Consolas"/>
              </a:rPr>
              <a:t>10.4506</a:t>
            </a:r>
          </a:p>
        </p:txBody>
      </p:sp>
      <p:sp>
        <p:nvSpPr>
          <p:cNvPr id="16" name="TextBox 15"/>
          <p:cNvSpPr txBox="1"/>
          <p:nvPr/>
        </p:nvSpPr>
        <p:spPr>
          <a:xfrm>
            <a:off x="676656" y="3310128"/>
            <a:ext cx="640080" cy="219456"/>
          </a:xfrm>
          <a:prstGeom prst="rect">
            <a:avLst/>
          </a:prstGeom>
          <a:noFill/>
        </p:spPr>
        <p:txBody>
          <a:bodyPr wrap="square" lIns="0" tIns="0" rIns="0" bIns="0" anchor="ctr">
            <a:spAutoFit/>
          </a:bodyPr>
          <a:lstStyle/>
          <a:p>
            <a:pPr algn="l"/>
            <a:r>
              <a:rPr sz="950" b="0" i="0">
                <a:solidFill>
                  <a:srgbClr val="93A79A"/>
                </a:solidFill>
                <a:latin typeface="Arial"/>
              </a:rPr>
              <a:t>delta</a:t>
            </a:r>
          </a:p>
        </p:txBody>
      </p:sp>
      <p:sp>
        <p:nvSpPr>
          <p:cNvPr id="17" name="TextBox 16"/>
          <p:cNvSpPr txBox="1"/>
          <p:nvPr/>
        </p:nvSpPr>
        <p:spPr>
          <a:xfrm>
            <a:off x="1252728" y="3310128"/>
            <a:ext cx="1042415" cy="219456"/>
          </a:xfrm>
          <a:prstGeom prst="rect">
            <a:avLst/>
          </a:prstGeom>
          <a:noFill/>
        </p:spPr>
        <p:txBody>
          <a:bodyPr wrap="square" lIns="0" tIns="0" rIns="0" bIns="0" anchor="ctr">
            <a:spAutoFit/>
          </a:bodyPr>
          <a:lstStyle/>
          <a:p>
            <a:pPr algn="r"/>
            <a:r>
              <a:rPr sz="1100" b="1" i="0">
                <a:solidFill>
                  <a:srgbClr val="E8F2EA"/>
                </a:solidFill>
                <a:latin typeface="Consolas"/>
              </a:rPr>
              <a:t>0.6368</a:t>
            </a:r>
          </a:p>
        </p:txBody>
      </p:sp>
      <p:sp>
        <p:nvSpPr>
          <p:cNvPr id="18" name="TextBox 17"/>
          <p:cNvSpPr txBox="1"/>
          <p:nvPr/>
        </p:nvSpPr>
        <p:spPr>
          <a:xfrm>
            <a:off x="676656" y="3566160"/>
            <a:ext cx="640080" cy="219456"/>
          </a:xfrm>
          <a:prstGeom prst="rect">
            <a:avLst/>
          </a:prstGeom>
          <a:noFill/>
        </p:spPr>
        <p:txBody>
          <a:bodyPr wrap="square" lIns="0" tIns="0" rIns="0" bIns="0" anchor="ctr">
            <a:spAutoFit/>
          </a:bodyPr>
          <a:lstStyle/>
          <a:p>
            <a:pPr algn="l"/>
            <a:r>
              <a:rPr sz="950" b="0" i="0">
                <a:solidFill>
                  <a:srgbClr val="93A79A"/>
                </a:solidFill>
                <a:latin typeface="Arial"/>
              </a:rPr>
              <a:t>rho</a:t>
            </a:r>
          </a:p>
        </p:txBody>
      </p:sp>
      <p:sp>
        <p:nvSpPr>
          <p:cNvPr id="19" name="TextBox 18"/>
          <p:cNvSpPr txBox="1"/>
          <p:nvPr/>
        </p:nvSpPr>
        <p:spPr>
          <a:xfrm>
            <a:off x="1252728" y="3566160"/>
            <a:ext cx="1042415" cy="219456"/>
          </a:xfrm>
          <a:prstGeom prst="rect">
            <a:avLst/>
          </a:prstGeom>
          <a:noFill/>
        </p:spPr>
        <p:txBody>
          <a:bodyPr wrap="square" lIns="0" tIns="0" rIns="0" bIns="0" anchor="ctr">
            <a:spAutoFit/>
          </a:bodyPr>
          <a:lstStyle/>
          <a:p>
            <a:pPr algn="r"/>
            <a:r>
              <a:rPr sz="1100" b="1" i="0">
                <a:solidFill>
                  <a:srgbClr val="E8F2EA"/>
                </a:solidFill>
                <a:latin typeface="Consolas"/>
              </a:rPr>
              <a:t>0.5323</a:t>
            </a:r>
          </a:p>
        </p:txBody>
      </p:sp>
      <p:sp>
        <p:nvSpPr>
          <p:cNvPr id="20" name="Rectangle 19"/>
          <p:cNvSpPr/>
          <p:nvPr/>
        </p:nvSpPr>
        <p:spPr>
          <a:xfrm>
            <a:off x="2514600" y="2523744"/>
            <a:ext cx="1847088" cy="1371600"/>
          </a:xfrm>
          <a:prstGeom prst="rect">
            <a:avLst/>
          </a:prstGeom>
          <a:solidFill>
            <a:srgbClr val="111813"/>
          </a:solidFill>
          <a:ln w="9525">
            <a:solidFill>
              <a:srgbClr val="3DDC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624328" y="2596896"/>
            <a:ext cx="1645920" cy="182880"/>
          </a:xfrm>
          <a:prstGeom prst="rect">
            <a:avLst/>
          </a:prstGeom>
          <a:noFill/>
        </p:spPr>
        <p:txBody>
          <a:bodyPr wrap="square" lIns="0" tIns="0" rIns="0" bIns="0" anchor="t">
            <a:spAutoFit/>
          </a:bodyPr>
          <a:lstStyle/>
          <a:p>
            <a:pPr algn="l"/>
            <a:r>
              <a:rPr sz="800" b="1" i="0">
                <a:solidFill>
                  <a:srgbClr val="3DDC84"/>
                </a:solidFill>
                <a:latin typeface="Consolas"/>
              </a:rPr>
              <a:t>INDEX / COMMODITY</a:t>
            </a:r>
          </a:p>
        </p:txBody>
      </p:sp>
      <p:sp>
        <p:nvSpPr>
          <p:cNvPr id="22" name="TextBox 21"/>
          <p:cNvSpPr txBox="1"/>
          <p:nvPr/>
        </p:nvSpPr>
        <p:spPr>
          <a:xfrm>
            <a:off x="2624328" y="2788920"/>
            <a:ext cx="1645920" cy="182880"/>
          </a:xfrm>
          <a:prstGeom prst="rect">
            <a:avLst/>
          </a:prstGeom>
          <a:noFill/>
        </p:spPr>
        <p:txBody>
          <a:bodyPr wrap="square" lIns="0" tIns="0" rIns="0" bIns="0" anchor="t">
            <a:spAutoFit/>
          </a:bodyPr>
          <a:lstStyle/>
          <a:p>
            <a:pPr algn="l"/>
            <a:r>
              <a:rPr sz="850" b="0" i="0">
                <a:solidFill>
                  <a:srgbClr val="93A79A"/>
                </a:solidFill>
                <a:latin typeface="Consolas"/>
              </a:rPr>
              <a:t>F quoted = 100</a:t>
            </a:r>
          </a:p>
        </p:txBody>
      </p:sp>
      <p:sp>
        <p:nvSpPr>
          <p:cNvPr id="23" name="TextBox 22"/>
          <p:cNvSpPr txBox="1"/>
          <p:nvPr/>
        </p:nvSpPr>
        <p:spPr>
          <a:xfrm>
            <a:off x="2624328" y="3054096"/>
            <a:ext cx="640080" cy="219456"/>
          </a:xfrm>
          <a:prstGeom prst="rect">
            <a:avLst/>
          </a:prstGeom>
          <a:noFill/>
        </p:spPr>
        <p:txBody>
          <a:bodyPr wrap="square" lIns="0" tIns="0" rIns="0" bIns="0" anchor="ctr">
            <a:spAutoFit/>
          </a:bodyPr>
          <a:lstStyle/>
          <a:p>
            <a:pPr algn="l"/>
            <a:r>
              <a:rPr sz="950" b="0" i="0">
                <a:solidFill>
                  <a:srgbClr val="93A79A"/>
                </a:solidFill>
                <a:latin typeface="Arial"/>
              </a:rPr>
              <a:t>price</a:t>
            </a:r>
          </a:p>
        </p:txBody>
      </p:sp>
      <p:sp>
        <p:nvSpPr>
          <p:cNvPr id="24" name="TextBox 23"/>
          <p:cNvSpPr txBox="1"/>
          <p:nvPr/>
        </p:nvSpPr>
        <p:spPr>
          <a:xfrm>
            <a:off x="3200400" y="3054096"/>
            <a:ext cx="1042415" cy="219456"/>
          </a:xfrm>
          <a:prstGeom prst="rect">
            <a:avLst/>
          </a:prstGeom>
          <a:noFill/>
        </p:spPr>
        <p:txBody>
          <a:bodyPr wrap="square" lIns="0" tIns="0" rIns="0" bIns="0" anchor="ctr">
            <a:spAutoFit/>
          </a:bodyPr>
          <a:lstStyle/>
          <a:p>
            <a:pPr algn="r"/>
            <a:r>
              <a:rPr sz="1100" b="1" i="0">
                <a:solidFill>
                  <a:srgbClr val="E8F2EA"/>
                </a:solidFill>
                <a:latin typeface="Consolas"/>
              </a:rPr>
              <a:t>7.5771</a:t>
            </a:r>
          </a:p>
        </p:txBody>
      </p:sp>
      <p:sp>
        <p:nvSpPr>
          <p:cNvPr id="25" name="TextBox 24"/>
          <p:cNvSpPr txBox="1"/>
          <p:nvPr/>
        </p:nvSpPr>
        <p:spPr>
          <a:xfrm>
            <a:off x="2624328" y="3310128"/>
            <a:ext cx="640080" cy="219456"/>
          </a:xfrm>
          <a:prstGeom prst="rect">
            <a:avLst/>
          </a:prstGeom>
          <a:noFill/>
        </p:spPr>
        <p:txBody>
          <a:bodyPr wrap="square" lIns="0" tIns="0" rIns="0" bIns="0" anchor="ctr">
            <a:spAutoFit/>
          </a:bodyPr>
          <a:lstStyle/>
          <a:p>
            <a:pPr algn="l"/>
            <a:r>
              <a:rPr sz="950" b="0" i="0">
                <a:solidFill>
                  <a:srgbClr val="93A79A"/>
                </a:solidFill>
                <a:latin typeface="Arial"/>
              </a:rPr>
              <a:t>delta</a:t>
            </a:r>
          </a:p>
        </p:txBody>
      </p:sp>
      <p:sp>
        <p:nvSpPr>
          <p:cNvPr id="26" name="TextBox 25"/>
          <p:cNvSpPr txBox="1"/>
          <p:nvPr/>
        </p:nvSpPr>
        <p:spPr>
          <a:xfrm>
            <a:off x="3200400" y="3310128"/>
            <a:ext cx="1042415" cy="219456"/>
          </a:xfrm>
          <a:prstGeom prst="rect">
            <a:avLst/>
          </a:prstGeom>
          <a:noFill/>
        </p:spPr>
        <p:txBody>
          <a:bodyPr wrap="square" lIns="0" tIns="0" rIns="0" bIns="0" anchor="ctr">
            <a:spAutoFit/>
          </a:bodyPr>
          <a:lstStyle/>
          <a:p>
            <a:pPr algn="r"/>
            <a:r>
              <a:rPr sz="1100" b="1" i="0">
                <a:solidFill>
                  <a:srgbClr val="E8F2EA"/>
                </a:solidFill>
                <a:latin typeface="Consolas"/>
              </a:rPr>
              <a:t>0.5135</a:t>
            </a:r>
          </a:p>
        </p:txBody>
      </p:sp>
      <p:sp>
        <p:nvSpPr>
          <p:cNvPr id="27" name="TextBox 26"/>
          <p:cNvSpPr txBox="1"/>
          <p:nvPr/>
        </p:nvSpPr>
        <p:spPr>
          <a:xfrm>
            <a:off x="2624328" y="3566160"/>
            <a:ext cx="640080" cy="219456"/>
          </a:xfrm>
          <a:prstGeom prst="rect">
            <a:avLst/>
          </a:prstGeom>
          <a:noFill/>
        </p:spPr>
        <p:txBody>
          <a:bodyPr wrap="square" lIns="0" tIns="0" rIns="0" bIns="0" anchor="ctr">
            <a:spAutoFit/>
          </a:bodyPr>
          <a:lstStyle/>
          <a:p>
            <a:pPr algn="l"/>
            <a:r>
              <a:rPr sz="950" b="0" i="0">
                <a:solidFill>
                  <a:srgbClr val="93A79A"/>
                </a:solidFill>
                <a:latin typeface="Arial"/>
              </a:rPr>
              <a:t>rho</a:t>
            </a:r>
          </a:p>
        </p:txBody>
      </p:sp>
      <p:sp>
        <p:nvSpPr>
          <p:cNvPr id="28" name="TextBox 27"/>
          <p:cNvSpPr txBox="1"/>
          <p:nvPr/>
        </p:nvSpPr>
        <p:spPr>
          <a:xfrm>
            <a:off x="3200400" y="3566160"/>
            <a:ext cx="1042415" cy="219456"/>
          </a:xfrm>
          <a:prstGeom prst="rect">
            <a:avLst/>
          </a:prstGeom>
          <a:noFill/>
        </p:spPr>
        <p:txBody>
          <a:bodyPr wrap="square" lIns="0" tIns="0" rIns="0" bIns="0" anchor="ctr">
            <a:spAutoFit/>
          </a:bodyPr>
          <a:lstStyle/>
          <a:p>
            <a:pPr algn="r"/>
            <a:r>
              <a:rPr sz="1100" b="1" i="0">
                <a:solidFill>
                  <a:srgbClr val="FFB020"/>
                </a:solidFill>
                <a:latin typeface="Consolas"/>
              </a:rPr>
              <a:t>−0.0758</a:t>
            </a:r>
          </a:p>
        </p:txBody>
      </p:sp>
      <p:sp>
        <p:nvSpPr>
          <p:cNvPr id="29" name="TextBox 28"/>
          <p:cNvSpPr txBox="1"/>
          <p:nvPr/>
        </p:nvSpPr>
        <p:spPr>
          <a:xfrm>
            <a:off x="566928" y="4023360"/>
            <a:ext cx="3794760" cy="731520"/>
          </a:xfrm>
          <a:prstGeom prst="rect">
            <a:avLst/>
          </a:prstGeom>
          <a:noFill/>
        </p:spPr>
        <p:txBody>
          <a:bodyPr wrap="square" lIns="0" tIns="0" rIns="0" bIns="0" anchor="t">
            <a:spAutoFit/>
          </a:bodyPr>
          <a:lstStyle/>
          <a:p>
            <a:pPr marL="155448" indent="-155448" algn="l">
              <a:spcAft>
                <a:spcPts val="300"/>
              </a:spcAft>
              <a:buClr>
                <a:srgbClr val="3DDC84"/>
              </a:buClr>
              <a:buFont typeface="Arial"/>
              <a:buChar char="▪"/>
            </a:pPr>
            <a:r>
              <a:rPr sz="1000" b="0" i="0">
                <a:solidFill>
                  <a:srgbClr val="E8F2EA"/>
                </a:solidFill>
                <a:latin typeface="Arial"/>
              </a:rPr>
              <a:t>Stock mode matches Black-Scholes to 1e-14; futures parity residual is 0e+00.</a:t>
            </a:r>
          </a:p>
          <a:p>
            <a:pPr marL="155448" indent="-155448" algn="l">
              <a:spcAft>
                <a:spcPts val="300"/>
              </a:spcAft>
              <a:buClr>
                <a:srgbClr val="3DDC84"/>
              </a:buClr>
              <a:buFont typeface="Arial"/>
              <a:buChar char="▪"/>
            </a:pPr>
            <a:r>
              <a:rPr sz="1000" b="0" i="0">
                <a:solidFill>
                  <a:srgbClr val="E8F2EA"/>
                </a:solidFill>
                <a:latin typeface="Arial"/>
              </a:rPr>
              <a:t>Futures rho = −T·V/100: a future has no carry to offset discounting.</a:t>
            </a:r>
          </a:p>
        </p:txBody>
      </p:sp>
      <p:sp>
        <p:nvSpPr>
          <p:cNvPr id="30" name="Rectangle 29"/>
          <p:cNvSpPr/>
          <p:nvPr/>
        </p:nvSpPr>
        <p:spPr>
          <a:xfrm>
            <a:off x="4572000" y="1691640"/>
            <a:ext cx="4160520" cy="29718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09160" y="1773936"/>
            <a:ext cx="3886200" cy="182880"/>
          </a:xfrm>
          <a:prstGeom prst="rect">
            <a:avLst/>
          </a:prstGeom>
          <a:noFill/>
        </p:spPr>
        <p:txBody>
          <a:bodyPr wrap="square" lIns="0" tIns="0" rIns="0" bIns="0" anchor="t">
            <a:spAutoFit/>
          </a:bodyPr>
          <a:lstStyle/>
          <a:p>
            <a:pPr algn="l"/>
            <a:r>
              <a:rPr sz="900" b="1" i="0">
                <a:solidFill>
                  <a:srgbClr val="E8F2EA"/>
                </a:solidFill>
                <a:latin typeface="Consolas"/>
              </a:rPr>
              <a:t>DELTA vs UNDERLYING, K = 100</a:t>
            </a:r>
          </a:p>
        </p:txBody>
      </p:sp>
      <p:graphicFrame>
        <p:nvGraphicFramePr>
          <p:cNvPr id="32" name="Chart 31"/>
          <p:cNvGraphicFramePr>
            <a:graphicFrameLocks noGrp="1"/>
          </p:cNvGraphicFramePr>
          <p:nvPr/>
        </p:nvGraphicFramePr>
        <p:xfrm>
          <a:off x="4626864" y="1984248"/>
          <a:ext cx="4032504"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33" name="TextBox 32"/>
          <p:cNvSpPr txBox="1"/>
          <p:nvPr/>
        </p:nvSpPr>
        <p:spPr>
          <a:xfrm>
            <a:off x="4709160" y="4334255"/>
            <a:ext cx="3886200" cy="274320"/>
          </a:xfrm>
          <a:prstGeom prst="rect">
            <a:avLst/>
          </a:prstGeom>
          <a:noFill/>
        </p:spPr>
        <p:txBody>
          <a:bodyPr wrap="square" lIns="0" tIns="0" rIns="0" bIns="0" anchor="t">
            <a:spAutoFit/>
          </a:bodyPr>
          <a:lstStyle/>
          <a:p>
            <a:pPr algn="l"/>
            <a:r>
              <a:rPr sz="900" b="0" i="0">
                <a:solidFill>
                  <a:srgbClr val="93A79A"/>
                </a:solidFill>
                <a:latin typeface="Arial"/>
              </a:rPr>
              <a:t>Futures delta is capped at e^(−rT) = 0.951, not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10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4 / AMERICAN_OPTIONS</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51 Leisen-Reimer steps beat</a:t>
            </a:r>
          </a:p>
          <a:p>
            <a:pPr algn="l">
              <a:lnSpc>
                <a:spcPct val="92000"/>
              </a:lnSpc>
            </a:pPr>
            <a:r>
              <a:rPr sz="2500" b="1" i="0">
                <a:solidFill>
                  <a:srgbClr val="E8F2EA"/>
                </a:solidFill>
                <a:latin typeface="Arial"/>
              </a:rPr>
              <a:t>1,001 CRR steps on accuracy.</a:t>
            </a:r>
          </a:p>
        </p:txBody>
      </p:sp>
      <p:sp>
        <p:nvSpPr>
          <p:cNvPr id="8" name="TextBox 7"/>
          <p:cNvSpPr txBox="1"/>
          <p:nvPr/>
        </p:nvSpPr>
        <p:spPr>
          <a:xfrm>
            <a:off x="566928" y="1664208"/>
            <a:ext cx="3657600" cy="201168"/>
          </a:xfrm>
          <a:prstGeom prst="rect">
            <a:avLst/>
          </a:prstGeom>
          <a:noFill/>
        </p:spPr>
        <p:txBody>
          <a:bodyPr wrap="square" lIns="0" tIns="0" rIns="0" bIns="0" anchor="t">
            <a:spAutoFit/>
          </a:bodyPr>
          <a:lstStyle/>
          <a:p>
            <a:pPr algn="l"/>
            <a:r>
              <a:rPr sz="950" b="0" i="0">
                <a:solidFill>
                  <a:srgbClr val="3DDC84"/>
                </a:solidFill>
                <a:latin typeface="Consolas"/>
              </a:rPr>
              <a:t>&gt; crr(n=1001) vs lr(n=51)</a:t>
            </a:r>
          </a:p>
        </p:txBody>
      </p:sp>
      <p:sp>
        <p:nvSpPr>
          <p:cNvPr id="9" name="Rectangle 8"/>
          <p:cNvSpPr/>
          <p:nvPr/>
        </p:nvSpPr>
        <p:spPr>
          <a:xfrm>
            <a:off x="566928" y="1938528"/>
            <a:ext cx="1847088" cy="89611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029968"/>
            <a:ext cx="1609344" cy="164592"/>
          </a:xfrm>
          <a:prstGeom prst="rect">
            <a:avLst/>
          </a:prstGeom>
          <a:noFill/>
        </p:spPr>
        <p:txBody>
          <a:bodyPr wrap="square" lIns="0" tIns="0" rIns="0" bIns="0" anchor="t">
            <a:spAutoFit/>
          </a:bodyPr>
          <a:lstStyle/>
          <a:p>
            <a:pPr algn="l"/>
            <a:r>
              <a:rPr sz="800" b="1" i="0">
                <a:solidFill>
                  <a:srgbClr val="93A79A"/>
                </a:solidFill>
                <a:latin typeface="Consolas"/>
              </a:rPr>
              <a:t>LR ERROR @ 51</a:t>
            </a:r>
          </a:p>
        </p:txBody>
      </p:sp>
      <p:sp>
        <p:nvSpPr>
          <p:cNvPr id="11" name="TextBox 10"/>
          <p:cNvSpPr txBox="1"/>
          <p:nvPr/>
        </p:nvSpPr>
        <p:spPr>
          <a:xfrm>
            <a:off x="685800" y="2221992"/>
            <a:ext cx="1609344" cy="310896"/>
          </a:xfrm>
          <a:prstGeom prst="rect">
            <a:avLst/>
          </a:prstGeom>
          <a:noFill/>
        </p:spPr>
        <p:txBody>
          <a:bodyPr wrap="square" lIns="0" tIns="0" rIns="0" bIns="0" anchor="t">
            <a:spAutoFit/>
          </a:bodyPr>
          <a:lstStyle/>
          <a:p>
            <a:pPr algn="l"/>
            <a:r>
              <a:rPr sz="1500" b="1" i="0">
                <a:solidFill>
                  <a:srgbClr val="3DDC84"/>
                </a:solidFill>
                <a:latin typeface="Consolas"/>
              </a:rPr>
              <a:t>0.00013</a:t>
            </a:r>
          </a:p>
        </p:txBody>
      </p:sp>
      <p:sp>
        <p:nvSpPr>
          <p:cNvPr id="12" name="TextBox 11"/>
          <p:cNvSpPr txBox="1"/>
          <p:nvPr/>
        </p:nvSpPr>
        <p:spPr>
          <a:xfrm>
            <a:off x="685800" y="2522220"/>
            <a:ext cx="1609344" cy="210311"/>
          </a:xfrm>
          <a:prstGeom prst="rect">
            <a:avLst/>
          </a:prstGeom>
          <a:noFill/>
        </p:spPr>
        <p:txBody>
          <a:bodyPr wrap="square" lIns="0" tIns="0" rIns="0" bIns="0" anchor="t">
            <a:spAutoFit/>
          </a:bodyPr>
          <a:lstStyle/>
          <a:p>
            <a:pPr algn="l"/>
            <a:r>
              <a:rPr sz="900" b="0" i="0">
                <a:solidFill>
                  <a:srgbClr val="93A79A"/>
                </a:solidFill>
                <a:latin typeface="Arial"/>
              </a:rPr>
              <a:t>European call vs BSM</a:t>
            </a:r>
          </a:p>
        </p:txBody>
      </p:sp>
      <p:sp>
        <p:nvSpPr>
          <p:cNvPr id="13" name="Rectangle 12"/>
          <p:cNvSpPr/>
          <p:nvPr/>
        </p:nvSpPr>
        <p:spPr>
          <a:xfrm>
            <a:off x="2514600" y="1938528"/>
            <a:ext cx="1847088" cy="89611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33472" y="2029968"/>
            <a:ext cx="1609344" cy="164592"/>
          </a:xfrm>
          <a:prstGeom prst="rect">
            <a:avLst/>
          </a:prstGeom>
          <a:noFill/>
        </p:spPr>
        <p:txBody>
          <a:bodyPr wrap="square" lIns="0" tIns="0" rIns="0" bIns="0" anchor="t">
            <a:spAutoFit/>
          </a:bodyPr>
          <a:lstStyle/>
          <a:p>
            <a:pPr algn="l"/>
            <a:r>
              <a:rPr sz="800" b="1" i="0">
                <a:solidFill>
                  <a:srgbClr val="93A79A"/>
                </a:solidFill>
                <a:latin typeface="Consolas"/>
              </a:rPr>
              <a:t>CRR ERROR @ 1,001</a:t>
            </a:r>
          </a:p>
        </p:txBody>
      </p:sp>
      <p:sp>
        <p:nvSpPr>
          <p:cNvPr id="15" name="TextBox 14"/>
          <p:cNvSpPr txBox="1"/>
          <p:nvPr/>
        </p:nvSpPr>
        <p:spPr>
          <a:xfrm>
            <a:off x="2633472" y="2221992"/>
            <a:ext cx="1609344" cy="310896"/>
          </a:xfrm>
          <a:prstGeom prst="rect">
            <a:avLst/>
          </a:prstGeom>
          <a:noFill/>
        </p:spPr>
        <p:txBody>
          <a:bodyPr wrap="square" lIns="0" tIns="0" rIns="0" bIns="0" anchor="t">
            <a:spAutoFit/>
          </a:bodyPr>
          <a:lstStyle/>
          <a:p>
            <a:pPr algn="l"/>
            <a:r>
              <a:rPr sz="1500" b="1" i="0">
                <a:solidFill>
                  <a:srgbClr val="FFB020"/>
                </a:solidFill>
                <a:latin typeface="Consolas"/>
              </a:rPr>
              <a:t>0.00175</a:t>
            </a:r>
          </a:p>
        </p:txBody>
      </p:sp>
      <p:sp>
        <p:nvSpPr>
          <p:cNvPr id="16" name="TextBox 15"/>
          <p:cNvSpPr txBox="1"/>
          <p:nvPr/>
        </p:nvSpPr>
        <p:spPr>
          <a:xfrm>
            <a:off x="2633472" y="2522220"/>
            <a:ext cx="1609344" cy="210311"/>
          </a:xfrm>
          <a:prstGeom prst="rect">
            <a:avLst/>
          </a:prstGeom>
          <a:noFill/>
        </p:spPr>
        <p:txBody>
          <a:bodyPr wrap="square" lIns="0" tIns="0" rIns="0" bIns="0" anchor="t">
            <a:spAutoFit/>
          </a:bodyPr>
          <a:lstStyle/>
          <a:p>
            <a:pPr algn="l"/>
            <a:r>
              <a:rPr sz="900" b="0" i="0">
                <a:solidFill>
                  <a:srgbClr val="93A79A"/>
                </a:solidFill>
                <a:latin typeface="Arial"/>
              </a:rPr>
              <a:t>13× larger, 20× the steps</a:t>
            </a:r>
          </a:p>
        </p:txBody>
      </p:sp>
      <p:sp>
        <p:nvSpPr>
          <p:cNvPr id="17" name="TextBox 16"/>
          <p:cNvSpPr txBox="1"/>
          <p:nvPr/>
        </p:nvSpPr>
        <p:spPr>
          <a:xfrm>
            <a:off x="566928" y="2971800"/>
            <a:ext cx="3794760" cy="1783080"/>
          </a:xfrm>
          <a:prstGeom prst="rect">
            <a:avLst/>
          </a:prstGeom>
          <a:noFill/>
        </p:spPr>
        <p:txBody>
          <a:bodyPr wrap="square" lIns="0" tIns="0" rIns="0" bIns="0" anchor="t">
            <a:spAutoFit/>
          </a:bodyPr>
          <a:lstStyle/>
          <a:p>
            <a:pPr marL="155448" indent="-155448" algn="l">
              <a:spcAft>
                <a:spcPts val="400"/>
              </a:spcAft>
              <a:buClr>
                <a:srgbClr val="3DDC84"/>
              </a:buClr>
              <a:buFont typeface="Arial"/>
              <a:buChar char="▪"/>
            </a:pPr>
            <a:r>
              <a:rPr sz="1000" b="0" i="0">
                <a:solidFill>
                  <a:srgbClr val="E8F2EA"/>
                </a:solidFill>
                <a:latin typeface="Arial"/>
              </a:rPr>
              <a:t>At 201 steps LR is about 1,000× more accurate than CRR (error 0.000009 vs 0.0087).</a:t>
            </a:r>
          </a:p>
          <a:p>
            <a:pPr marL="155448" indent="-155448" algn="l">
              <a:spcAft>
                <a:spcPts val="400"/>
              </a:spcAft>
              <a:buClr>
                <a:srgbClr val="3DDC84"/>
              </a:buClr>
              <a:buFont typeface="Arial"/>
              <a:buChar char="▪"/>
            </a:pPr>
            <a:r>
              <a:rPr sz="1000" b="0" i="0">
                <a:solidFill>
                  <a:srgbClr val="E8F2EA"/>
                </a:solidFill>
                <a:latin typeface="Arial"/>
              </a:rPr>
              <a:t>American put 6.0903 vs European 5.5735: early-exercise premium 0.517.</a:t>
            </a:r>
          </a:p>
          <a:p>
            <a:pPr marL="155448" indent="-155448" algn="l">
              <a:spcAft>
                <a:spcPts val="400"/>
              </a:spcAft>
              <a:buClr>
                <a:srgbClr val="3DDC84"/>
              </a:buClr>
              <a:buFont typeface="Arial"/>
              <a:buChar char="▪"/>
            </a:pPr>
            <a:r>
              <a:rPr sz="1000" b="0" i="0">
                <a:solidFill>
                  <a:srgbClr val="E8F2EA"/>
                </a:solidFill>
                <a:latin typeface="Arial"/>
              </a:rPr>
              <a:t>American call 10.4506 = European 10.4506: with no dividend, early exercise is never optimal.</a:t>
            </a:r>
          </a:p>
          <a:p>
            <a:pPr marL="155448" indent="-155448" algn="l">
              <a:spcAft>
                <a:spcPts val="400"/>
              </a:spcAft>
              <a:buClr>
                <a:srgbClr val="3DDC84"/>
              </a:buClr>
              <a:buFont typeface="Arial"/>
              <a:buChar char="▪"/>
            </a:pPr>
            <a:r>
              <a:rPr sz="1000" b="0" i="0">
                <a:solidFill>
                  <a:srgbClr val="E8F2EA"/>
                </a:solidFill>
                <a:latin typeface="Arial"/>
              </a:rPr>
              <a:t>With early exercise LR loses its second-order rate, so the benchmark there is a 2,001-step tree.</a:t>
            </a:r>
          </a:p>
        </p:txBody>
      </p:sp>
      <p:sp>
        <p:nvSpPr>
          <p:cNvPr id="18" name="Rectangle 17"/>
          <p:cNvSpPr/>
          <p:nvPr/>
        </p:nvSpPr>
        <p:spPr>
          <a:xfrm>
            <a:off x="4572000" y="1691640"/>
            <a:ext cx="4160520" cy="29718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09160" y="1773936"/>
            <a:ext cx="3886200" cy="182880"/>
          </a:xfrm>
          <a:prstGeom prst="rect">
            <a:avLst/>
          </a:prstGeom>
          <a:noFill/>
        </p:spPr>
        <p:txBody>
          <a:bodyPr wrap="square" lIns="0" tIns="0" rIns="0" bIns="0" anchor="t">
            <a:spAutoFit/>
          </a:bodyPr>
          <a:lstStyle/>
          <a:p>
            <a:pPr algn="l"/>
            <a:r>
              <a:rPr sz="900" b="1" i="0">
                <a:solidFill>
                  <a:srgbClr val="E8F2EA"/>
                </a:solidFill>
                <a:latin typeface="Consolas"/>
              </a:rPr>
              <a:t>ABSOLUTE ERROR vs STEPS (log-log)</a:t>
            </a:r>
          </a:p>
        </p:txBody>
      </p:sp>
      <p:graphicFrame>
        <p:nvGraphicFramePr>
          <p:cNvPr id="20" name="Chart 19"/>
          <p:cNvGraphicFramePr>
            <a:graphicFrameLocks noGrp="1"/>
          </p:cNvGraphicFramePr>
          <p:nvPr/>
        </p:nvGraphicFramePr>
        <p:xfrm>
          <a:off x="4626864" y="1984248"/>
          <a:ext cx="4032504"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p:cNvSpPr txBox="1"/>
          <p:nvPr/>
        </p:nvSpPr>
        <p:spPr>
          <a:xfrm>
            <a:off x="4709160" y="4334255"/>
            <a:ext cx="3886200" cy="274320"/>
          </a:xfrm>
          <a:prstGeom prst="rect">
            <a:avLst/>
          </a:prstGeom>
          <a:noFill/>
        </p:spPr>
        <p:txBody>
          <a:bodyPr wrap="square" lIns="0" tIns="0" rIns="0" bIns="0" anchor="t">
            <a:spAutoFit/>
          </a:bodyPr>
          <a:lstStyle/>
          <a:p>
            <a:pPr algn="l"/>
            <a:r>
              <a:rPr sz="900" b="0" i="0">
                <a:solidFill>
                  <a:srgbClr val="93A79A"/>
                </a:solidFill>
                <a:latin typeface="Arial"/>
              </a:rPr>
              <a:t>Slope −1 for CRR, −2 for Leisen-Reimer.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11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4+ / LONGSTAFF_SCHWARTZ</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American options by simulation,</a:t>
            </a:r>
          </a:p>
          <a:p>
            <a:pPr algn="l">
              <a:lnSpc>
                <a:spcPct val="92000"/>
              </a:lnSpc>
            </a:pPr>
            <a:r>
              <a:rPr sz="2500" b="1" i="0">
                <a:solidFill>
                  <a:srgbClr val="E8F2EA"/>
                </a:solidFill>
                <a:latin typeface="Arial"/>
              </a:rPr>
              <a:t>with an honest bias.</a:t>
            </a:r>
          </a:p>
        </p:txBody>
      </p:sp>
      <p:sp>
        <p:nvSpPr>
          <p:cNvPr id="8" name="Rectangle 7"/>
          <p:cNvSpPr/>
          <p:nvPr/>
        </p:nvSpPr>
        <p:spPr>
          <a:xfrm>
            <a:off x="566928" y="1691640"/>
            <a:ext cx="1847088" cy="11430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783080"/>
            <a:ext cx="1609344" cy="164592"/>
          </a:xfrm>
          <a:prstGeom prst="rect">
            <a:avLst/>
          </a:prstGeom>
          <a:noFill/>
        </p:spPr>
        <p:txBody>
          <a:bodyPr wrap="square" lIns="0" tIns="0" rIns="0" bIns="0" anchor="t">
            <a:spAutoFit/>
          </a:bodyPr>
          <a:lstStyle/>
          <a:p>
            <a:pPr algn="l"/>
            <a:r>
              <a:rPr sz="800" b="1" i="0">
                <a:solidFill>
                  <a:srgbClr val="93A79A"/>
                </a:solidFill>
                <a:latin typeface="Consolas"/>
              </a:rPr>
              <a:t>PAPER TEST · S36 K40</a:t>
            </a:r>
          </a:p>
        </p:txBody>
      </p:sp>
      <p:sp>
        <p:nvSpPr>
          <p:cNvPr id="10" name="TextBox 9"/>
          <p:cNvSpPr txBox="1"/>
          <p:nvPr/>
        </p:nvSpPr>
        <p:spPr>
          <a:xfrm>
            <a:off x="685800" y="1975104"/>
            <a:ext cx="1609344" cy="310896"/>
          </a:xfrm>
          <a:prstGeom prst="rect">
            <a:avLst/>
          </a:prstGeom>
          <a:noFill/>
        </p:spPr>
        <p:txBody>
          <a:bodyPr wrap="square" lIns="0" tIns="0" rIns="0" bIns="0" anchor="t">
            <a:spAutoFit/>
          </a:bodyPr>
          <a:lstStyle/>
          <a:p>
            <a:pPr algn="l"/>
            <a:r>
              <a:rPr sz="1600" b="1" i="0">
                <a:solidFill>
                  <a:srgbClr val="3DDC84"/>
                </a:solidFill>
                <a:latin typeface="Consolas"/>
              </a:rPr>
              <a:t>4.481</a:t>
            </a:r>
          </a:p>
        </p:txBody>
      </p:sp>
      <p:sp>
        <p:nvSpPr>
          <p:cNvPr id="11" name="TextBox 10"/>
          <p:cNvSpPr txBox="1"/>
          <p:nvPr/>
        </p:nvSpPr>
        <p:spPr>
          <a:xfrm>
            <a:off x="685800" y="2288032"/>
            <a:ext cx="1609344" cy="457200"/>
          </a:xfrm>
          <a:prstGeom prst="rect">
            <a:avLst/>
          </a:prstGeom>
          <a:noFill/>
        </p:spPr>
        <p:txBody>
          <a:bodyPr wrap="square" lIns="0" tIns="0" rIns="0" bIns="0" anchor="t">
            <a:spAutoFit/>
          </a:bodyPr>
          <a:lstStyle/>
          <a:p>
            <a:pPr algn="l"/>
            <a:r>
              <a:rPr sz="900" b="0" i="0">
                <a:solidFill>
                  <a:srgbClr val="93A79A"/>
                </a:solidFill>
                <a:latin typeface="Arial"/>
              </a:rPr>
              <a:t>±0.006. Paper 4.472, 50 dates. American tree 4.486</a:t>
            </a:r>
          </a:p>
        </p:txBody>
      </p:sp>
      <p:sp>
        <p:nvSpPr>
          <p:cNvPr id="12" name="Rectangle 11"/>
          <p:cNvSpPr/>
          <p:nvPr/>
        </p:nvSpPr>
        <p:spPr>
          <a:xfrm>
            <a:off x="2514600" y="1691640"/>
            <a:ext cx="1847088" cy="11430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33472" y="1783080"/>
            <a:ext cx="1609344" cy="164592"/>
          </a:xfrm>
          <a:prstGeom prst="rect">
            <a:avLst/>
          </a:prstGeom>
          <a:noFill/>
        </p:spPr>
        <p:txBody>
          <a:bodyPr wrap="square" lIns="0" tIns="0" rIns="0" bIns="0" anchor="t">
            <a:spAutoFit/>
          </a:bodyPr>
          <a:lstStyle/>
          <a:p>
            <a:pPr algn="l"/>
            <a:r>
              <a:rPr sz="800" b="1" i="0">
                <a:solidFill>
                  <a:srgbClr val="93A79A"/>
                </a:solidFill>
                <a:latin typeface="Consolas"/>
              </a:rPr>
              <a:t>RUNNING PUT</a:t>
            </a:r>
          </a:p>
        </p:txBody>
      </p:sp>
      <p:sp>
        <p:nvSpPr>
          <p:cNvPr id="14" name="TextBox 13"/>
          <p:cNvSpPr txBox="1"/>
          <p:nvPr/>
        </p:nvSpPr>
        <p:spPr>
          <a:xfrm>
            <a:off x="2633472" y="1975104"/>
            <a:ext cx="1609344" cy="310896"/>
          </a:xfrm>
          <a:prstGeom prst="rect">
            <a:avLst/>
          </a:prstGeom>
          <a:noFill/>
        </p:spPr>
        <p:txBody>
          <a:bodyPr wrap="square" lIns="0" tIns="0" rIns="0" bIns="0" anchor="t">
            <a:spAutoFit/>
          </a:bodyPr>
          <a:lstStyle/>
          <a:p>
            <a:pPr algn="l"/>
            <a:r>
              <a:rPr sz="1600" b="1" i="0">
                <a:solidFill>
                  <a:srgbClr val="E8F2EA"/>
                </a:solidFill>
                <a:latin typeface="Consolas"/>
              </a:rPr>
              <a:t>6.058</a:t>
            </a:r>
          </a:p>
        </p:txBody>
      </p:sp>
      <p:sp>
        <p:nvSpPr>
          <p:cNvPr id="15" name="TextBox 14"/>
          <p:cNvSpPr txBox="1"/>
          <p:nvPr/>
        </p:nvSpPr>
        <p:spPr>
          <a:xfrm>
            <a:off x="2633472" y="2288032"/>
            <a:ext cx="1609344" cy="457200"/>
          </a:xfrm>
          <a:prstGeom prst="rect">
            <a:avLst/>
          </a:prstGeom>
          <a:noFill/>
        </p:spPr>
        <p:txBody>
          <a:bodyPr wrap="square" lIns="0" tIns="0" rIns="0" bIns="0" anchor="t">
            <a:spAutoFit/>
          </a:bodyPr>
          <a:lstStyle/>
          <a:p>
            <a:pPr algn="l"/>
            <a:r>
              <a:rPr sz="900" b="0" i="0">
                <a:solidFill>
                  <a:srgbClr val="93A79A"/>
                </a:solidFill>
                <a:latin typeface="Arial"/>
              </a:rPr>
              <a:t>±0.012. Tree 6.090: 0.5% low by design</a:t>
            </a:r>
          </a:p>
        </p:txBody>
      </p:sp>
      <p:sp>
        <p:nvSpPr>
          <p:cNvPr id="16" name="TextBox 15"/>
          <p:cNvSpPr txBox="1"/>
          <p:nvPr/>
        </p:nvSpPr>
        <p:spPr>
          <a:xfrm>
            <a:off x="566928" y="2962656"/>
            <a:ext cx="3840480" cy="228600"/>
          </a:xfrm>
          <a:prstGeom prst="rect">
            <a:avLst/>
          </a:prstGeom>
          <a:noFill/>
        </p:spPr>
        <p:txBody>
          <a:bodyPr wrap="square" lIns="0" tIns="0" rIns="0" bIns="0" anchor="t">
            <a:spAutoFit/>
          </a:bodyPr>
          <a:lstStyle/>
          <a:p>
            <a:pPr algn="l"/>
            <a:r>
              <a:rPr sz="1000" b="0" i="0">
                <a:solidFill>
                  <a:srgbClr val="93A79A"/>
                </a:solidFill>
                <a:latin typeface="Arial"/>
              </a:rPr>
              <a:t>Same paths </a:t>
            </a:r>
            <a:r>
              <a:rPr sz="1000" b="1" i="0">
                <a:solidFill>
                  <a:srgbClr val="FFB020"/>
                </a:solidFill>
                <a:latin typeface="Consolas"/>
              </a:rPr>
              <a:t>6.071</a:t>
            </a:r>
            <a:r>
              <a:rPr sz="1000" b="0" i="0">
                <a:solidFill>
                  <a:srgbClr val="93A79A"/>
                </a:solidFill>
                <a:latin typeface="Arial"/>
              </a:rPr>
              <a:t>  biased high   ·   fresh paths </a:t>
            </a:r>
            <a:r>
              <a:rPr sz="1000" b="1" i="0">
                <a:solidFill>
                  <a:srgbClr val="3DDC84"/>
                </a:solidFill>
                <a:latin typeface="Consolas"/>
              </a:rPr>
              <a:t>6.055</a:t>
            </a:r>
            <a:r>
              <a:rPr sz="1000" b="0" i="0">
                <a:solidFill>
                  <a:srgbClr val="93A79A"/>
                </a:solidFill>
                <a:latin typeface="Arial"/>
              </a:rPr>
              <a:t>  biased low</a:t>
            </a:r>
          </a:p>
        </p:txBody>
      </p:sp>
      <p:sp>
        <p:nvSpPr>
          <p:cNvPr id="17" name="TextBox 16"/>
          <p:cNvSpPr txBox="1"/>
          <p:nvPr/>
        </p:nvSpPr>
        <p:spPr>
          <a:xfrm>
            <a:off x="566928" y="3273552"/>
            <a:ext cx="3794760" cy="1508760"/>
          </a:xfrm>
          <a:prstGeom prst="rect">
            <a:avLst/>
          </a:prstGeom>
          <a:noFill/>
        </p:spPr>
        <p:txBody>
          <a:bodyPr wrap="square" lIns="0" tIns="0" rIns="0" bIns="0" anchor="t">
            <a:spAutoFit/>
          </a:bodyPr>
          <a:lstStyle/>
          <a:p>
            <a:pPr marL="155448" indent="-155448" algn="l">
              <a:spcAft>
                <a:spcPts val="300"/>
              </a:spcAft>
              <a:buClr>
                <a:srgbClr val="3DDC84"/>
              </a:buClr>
              <a:buFont typeface="Arial"/>
              <a:buChar char="▪"/>
            </a:pPr>
            <a:r>
              <a:rPr sz="1000" b="0" i="0">
                <a:solidFill>
                  <a:srgbClr val="E8F2EA"/>
                </a:solidFill>
                <a:latin typeface="Arial"/>
              </a:rPr>
              <a:t>Rule fitted on one path set, priced on another: a lower bound that tightens as the rule improves.</a:t>
            </a:r>
          </a:p>
          <a:p>
            <a:pPr marL="155448" indent="-155448" algn="l">
              <a:spcAft>
                <a:spcPts val="300"/>
              </a:spcAft>
              <a:buClr>
                <a:srgbClr val="3DDC84"/>
              </a:buClr>
              <a:buFont typeface="Arial"/>
              <a:buChar char="▪"/>
            </a:pPr>
            <a:r>
              <a:rPr sz="1000" b="0" i="0">
                <a:solidFill>
                  <a:srgbClr val="E8F2EA"/>
                </a:solidFill>
                <a:latin typeface="Arial"/>
              </a:rPr>
              <a:t>European option on the same paths as a control variate.</a:t>
            </a:r>
          </a:p>
          <a:p>
            <a:pPr marL="155448" indent="-155448" algn="l">
              <a:spcAft>
                <a:spcPts val="300"/>
              </a:spcAft>
              <a:buClr>
                <a:srgbClr val="3DDC84"/>
              </a:buClr>
              <a:buFont typeface="Arial"/>
              <a:buChar char="▪"/>
            </a:pPr>
            <a:r>
              <a:rPr sz="1000" b="0" i="0">
                <a:solidFill>
                  <a:srgbClr val="E8F2EA"/>
                </a:solidFill>
                <a:latin typeface="Arial"/>
              </a:rPr>
              <a:t>Greeks reuse the fitted rule with common random numbers, so bumps are not refitted.</a:t>
            </a:r>
          </a:p>
          <a:p>
            <a:pPr marL="155448" indent="-155448" algn="l">
              <a:spcAft>
                <a:spcPts val="300"/>
              </a:spcAft>
              <a:buClr>
                <a:srgbClr val="3DDC84"/>
              </a:buClr>
              <a:buFont typeface="Arial"/>
              <a:buChar char="▪"/>
            </a:pPr>
            <a:r>
              <a:rPr sz="1000" b="0" i="0">
                <a:solidFill>
                  <a:srgbClr val="E8F2EA"/>
                </a:solidFill>
                <a:latin typeface="Arial"/>
              </a:rPr>
              <a:t>Fixes the notebook's double discounting, which read 5.92 on a 6.09 contract.</a:t>
            </a:r>
          </a:p>
        </p:txBody>
      </p:sp>
      <p:sp>
        <p:nvSpPr>
          <p:cNvPr id="18" name="Rectangle 17"/>
          <p:cNvSpPr/>
          <p:nvPr/>
        </p:nvSpPr>
        <p:spPr>
          <a:xfrm>
            <a:off x="4572000" y="1691640"/>
            <a:ext cx="4160520" cy="29718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09160" y="1773936"/>
            <a:ext cx="3886200" cy="182880"/>
          </a:xfrm>
          <a:prstGeom prst="rect">
            <a:avLst/>
          </a:prstGeom>
          <a:noFill/>
        </p:spPr>
        <p:txBody>
          <a:bodyPr wrap="square" lIns="0" tIns="0" rIns="0" bIns="0" anchor="t">
            <a:spAutoFit/>
          </a:bodyPr>
          <a:lstStyle/>
          <a:p>
            <a:pPr algn="l"/>
            <a:r>
              <a:rPr sz="900" b="1" i="0">
                <a:solidFill>
                  <a:srgbClr val="E8F2EA"/>
                </a:solidFill>
                <a:latin typeface="Consolas"/>
              </a:rPr>
              <a:t>EARLY-EXERCISE BOUNDARY, AMERICAN PUT</a:t>
            </a:r>
          </a:p>
        </p:txBody>
      </p:sp>
      <p:graphicFrame>
        <p:nvGraphicFramePr>
          <p:cNvPr id="20" name="Chart 19"/>
          <p:cNvGraphicFramePr>
            <a:graphicFrameLocks noGrp="1"/>
          </p:cNvGraphicFramePr>
          <p:nvPr/>
        </p:nvGraphicFramePr>
        <p:xfrm>
          <a:off x="4626864" y="1984248"/>
          <a:ext cx="4032504"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p:cNvSpPr txBox="1"/>
          <p:nvPr/>
        </p:nvSpPr>
        <p:spPr>
          <a:xfrm>
            <a:off x="4709160" y="4334255"/>
            <a:ext cx="3886200" cy="274320"/>
          </a:xfrm>
          <a:prstGeom prst="rect">
            <a:avLst/>
          </a:prstGeom>
          <a:noFill/>
        </p:spPr>
        <p:txBody>
          <a:bodyPr wrap="square" lIns="0" tIns="0" rIns="0" bIns="0" anchor="t">
            <a:spAutoFit/>
          </a:bodyPr>
          <a:lstStyle/>
          <a:p>
            <a:pPr algn="l"/>
            <a:r>
              <a:rPr sz="900" b="0" i="0">
                <a:solidFill>
                  <a:srgbClr val="93A79A"/>
                </a:solidFill>
                <a:latin typeface="Arial"/>
              </a:rPr>
              <a:t>The fitted rule tracks the tree near expiry, where exercise happens.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12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6 / MONTE_CARLO</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Variance reduction is where</a:t>
            </a:r>
          </a:p>
          <a:p>
            <a:pPr algn="l">
              <a:lnSpc>
                <a:spcPct val="92000"/>
              </a:lnSpc>
            </a:pPr>
            <a:r>
              <a:rPr sz="2500" b="1" i="0">
                <a:solidFill>
                  <a:srgbClr val="E8F2EA"/>
                </a:solidFill>
                <a:latin typeface="Arial"/>
              </a:rPr>
              <a:t>the real work is.</a:t>
            </a:r>
          </a:p>
        </p:txBody>
      </p:sp>
      <p:sp>
        <p:nvSpPr>
          <p:cNvPr id="8" name="Rectangle 7"/>
          <p:cNvSpPr/>
          <p:nvPr/>
        </p:nvSpPr>
        <p:spPr>
          <a:xfrm>
            <a:off x="566928" y="1691640"/>
            <a:ext cx="4480560" cy="29718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773936"/>
            <a:ext cx="4206240" cy="182880"/>
          </a:xfrm>
          <a:prstGeom prst="rect">
            <a:avLst/>
          </a:prstGeom>
          <a:noFill/>
        </p:spPr>
        <p:txBody>
          <a:bodyPr wrap="square" lIns="0" tIns="0" rIns="0" bIns="0" anchor="t">
            <a:spAutoFit/>
          </a:bodyPr>
          <a:lstStyle/>
          <a:p>
            <a:pPr algn="l"/>
            <a:r>
              <a:rPr sz="900" b="1" i="0">
                <a:solidFill>
                  <a:srgbClr val="E8F2EA"/>
                </a:solidFill>
                <a:latin typeface="Consolas"/>
              </a:rPr>
              <a:t>EUROPEAN CALL: ESTIMATE AND 95% BAND vs PATHS</a:t>
            </a:r>
          </a:p>
        </p:txBody>
      </p:sp>
      <p:graphicFrame>
        <p:nvGraphicFramePr>
          <p:cNvPr id="10" name="Chart 9"/>
          <p:cNvGraphicFramePr>
            <a:graphicFrameLocks noGrp="1"/>
          </p:cNvGraphicFramePr>
          <p:nvPr/>
        </p:nvGraphicFramePr>
        <p:xfrm>
          <a:off x="621792" y="1984248"/>
          <a:ext cx="4352544"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04088" y="4334255"/>
            <a:ext cx="4206240" cy="274320"/>
          </a:xfrm>
          <a:prstGeom prst="rect">
            <a:avLst/>
          </a:prstGeom>
          <a:noFill/>
        </p:spPr>
        <p:txBody>
          <a:bodyPr wrap="square" lIns="0" tIns="0" rIns="0" bIns="0" anchor="t">
            <a:spAutoFit/>
          </a:bodyPr>
          <a:lstStyle/>
          <a:p>
            <a:pPr algn="l"/>
            <a:r>
              <a:rPr sz="900" b="0" i="0">
                <a:solidFill>
                  <a:srgbClr val="93A79A"/>
                </a:solidFill>
                <a:latin typeface="Arial"/>
              </a:rPr>
              <a:t>The band narrows as 1/√N and always contains the closed form.</a:t>
            </a:r>
          </a:p>
        </p:txBody>
      </p:sp>
      <p:sp>
        <p:nvSpPr>
          <p:cNvPr id="12" name="Rectangle 11"/>
          <p:cNvSpPr/>
          <p:nvPr/>
        </p:nvSpPr>
        <p:spPr>
          <a:xfrm>
            <a:off x="5230368" y="1691640"/>
            <a:ext cx="1700784" cy="9144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49240" y="1783080"/>
            <a:ext cx="1463040" cy="164592"/>
          </a:xfrm>
          <a:prstGeom prst="rect">
            <a:avLst/>
          </a:prstGeom>
          <a:noFill/>
        </p:spPr>
        <p:txBody>
          <a:bodyPr wrap="square" lIns="0" tIns="0" rIns="0" bIns="0" anchor="t">
            <a:spAutoFit/>
          </a:bodyPr>
          <a:lstStyle/>
          <a:p>
            <a:pPr algn="l"/>
            <a:r>
              <a:rPr sz="800" b="1" i="0">
                <a:solidFill>
                  <a:srgbClr val="93A79A"/>
                </a:solidFill>
                <a:latin typeface="Consolas"/>
              </a:rPr>
              <a:t>ANTITHETIC</a:t>
            </a:r>
          </a:p>
        </p:txBody>
      </p:sp>
      <p:sp>
        <p:nvSpPr>
          <p:cNvPr id="14" name="TextBox 13"/>
          <p:cNvSpPr txBox="1"/>
          <p:nvPr/>
        </p:nvSpPr>
        <p:spPr>
          <a:xfrm>
            <a:off x="5349240" y="1975104"/>
            <a:ext cx="1463040" cy="310896"/>
          </a:xfrm>
          <a:prstGeom prst="rect">
            <a:avLst/>
          </a:prstGeom>
          <a:noFill/>
        </p:spPr>
        <p:txBody>
          <a:bodyPr wrap="square" lIns="0" tIns="0" rIns="0" bIns="0" anchor="t">
            <a:spAutoFit/>
          </a:bodyPr>
          <a:lstStyle/>
          <a:p>
            <a:pPr algn="l"/>
            <a:r>
              <a:rPr sz="1700" b="1" i="0">
                <a:solidFill>
                  <a:srgbClr val="E8F2EA"/>
                </a:solidFill>
                <a:latin typeface="Consolas"/>
              </a:rPr>
              <a:t>÷2.1</a:t>
            </a:r>
          </a:p>
        </p:txBody>
      </p:sp>
      <p:sp>
        <p:nvSpPr>
          <p:cNvPr id="15" name="TextBox 14"/>
          <p:cNvSpPr txBox="1"/>
          <p:nvPr/>
        </p:nvSpPr>
        <p:spPr>
          <a:xfrm>
            <a:off x="5349240" y="2300732"/>
            <a:ext cx="1463040" cy="228600"/>
          </a:xfrm>
          <a:prstGeom prst="rect">
            <a:avLst/>
          </a:prstGeom>
          <a:noFill/>
        </p:spPr>
        <p:txBody>
          <a:bodyPr wrap="square" lIns="0" tIns="0" rIns="0" bIns="0" anchor="t">
            <a:spAutoFit/>
          </a:bodyPr>
          <a:lstStyle/>
          <a:p>
            <a:pPr algn="l"/>
            <a:r>
              <a:rPr sz="900" b="0" i="0">
                <a:solidFill>
                  <a:srgbClr val="93A79A"/>
                </a:solidFill>
                <a:latin typeface="Arial"/>
              </a:rPr>
              <a:t>variance, Asian call</a:t>
            </a:r>
          </a:p>
        </p:txBody>
      </p:sp>
      <p:sp>
        <p:nvSpPr>
          <p:cNvPr id="16" name="Rectangle 15"/>
          <p:cNvSpPr/>
          <p:nvPr/>
        </p:nvSpPr>
        <p:spPr>
          <a:xfrm>
            <a:off x="7031736" y="1691640"/>
            <a:ext cx="1700784" cy="9144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50608" y="1783080"/>
            <a:ext cx="1463040" cy="164592"/>
          </a:xfrm>
          <a:prstGeom prst="rect">
            <a:avLst/>
          </a:prstGeom>
          <a:noFill/>
        </p:spPr>
        <p:txBody>
          <a:bodyPr wrap="square" lIns="0" tIns="0" rIns="0" bIns="0" anchor="t">
            <a:spAutoFit/>
          </a:bodyPr>
          <a:lstStyle/>
          <a:p>
            <a:pPr algn="l"/>
            <a:r>
              <a:rPr sz="800" b="1" i="0">
                <a:solidFill>
                  <a:srgbClr val="93A79A"/>
                </a:solidFill>
                <a:latin typeface="Consolas"/>
              </a:rPr>
              <a:t>CONTROL VARIATE</a:t>
            </a:r>
          </a:p>
        </p:txBody>
      </p:sp>
      <p:sp>
        <p:nvSpPr>
          <p:cNvPr id="18" name="TextBox 17"/>
          <p:cNvSpPr txBox="1"/>
          <p:nvPr/>
        </p:nvSpPr>
        <p:spPr>
          <a:xfrm>
            <a:off x="7150608" y="1975104"/>
            <a:ext cx="1463040" cy="310896"/>
          </a:xfrm>
          <a:prstGeom prst="rect">
            <a:avLst/>
          </a:prstGeom>
          <a:noFill/>
        </p:spPr>
        <p:txBody>
          <a:bodyPr wrap="square" lIns="0" tIns="0" rIns="0" bIns="0" anchor="t">
            <a:spAutoFit/>
          </a:bodyPr>
          <a:lstStyle/>
          <a:p>
            <a:pPr algn="l"/>
            <a:r>
              <a:rPr sz="1700" b="1" i="0">
                <a:solidFill>
                  <a:srgbClr val="3DDC84"/>
                </a:solidFill>
                <a:latin typeface="Consolas"/>
              </a:rPr>
              <a:t>÷746</a:t>
            </a:r>
          </a:p>
        </p:txBody>
      </p:sp>
      <p:sp>
        <p:nvSpPr>
          <p:cNvPr id="19" name="TextBox 18"/>
          <p:cNvSpPr txBox="1"/>
          <p:nvPr/>
        </p:nvSpPr>
        <p:spPr>
          <a:xfrm>
            <a:off x="7150608" y="2300732"/>
            <a:ext cx="1463040" cy="228600"/>
          </a:xfrm>
          <a:prstGeom prst="rect">
            <a:avLst/>
          </a:prstGeom>
          <a:noFill/>
        </p:spPr>
        <p:txBody>
          <a:bodyPr wrap="square" lIns="0" tIns="0" rIns="0" bIns="0" anchor="t">
            <a:spAutoFit/>
          </a:bodyPr>
          <a:lstStyle/>
          <a:p>
            <a:pPr algn="l"/>
            <a:r>
              <a:rPr sz="900" b="0" i="0">
                <a:solidFill>
                  <a:srgbClr val="93A79A"/>
                </a:solidFill>
                <a:latin typeface="Arial"/>
              </a:rPr>
              <a:t>variance; error ÷27</a:t>
            </a:r>
          </a:p>
        </p:txBody>
      </p:sp>
      <p:sp>
        <p:nvSpPr>
          <p:cNvPr id="20" name="TextBox 19"/>
          <p:cNvSpPr txBox="1"/>
          <p:nvPr/>
        </p:nvSpPr>
        <p:spPr>
          <a:xfrm>
            <a:off x="5230368" y="2761488"/>
            <a:ext cx="3520440" cy="1920240"/>
          </a:xfrm>
          <a:prstGeom prst="rect">
            <a:avLst/>
          </a:prstGeom>
          <a:noFill/>
        </p:spPr>
        <p:txBody>
          <a:bodyPr wrap="square" lIns="0" tIns="0" rIns="0" bIns="0" anchor="t">
            <a:spAutoFit/>
          </a:bodyPr>
          <a:lstStyle/>
          <a:p>
            <a:pPr marL="155448" indent="-155448" algn="l">
              <a:spcAft>
                <a:spcPts val="400"/>
              </a:spcAft>
              <a:buClr>
                <a:srgbClr val="3DDC84"/>
              </a:buClr>
              <a:buFont typeface="Arial"/>
              <a:buChar char="▪"/>
            </a:pPr>
            <a:r>
              <a:rPr sz="1000" b="0" i="0">
                <a:solidFill>
                  <a:srgbClr val="E8F2EA"/>
                </a:solidFill>
                <a:latin typeface="Arial"/>
              </a:rPr>
              <a:t>Exact log-normal stepping: no discretisation error in the marginals.</a:t>
            </a:r>
          </a:p>
          <a:p>
            <a:pPr marL="155448" indent="-155448" algn="l">
              <a:spcAft>
                <a:spcPts val="400"/>
              </a:spcAft>
              <a:buClr>
                <a:srgbClr val="3DDC84"/>
              </a:buClr>
              <a:buFont typeface="Arial"/>
              <a:buChar char="▪"/>
            </a:pPr>
            <a:r>
              <a:rPr sz="1000" b="0" i="0">
                <a:solidFill>
                  <a:srgbClr val="E8F2EA"/>
                </a:solidFill>
                <a:latin typeface="Arial"/>
              </a:rPr>
              <a:t>Common random numbers for every bumped Greek, so the noise cancels.</a:t>
            </a:r>
          </a:p>
          <a:p>
            <a:pPr marL="155448" indent="-155448" algn="l">
              <a:spcAft>
                <a:spcPts val="400"/>
              </a:spcAft>
              <a:buClr>
                <a:srgbClr val="3DDC84"/>
              </a:buClr>
              <a:buFont typeface="Arial"/>
              <a:buChar char="▪"/>
            </a:pPr>
            <a:r>
              <a:rPr sz="1000" b="0" i="0">
                <a:solidFill>
                  <a:srgbClr val="E8F2EA"/>
                </a:solidFill>
                <a:latin typeface="Arial"/>
              </a:rPr>
              <a:t>Error bars measured on antithetic pairs; counting 2n paths overstated precision by 37%.</a:t>
            </a:r>
          </a:p>
          <a:p>
            <a:pPr marL="155448" indent="-155448" algn="l">
              <a:spcAft>
                <a:spcPts val="400"/>
              </a:spcAft>
              <a:buClr>
                <a:srgbClr val="3DDC84"/>
              </a:buClr>
              <a:buFont typeface="Arial"/>
              <a:buChar char="▪"/>
            </a:pPr>
            <a:r>
              <a:rPr sz="1000" b="0" i="0">
                <a:solidFill>
                  <a:srgbClr val="E8F2EA"/>
                </a:solidFill>
                <a:latin typeface="Arial"/>
              </a:rPr>
              <a:t>A 40-seed study confirmed no bias and correctly sized error bars.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13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6 / EXOTICS</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Path-dependent products</a:t>
            </a:r>
          </a:p>
          <a:p>
            <a:pPr algn="l">
              <a:lnSpc>
                <a:spcPct val="92000"/>
              </a:lnSpc>
            </a:pPr>
            <a:r>
              <a:rPr sz="2500" b="1" i="0">
                <a:solidFill>
                  <a:srgbClr val="E8F2EA"/>
                </a:solidFill>
                <a:latin typeface="Arial"/>
              </a:rPr>
              <a:t>need the whole path.</a:t>
            </a:r>
          </a:p>
        </p:txBody>
      </p:sp>
      <p:sp>
        <p:nvSpPr>
          <p:cNvPr id="8" name="Rectangle 7"/>
          <p:cNvSpPr/>
          <p:nvPr/>
        </p:nvSpPr>
        <p:spPr>
          <a:xfrm>
            <a:off x="566928" y="1691640"/>
            <a:ext cx="1463040" cy="12984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783080"/>
            <a:ext cx="1225296" cy="164592"/>
          </a:xfrm>
          <a:prstGeom prst="rect">
            <a:avLst/>
          </a:prstGeom>
          <a:noFill/>
        </p:spPr>
        <p:txBody>
          <a:bodyPr wrap="square" lIns="0" tIns="0" rIns="0" bIns="0" anchor="t">
            <a:spAutoFit/>
          </a:bodyPr>
          <a:lstStyle/>
          <a:p>
            <a:pPr algn="l"/>
            <a:r>
              <a:rPr sz="800" b="1" i="0">
                <a:solidFill>
                  <a:srgbClr val="3DDC84"/>
                </a:solidFill>
                <a:latin typeface="Consolas"/>
              </a:rPr>
              <a:t>ASIAN</a:t>
            </a:r>
          </a:p>
        </p:txBody>
      </p:sp>
      <p:sp>
        <p:nvSpPr>
          <p:cNvPr id="10" name="TextBox 9"/>
          <p:cNvSpPr txBox="1"/>
          <p:nvPr/>
        </p:nvSpPr>
        <p:spPr>
          <a:xfrm>
            <a:off x="685800" y="1975104"/>
            <a:ext cx="1225296" cy="310896"/>
          </a:xfrm>
          <a:prstGeom prst="rect">
            <a:avLst/>
          </a:prstGeom>
          <a:noFill/>
        </p:spPr>
        <p:txBody>
          <a:bodyPr wrap="square" lIns="0" tIns="0" rIns="0" bIns="0" anchor="t">
            <a:spAutoFit/>
          </a:bodyPr>
          <a:lstStyle/>
          <a:p>
            <a:pPr algn="l"/>
            <a:r>
              <a:rPr sz="1500" b="1" i="0">
                <a:solidFill>
                  <a:srgbClr val="3DDC84"/>
                </a:solidFill>
                <a:latin typeface="Consolas"/>
              </a:rPr>
              <a:t>5.7825</a:t>
            </a:r>
          </a:p>
        </p:txBody>
      </p:sp>
      <p:sp>
        <p:nvSpPr>
          <p:cNvPr id="11" name="TextBox 10"/>
          <p:cNvSpPr txBox="1"/>
          <p:nvPr/>
        </p:nvSpPr>
        <p:spPr>
          <a:xfrm>
            <a:off x="685800" y="2275332"/>
            <a:ext cx="1225296" cy="612647"/>
          </a:xfrm>
          <a:prstGeom prst="rect">
            <a:avLst/>
          </a:prstGeom>
          <a:noFill/>
        </p:spPr>
        <p:txBody>
          <a:bodyPr wrap="square" lIns="0" tIns="0" rIns="0" bIns="0" anchor="t">
            <a:spAutoFit/>
          </a:bodyPr>
          <a:lstStyle/>
          <a:p>
            <a:pPr algn="l"/>
            <a:r>
              <a:rPr sz="900" b="0" i="0">
                <a:solidFill>
                  <a:srgbClr val="93A79A"/>
                </a:solidFill>
                <a:latin typeface="Arial"/>
              </a:rPr>
              <a:t>±0.0009 · 252 fixings. Vanilla 10.45: 45% cheaper</a:t>
            </a:r>
          </a:p>
        </p:txBody>
      </p:sp>
      <p:sp>
        <p:nvSpPr>
          <p:cNvPr id="12" name="Rectangle 11"/>
          <p:cNvSpPr/>
          <p:nvPr/>
        </p:nvSpPr>
        <p:spPr>
          <a:xfrm>
            <a:off x="2130552" y="1691640"/>
            <a:ext cx="1463040" cy="12984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9424" y="1783080"/>
            <a:ext cx="1225296" cy="164592"/>
          </a:xfrm>
          <a:prstGeom prst="rect">
            <a:avLst/>
          </a:prstGeom>
          <a:noFill/>
        </p:spPr>
        <p:txBody>
          <a:bodyPr wrap="square" lIns="0" tIns="0" rIns="0" bIns="0" anchor="t">
            <a:spAutoFit/>
          </a:bodyPr>
          <a:lstStyle/>
          <a:p>
            <a:pPr algn="l"/>
            <a:r>
              <a:rPr sz="800" b="1" i="0">
                <a:solidFill>
                  <a:srgbClr val="3DDC84"/>
                </a:solidFill>
                <a:latin typeface="Consolas"/>
              </a:rPr>
              <a:t>LOOKBACK</a:t>
            </a:r>
          </a:p>
        </p:txBody>
      </p:sp>
      <p:sp>
        <p:nvSpPr>
          <p:cNvPr id="14" name="TextBox 13"/>
          <p:cNvSpPr txBox="1"/>
          <p:nvPr/>
        </p:nvSpPr>
        <p:spPr>
          <a:xfrm>
            <a:off x="2249424" y="1975104"/>
            <a:ext cx="1225296" cy="310896"/>
          </a:xfrm>
          <a:prstGeom prst="rect">
            <a:avLst/>
          </a:prstGeom>
          <a:noFill/>
        </p:spPr>
        <p:txBody>
          <a:bodyPr wrap="square" lIns="0" tIns="0" rIns="0" bIns="0" anchor="t">
            <a:spAutoFit/>
          </a:bodyPr>
          <a:lstStyle/>
          <a:p>
            <a:pPr algn="l"/>
            <a:r>
              <a:rPr sz="1500" b="1" i="0">
                <a:solidFill>
                  <a:srgbClr val="E8F2EA"/>
                </a:solidFill>
                <a:latin typeface="Consolas"/>
              </a:rPr>
              <a:t>17.2168</a:t>
            </a:r>
          </a:p>
        </p:txBody>
      </p:sp>
      <p:sp>
        <p:nvSpPr>
          <p:cNvPr id="15" name="TextBox 14"/>
          <p:cNvSpPr txBox="1"/>
          <p:nvPr/>
        </p:nvSpPr>
        <p:spPr>
          <a:xfrm>
            <a:off x="2249424" y="2275332"/>
            <a:ext cx="1225296" cy="612647"/>
          </a:xfrm>
          <a:prstGeom prst="rect">
            <a:avLst/>
          </a:prstGeom>
          <a:noFill/>
        </p:spPr>
        <p:txBody>
          <a:bodyPr wrap="square" lIns="0" tIns="0" rIns="0" bIns="0" anchor="t">
            <a:spAutoFit/>
          </a:bodyPr>
          <a:lstStyle/>
          <a:p>
            <a:pPr algn="l"/>
            <a:r>
              <a:rPr sz="900" b="0" i="0">
                <a:solidFill>
                  <a:srgbClr val="93A79A"/>
                </a:solidFill>
                <a:latin typeface="Arial"/>
              </a:rPr>
              <a:t>closed form. MC raw 16.61 → corrected 17.22</a:t>
            </a:r>
          </a:p>
        </p:txBody>
      </p:sp>
      <p:sp>
        <p:nvSpPr>
          <p:cNvPr id="16" name="Rectangle 15"/>
          <p:cNvSpPr/>
          <p:nvPr/>
        </p:nvSpPr>
        <p:spPr>
          <a:xfrm>
            <a:off x="3694176" y="1691640"/>
            <a:ext cx="1463040" cy="12984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13048" y="1783080"/>
            <a:ext cx="1225296" cy="164592"/>
          </a:xfrm>
          <a:prstGeom prst="rect">
            <a:avLst/>
          </a:prstGeom>
          <a:noFill/>
        </p:spPr>
        <p:txBody>
          <a:bodyPr wrap="square" lIns="0" tIns="0" rIns="0" bIns="0" anchor="t">
            <a:spAutoFit/>
          </a:bodyPr>
          <a:lstStyle/>
          <a:p>
            <a:pPr algn="l"/>
            <a:r>
              <a:rPr sz="800" b="1" i="0">
                <a:solidFill>
                  <a:srgbClr val="3DDC84"/>
                </a:solidFill>
                <a:latin typeface="Consolas"/>
              </a:rPr>
              <a:t>BASKET</a:t>
            </a:r>
          </a:p>
        </p:txBody>
      </p:sp>
      <p:sp>
        <p:nvSpPr>
          <p:cNvPr id="18" name="TextBox 17"/>
          <p:cNvSpPr txBox="1"/>
          <p:nvPr/>
        </p:nvSpPr>
        <p:spPr>
          <a:xfrm>
            <a:off x="3813048" y="1975104"/>
            <a:ext cx="1225296" cy="310896"/>
          </a:xfrm>
          <a:prstGeom prst="rect">
            <a:avLst/>
          </a:prstGeom>
          <a:noFill/>
        </p:spPr>
        <p:txBody>
          <a:bodyPr wrap="square" lIns="0" tIns="0" rIns="0" bIns="0" anchor="t">
            <a:spAutoFit/>
          </a:bodyPr>
          <a:lstStyle/>
          <a:p>
            <a:pPr algn="l"/>
            <a:r>
              <a:rPr sz="1500" b="1" i="0">
                <a:solidFill>
                  <a:srgbClr val="E8F2EA"/>
                </a:solidFill>
                <a:latin typeface="Consolas"/>
              </a:rPr>
              <a:t>9.1657</a:t>
            </a:r>
          </a:p>
        </p:txBody>
      </p:sp>
      <p:sp>
        <p:nvSpPr>
          <p:cNvPr id="19" name="TextBox 18"/>
          <p:cNvSpPr txBox="1"/>
          <p:nvPr/>
        </p:nvSpPr>
        <p:spPr>
          <a:xfrm>
            <a:off x="3813048" y="2275332"/>
            <a:ext cx="1225296" cy="612647"/>
          </a:xfrm>
          <a:prstGeom prst="rect">
            <a:avLst/>
          </a:prstGeom>
          <a:noFill/>
        </p:spPr>
        <p:txBody>
          <a:bodyPr wrap="square" lIns="0" tIns="0" rIns="0" bIns="0" anchor="t">
            <a:spAutoFit/>
          </a:bodyPr>
          <a:lstStyle/>
          <a:p>
            <a:pPr algn="l"/>
            <a:r>
              <a:rPr sz="900" b="0" i="0">
                <a:solidFill>
                  <a:srgbClr val="93A79A"/>
                </a:solidFill>
                <a:latin typeface="Arial"/>
              </a:rPr>
              <a:t>ρ = 0.5, 3 assets. Levy approx 9.13</a:t>
            </a:r>
          </a:p>
        </p:txBody>
      </p:sp>
      <p:sp>
        <p:nvSpPr>
          <p:cNvPr id="20" name="TextBox 19"/>
          <p:cNvSpPr txBox="1"/>
          <p:nvPr/>
        </p:nvSpPr>
        <p:spPr>
          <a:xfrm>
            <a:off x="566928" y="3154680"/>
            <a:ext cx="4572000" cy="1554480"/>
          </a:xfrm>
          <a:prstGeom prst="rect">
            <a:avLst/>
          </a:prstGeom>
          <a:noFill/>
        </p:spPr>
        <p:txBody>
          <a:bodyPr wrap="square" lIns="0" tIns="0" rIns="0" bIns="0" anchor="t">
            <a:spAutoFit/>
          </a:bodyPr>
          <a:lstStyle/>
          <a:p>
            <a:pPr marL="155448" indent="-155448" algn="l">
              <a:spcAft>
                <a:spcPts val="400"/>
              </a:spcAft>
              <a:buClr>
                <a:srgbClr val="3DDC84"/>
              </a:buClr>
              <a:buFont typeface="Arial"/>
              <a:buChar char="▪"/>
            </a:pPr>
            <a:r>
              <a:rPr sz="1000" b="0" i="0">
                <a:solidFill>
                  <a:srgbClr val="E8F2EA"/>
                </a:solidFill>
                <a:latin typeface="Arial"/>
              </a:rPr>
              <a:t>Asian: an average swings less than a terminal price, so the option is cheaper and has 41% less vega.</a:t>
            </a:r>
          </a:p>
          <a:p>
            <a:pPr marL="155448" indent="-155448" algn="l">
              <a:spcAft>
                <a:spcPts val="400"/>
              </a:spcAft>
              <a:buClr>
                <a:srgbClr val="3DDC84"/>
              </a:buClr>
              <a:buFont typeface="Arial"/>
              <a:buChar char="▪"/>
            </a:pPr>
            <a:r>
              <a:rPr sz="1000" b="0" i="0">
                <a:solidFill>
                  <a:srgbClr val="E8F2EA"/>
                </a:solidFill>
                <a:latin typeface="Arial"/>
              </a:rPr>
              <a:t>Lookback: a discrete path misses extremes between dates, a one-sided bias that never averages out.</a:t>
            </a:r>
          </a:p>
          <a:p>
            <a:pPr marL="155448" indent="-155448" algn="l">
              <a:spcAft>
                <a:spcPts val="400"/>
              </a:spcAft>
              <a:buClr>
                <a:srgbClr val="3DDC84"/>
              </a:buClr>
              <a:buFont typeface="Arial"/>
              <a:buChar char="▪"/>
            </a:pPr>
            <a:r>
              <a:rPr sz="1000" b="0" i="0">
                <a:solidFill>
                  <a:srgbClr val="E8F2EA"/>
                </a:solidFill>
                <a:latin typeface="Arial"/>
              </a:rPr>
              <a:t>Basket: value is a direct bet on how together the assets move.</a:t>
            </a:r>
          </a:p>
        </p:txBody>
      </p:sp>
      <p:sp>
        <p:nvSpPr>
          <p:cNvPr id="21" name="Rectangle 20"/>
          <p:cNvSpPr/>
          <p:nvPr/>
        </p:nvSpPr>
        <p:spPr>
          <a:xfrm>
            <a:off x="5349240" y="1691640"/>
            <a:ext cx="3383280" cy="29718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0" y="1773936"/>
            <a:ext cx="3108960" cy="182880"/>
          </a:xfrm>
          <a:prstGeom prst="rect">
            <a:avLst/>
          </a:prstGeom>
          <a:noFill/>
        </p:spPr>
        <p:txBody>
          <a:bodyPr wrap="square" lIns="0" tIns="0" rIns="0" bIns="0" anchor="t">
            <a:spAutoFit/>
          </a:bodyPr>
          <a:lstStyle/>
          <a:p>
            <a:pPr algn="l"/>
            <a:r>
              <a:rPr sz="900" b="1" i="0">
                <a:solidFill>
                  <a:srgbClr val="E8F2EA"/>
                </a:solidFill>
                <a:latin typeface="Consolas"/>
              </a:rPr>
              <a:t>BASKET CALL vs CORRELATION</a:t>
            </a:r>
          </a:p>
        </p:txBody>
      </p:sp>
      <p:graphicFrame>
        <p:nvGraphicFramePr>
          <p:cNvPr id="23" name="Chart 22"/>
          <p:cNvGraphicFramePr>
            <a:graphicFrameLocks noGrp="1"/>
          </p:cNvGraphicFramePr>
          <p:nvPr/>
        </p:nvGraphicFramePr>
        <p:xfrm>
          <a:off x="5404103" y="1984248"/>
          <a:ext cx="3255264"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23"/>
          <p:cNvSpPr txBox="1"/>
          <p:nvPr/>
        </p:nvSpPr>
        <p:spPr>
          <a:xfrm>
            <a:off x="5486400" y="4334255"/>
            <a:ext cx="3108960" cy="274320"/>
          </a:xfrm>
          <a:prstGeom prst="rect">
            <a:avLst/>
          </a:prstGeom>
          <a:noFill/>
        </p:spPr>
        <p:txBody>
          <a:bodyPr wrap="square" lIns="0" tIns="0" rIns="0" bIns="0" anchor="t">
            <a:spAutoFit/>
          </a:bodyPr>
          <a:lstStyle/>
          <a:p>
            <a:pPr algn="l"/>
            <a:r>
              <a:rPr sz="900" b="0" i="0">
                <a:solidFill>
                  <a:srgbClr val="93A79A"/>
                </a:solidFill>
                <a:latin typeface="Arial"/>
              </a:rPr>
              <a:t>ρ 0 → 0.8 lifts the price 7.46 → 10.02.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14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7 / FINITE_DIFFERENCE</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The barrier is</a:t>
            </a:r>
          </a:p>
          <a:p>
            <a:pPr algn="l">
              <a:lnSpc>
                <a:spcPct val="92000"/>
              </a:lnSpc>
            </a:pPr>
            <a:r>
              <a:rPr sz="2500" b="1" i="0">
                <a:solidFill>
                  <a:srgbClr val="E8F2EA"/>
                </a:solidFill>
                <a:latin typeface="Arial"/>
              </a:rPr>
              <a:t>just a boundary.</a:t>
            </a:r>
          </a:p>
        </p:txBody>
      </p:sp>
      <p:sp>
        <p:nvSpPr>
          <p:cNvPr id="8" name="Rectangle 7"/>
          <p:cNvSpPr/>
          <p:nvPr/>
        </p:nvSpPr>
        <p:spPr>
          <a:xfrm>
            <a:off x="566928" y="1691640"/>
            <a:ext cx="4160520" cy="29718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773936"/>
            <a:ext cx="3886200" cy="182880"/>
          </a:xfrm>
          <a:prstGeom prst="rect">
            <a:avLst/>
          </a:prstGeom>
          <a:noFill/>
        </p:spPr>
        <p:txBody>
          <a:bodyPr wrap="square" lIns="0" tIns="0" rIns="0" bIns="0" anchor="t">
            <a:spAutoFit/>
          </a:bodyPr>
          <a:lstStyle/>
          <a:p>
            <a:pPr algn="l"/>
            <a:r>
              <a:rPr sz="900" b="1" i="0">
                <a:solidFill>
                  <a:srgbClr val="E8F2EA"/>
                </a:solidFill>
                <a:latin typeface="Consolas"/>
              </a:rPr>
              <a:t>UP-AND-OUT CALL vs BARRIER LEVEL</a:t>
            </a:r>
          </a:p>
        </p:txBody>
      </p:sp>
      <p:graphicFrame>
        <p:nvGraphicFramePr>
          <p:cNvPr id="10" name="Chart 9"/>
          <p:cNvGraphicFramePr>
            <a:graphicFrameLocks noGrp="1"/>
          </p:cNvGraphicFramePr>
          <p:nvPr/>
        </p:nvGraphicFramePr>
        <p:xfrm>
          <a:off x="621792" y="1984248"/>
          <a:ext cx="4032504"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04088" y="4334255"/>
            <a:ext cx="3886200" cy="274320"/>
          </a:xfrm>
          <a:prstGeom prst="rect">
            <a:avLst/>
          </a:prstGeom>
          <a:noFill/>
        </p:spPr>
        <p:txBody>
          <a:bodyPr wrap="square" lIns="0" tIns="0" rIns="0" bIns="0" anchor="t">
            <a:spAutoFit/>
          </a:bodyPr>
          <a:lstStyle/>
          <a:p>
            <a:pPr algn="l"/>
            <a:r>
              <a:rPr sz="900" b="0" i="0">
                <a:solidFill>
                  <a:srgbClr val="93A79A"/>
                </a:solidFill>
                <a:latin typeface="Arial"/>
              </a:rPr>
              <a:t>A barrier at 120 cuts the call from 10.45 to 1.18.</a:t>
            </a:r>
          </a:p>
        </p:txBody>
      </p:sp>
      <p:sp>
        <p:nvSpPr>
          <p:cNvPr id="12" name="Rectangle 11"/>
          <p:cNvSpPr/>
          <p:nvPr/>
        </p:nvSpPr>
        <p:spPr>
          <a:xfrm>
            <a:off x="4919472" y="1691640"/>
            <a:ext cx="1847088" cy="89611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38344" y="1783080"/>
            <a:ext cx="1609344" cy="164592"/>
          </a:xfrm>
          <a:prstGeom prst="rect">
            <a:avLst/>
          </a:prstGeom>
          <a:noFill/>
        </p:spPr>
        <p:txBody>
          <a:bodyPr wrap="square" lIns="0" tIns="0" rIns="0" bIns="0" anchor="t">
            <a:spAutoFit/>
          </a:bodyPr>
          <a:lstStyle/>
          <a:p>
            <a:pPr algn="l"/>
            <a:r>
              <a:rPr sz="800" b="1" i="0">
                <a:solidFill>
                  <a:srgbClr val="93A79A"/>
                </a:solidFill>
                <a:latin typeface="Consolas"/>
              </a:rPr>
              <a:t>UP-AND-OUT, H=120</a:t>
            </a:r>
          </a:p>
        </p:txBody>
      </p:sp>
      <p:sp>
        <p:nvSpPr>
          <p:cNvPr id="14" name="TextBox 13"/>
          <p:cNvSpPr txBox="1"/>
          <p:nvPr/>
        </p:nvSpPr>
        <p:spPr>
          <a:xfrm>
            <a:off x="5038344" y="1975104"/>
            <a:ext cx="1609344" cy="310896"/>
          </a:xfrm>
          <a:prstGeom prst="rect">
            <a:avLst/>
          </a:prstGeom>
          <a:noFill/>
        </p:spPr>
        <p:txBody>
          <a:bodyPr wrap="square" lIns="0" tIns="0" rIns="0" bIns="0" anchor="t">
            <a:spAutoFit/>
          </a:bodyPr>
          <a:lstStyle/>
          <a:p>
            <a:pPr algn="l"/>
            <a:r>
              <a:rPr sz="1400" b="1" i="0">
                <a:solidFill>
                  <a:srgbClr val="B78CFF"/>
                </a:solidFill>
                <a:latin typeface="Consolas"/>
              </a:rPr>
              <a:t>1.1756</a:t>
            </a:r>
          </a:p>
        </p:txBody>
      </p:sp>
      <p:sp>
        <p:nvSpPr>
          <p:cNvPr id="15" name="TextBox 14"/>
          <p:cNvSpPr txBox="1"/>
          <p:nvPr/>
        </p:nvSpPr>
        <p:spPr>
          <a:xfrm>
            <a:off x="5038344" y="2262632"/>
            <a:ext cx="1609344" cy="210311"/>
          </a:xfrm>
          <a:prstGeom prst="rect">
            <a:avLst/>
          </a:prstGeom>
          <a:noFill/>
        </p:spPr>
        <p:txBody>
          <a:bodyPr wrap="square" lIns="0" tIns="0" rIns="0" bIns="0" anchor="t">
            <a:spAutoFit/>
          </a:bodyPr>
          <a:lstStyle/>
          <a:p>
            <a:pPr algn="l"/>
            <a:r>
              <a:rPr sz="900" b="0" i="0">
                <a:solidFill>
                  <a:srgbClr val="93A79A"/>
                </a:solidFill>
                <a:latin typeface="Arial"/>
              </a:rPr>
              <a:t>closed form 1.1761</a:t>
            </a:r>
          </a:p>
        </p:txBody>
      </p:sp>
      <p:sp>
        <p:nvSpPr>
          <p:cNvPr id="16" name="Rectangle 15"/>
          <p:cNvSpPr/>
          <p:nvPr/>
        </p:nvSpPr>
        <p:spPr>
          <a:xfrm>
            <a:off x="6867144" y="1691640"/>
            <a:ext cx="1847088" cy="89611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86016" y="1783080"/>
            <a:ext cx="1609344" cy="164592"/>
          </a:xfrm>
          <a:prstGeom prst="rect">
            <a:avLst/>
          </a:prstGeom>
          <a:noFill/>
        </p:spPr>
        <p:txBody>
          <a:bodyPr wrap="square" lIns="0" tIns="0" rIns="0" bIns="0" anchor="t">
            <a:spAutoFit/>
          </a:bodyPr>
          <a:lstStyle/>
          <a:p>
            <a:pPr algn="l"/>
            <a:r>
              <a:rPr sz="800" b="1" i="0">
                <a:solidFill>
                  <a:srgbClr val="93A79A"/>
                </a:solidFill>
                <a:latin typeface="Consolas"/>
              </a:rPr>
              <a:t>UP-AND-IN, H=120</a:t>
            </a:r>
          </a:p>
        </p:txBody>
      </p:sp>
      <p:sp>
        <p:nvSpPr>
          <p:cNvPr id="18" name="TextBox 17"/>
          <p:cNvSpPr txBox="1"/>
          <p:nvPr/>
        </p:nvSpPr>
        <p:spPr>
          <a:xfrm>
            <a:off x="6986016" y="1975104"/>
            <a:ext cx="1609344" cy="310896"/>
          </a:xfrm>
          <a:prstGeom prst="rect">
            <a:avLst/>
          </a:prstGeom>
          <a:noFill/>
        </p:spPr>
        <p:txBody>
          <a:bodyPr wrap="square" lIns="0" tIns="0" rIns="0" bIns="0" anchor="t">
            <a:spAutoFit/>
          </a:bodyPr>
          <a:lstStyle/>
          <a:p>
            <a:pPr algn="l"/>
            <a:r>
              <a:rPr sz="1400" b="1" i="0">
                <a:solidFill>
                  <a:srgbClr val="E8F2EA"/>
                </a:solidFill>
                <a:latin typeface="Consolas"/>
              </a:rPr>
              <a:t>9.2750</a:t>
            </a:r>
          </a:p>
        </p:txBody>
      </p:sp>
      <p:sp>
        <p:nvSpPr>
          <p:cNvPr id="19" name="TextBox 18"/>
          <p:cNvSpPr txBox="1"/>
          <p:nvPr/>
        </p:nvSpPr>
        <p:spPr>
          <a:xfrm>
            <a:off x="6986016" y="2262632"/>
            <a:ext cx="1609344" cy="210311"/>
          </a:xfrm>
          <a:prstGeom prst="rect">
            <a:avLst/>
          </a:prstGeom>
          <a:noFill/>
        </p:spPr>
        <p:txBody>
          <a:bodyPr wrap="square" lIns="0" tIns="0" rIns="0" bIns="0" anchor="t">
            <a:spAutoFit/>
          </a:bodyPr>
          <a:lstStyle/>
          <a:p>
            <a:pPr algn="l"/>
            <a:r>
              <a:rPr sz="900" b="0" i="0">
                <a:solidFill>
                  <a:srgbClr val="93A79A"/>
                </a:solidFill>
                <a:latin typeface="Arial"/>
              </a:rPr>
              <a:t>vanilla minus knock-out</a:t>
            </a:r>
          </a:p>
        </p:txBody>
      </p:sp>
      <p:sp>
        <p:nvSpPr>
          <p:cNvPr id="20" name="Rectangle 19"/>
          <p:cNvSpPr/>
          <p:nvPr/>
        </p:nvSpPr>
        <p:spPr>
          <a:xfrm>
            <a:off x="4919472" y="2697480"/>
            <a:ext cx="1847088" cy="89611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38344" y="2788920"/>
            <a:ext cx="1609344" cy="164592"/>
          </a:xfrm>
          <a:prstGeom prst="rect">
            <a:avLst/>
          </a:prstGeom>
          <a:noFill/>
        </p:spPr>
        <p:txBody>
          <a:bodyPr wrap="square" lIns="0" tIns="0" rIns="0" bIns="0" anchor="t">
            <a:spAutoFit/>
          </a:bodyPr>
          <a:lstStyle/>
          <a:p>
            <a:pPr algn="l"/>
            <a:r>
              <a:rPr sz="800" b="1" i="0">
                <a:solidFill>
                  <a:srgbClr val="93A79A"/>
                </a:solidFill>
                <a:latin typeface="Consolas"/>
              </a:rPr>
              <a:t>IN + OUT</a:t>
            </a:r>
          </a:p>
        </p:txBody>
      </p:sp>
      <p:sp>
        <p:nvSpPr>
          <p:cNvPr id="22" name="TextBox 21"/>
          <p:cNvSpPr txBox="1"/>
          <p:nvPr/>
        </p:nvSpPr>
        <p:spPr>
          <a:xfrm>
            <a:off x="5038344" y="2980944"/>
            <a:ext cx="1609344" cy="310896"/>
          </a:xfrm>
          <a:prstGeom prst="rect">
            <a:avLst/>
          </a:prstGeom>
          <a:noFill/>
        </p:spPr>
        <p:txBody>
          <a:bodyPr wrap="square" lIns="0" tIns="0" rIns="0" bIns="0" anchor="t">
            <a:spAutoFit/>
          </a:bodyPr>
          <a:lstStyle/>
          <a:p>
            <a:pPr algn="l"/>
            <a:r>
              <a:rPr sz="1400" b="1" i="0">
                <a:solidFill>
                  <a:srgbClr val="3DDC84"/>
                </a:solidFill>
                <a:latin typeface="Consolas"/>
              </a:rPr>
              <a:t>10.4506 ✓</a:t>
            </a:r>
          </a:p>
        </p:txBody>
      </p:sp>
      <p:sp>
        <p:nvSpPr>
          <p:cNvPr id="23" name="TextBox 22"/>
          <p:cNvSpPr txBox="1"/>
          <p:nvPr/>
        </p:nvSpPr>
        <p:spPr>
          <a:xfrm>
            <a:off x="5038344" y="3268472"/>
            <a:ext cx="1609344" cy="210311"/>
          </a:xfrm>
          <a:prstGeom prst="rect">
            <a:avLst/>
          </a:prstGeom>
          <a:noFill/>
        </p:spPr>
        <p:txBody>
          <a:bodyPr wrap="square" lIns="0" tIns="0" rIns="0" bIns="0" anchor="t">
            <a:spAutoFit/>
          </a:bodyPr>
          <a:lstStyle/>
          <a:p>
            <a:pPr algn="l"/>
            <a:r>
              <a:rPr sz="900" b="0" i="0">
                <a:solidFill>
                  <a:srgbClr val="93A79A"/>
                </a:solidFill>
                <a:latin typeface="Arial"/>
              </a:rPr>
              <a:t>vanilla 10.4506</a:t>
            </a:r>
          </a:p>
        </p:txBody>
      </p:sp>
      <p:sp>
        <p:nvSpPr>
          <p:cNvPr id="24" name="Rectangle 23"/>
          <p:cNvSpPr/>
          <p:nvPr/>
        </p:nvSpPr>
        <p:spPr>
          <a:xfrm>
            <a:off x="6867144" y="2697480"/>
            <a:ext cx="1847088" cy="89611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86016" y="2788920"/>
            <a:ext cx="1609344" cy="164592"/>
          </a:xfrm>
          <a:prstGeom prst="rect">
            <a:avLst/>
          </a:prstGeom>
          <a:noFill/>
        </p:spPr>
        <p:txBody>
          <a:bodyPr wrap="square" lIns="0" tIns="0" rIns="0" bIns="0" anchor="t">
            <a:spAutoFit/>
          </a:bodyPr>
          <a:lstStyle/>
          <a:p>
            <a:pPr algn="l"/>
            <a:r>
              <a:rPr sz="800" b="1" i="0">
                <a:solidFill>
                  <a:srgbClr val="93A79A"/>
                </a:solidFill>
                <a:latin typeface="Consolas"/>
              </a:rPr>
              <a:t>MC · BROWNIAN BRIDGE</a:t>
            </a:r>
          </a:p>
        </p:txBody>
      </p:sp>
      <p:sp>
        <p:nvSpPr>
          <p:cNvPr id="26" name="TextBox 25"/>
          <p:cNvSpPr txBox="1"/>
          <p:nvPr/>
        </p:nvSpPr>
        <p:spPr>
          <a:xfrm>
            <a:off x="6986016" y="2980944"/>
            <a:ext cx="1609344" cy="310896"/>
          </a:xfrm>
          <a:prstGeom prst="rect">
            <a:avLst/>
          </a:prstGeom>
          <a:noFill/>
        </p:spPr>
        <p:txBody>
          <a:bodyPr wrap="square" lIns="0" tIns="0" rIns="0" bIns="0" anchor="t">
            <a:spAutoFit/>
          </a:bodyPr>
          <a:lstStyle/>
          <a:p>
            <a:pPr algn="l"/>
            <a:r>
              <a:rPr sz="1400" b="1" i="0">
                <a:solidFill>
                  <a:srgbClr val="FFB020"/>
                </a:solidFill>
                <a:latin typeface="Consolas"/>
              </a:rPr>
              <a:t>1.1750</a:t>
            </a:r>
          </a:p>
        </p:txBody>
      </p:sp>
      <p:sp>
        <p:nvSpPr>
          <p:cNvPr id="27" name="TextBox 26"/>
          <p:cNvSpPr txBox="1"/>
          <p:nvPr/>
        </p:nvSpPr>
        <p:spPr>
          <a:xfrm>
            <a:off x="6986016" y="3268472"/>
            <a:ext cx="1609344" cy="210311"/>
          </a:xfrm>
          <a:prstGeom prst="rect">
            <a:avLst/>
          </a:prstGeom>
          <a:noFill/>
        </p:spPr>
        <p:txBody>
          <a:bodyPr wrap="square" lIns="0" tIns="0" rIns="0" bIns="0" anchor="t">
            <a:spAutoFit/>
          </a:bodyPr>
          <a:lstStyle/>
          <a:p>
            <a:pPr algn="l"/>
            <a:r>
              <a:rPr sz="900" b="0" i="0">
                <a:solidFill>
                  <a:srgbClr val="93A79A"/>
                </a:solidFill>
                <a:latin typeface="Arial"/>
              </a:rPr>
              <a:t>±0.0092</a:t>
            </a:r>
          </a:p>
        </p:txBody>
      </p:sp>
      <p:sp>
        <p:nvSpPr>
          <p:cNvPr id="28" name="TextBox 27"/>
          <p:cNvSpPr txBox="1"/>
          <p:nvPr/>
        </p:nvSpPr>
        <p:spPr>
          <a:xfrm>
            <a:off x="4919472" y="3767328"/>
            <a:ext cx="3794760" cy="914400"/>
          </a:xfrm>
          <a:prstGeom prst="rect">
            <a:avLst/>
          </a:prstGeom>
          <a:noFill/>
        </p:spPr>
        <p:txBody>
          <a:bodyPr wrap="square" lIns="0" tIns="0" rIns="0" bIns="0" anchor="t">
            <a:spAutoFit/>
          </a:bodyPr>
          <a:lstStyle/>
          <a:p>
            <a:pPr marL="155448" indent="-155448" algn="l">
              <a:spcAft>
                <a:spcPts val="400"/>
              </a:spcAft>
              <a:buClr>
                <a:srgbClr val="3DDC84"/>
              </a:buClr>
              <a:buFont typeface="Arial"/>
              <a:buChar char="▪"/>
            </a:pPr>
            <a:r>
              <a:rPr sz="1000" b="0" i="0">
                <a:solidFill>
                  <a:srgbClr val="E8F2EA"/>
                </a:solidFill>
                <a:latin typeface="Arial"/>
              </a:rPr>
              <a:t>Crank-Nicolson on a 240 × 300 grid ending at H, where V = 0.</a:t>
            </a:r>
          </a:p>
          <a:p>
            <a:pPr marL="155448" indent="-155448" algn="l">
              <a:spcAft>
                <a:spcPts val="400"/>
              </a:spcAft>
              <a:buClr>
                <a:srgbClr val="3DDC84"/>
              </a:buClr>
              <a:buFont typeface="Arial"/>
              <a:buChar char="▪"/>
            </a:pPr>
            <a:r>
              <a:rPr sz="1000" b="0" i="0">
                <a:solidFill>
                  <a:srgbClr val="E8F2EA"/>
                </a:solidFill>
                <a:latin typeface="Arial"/>
              </a:rPr>
              <a:t>576 barrier prices checked against Reiner-Rubinstein: all within 0.2% of the vanilla.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15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8 / GREEKS_ENGINE</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600" b="1" i="0">
                <a:solidFill>
                  <a:srgbClr val="E8F2EA"/>
                </a:solidFill>
                <a:latin typeface="Arial"/>
              </a:rPr>
              <a:t>Greeks across products.</a:t>
            </a:r>
          </a:p>
        </p:txBody>
      </p:sp>
      <p:sp>
        <p:nvSpPr>
          <p:cNvPr id="8" name="TextBox 7"/>
          <p:cNvSpPr txBox="1"/>
          <p:nvPr/>
        </p:nvSpPr>
        <p:spPr>
          <a:xfrm>
            <a:off x="566928" y="1298448"/>
            <a:ext cx="1554480" cy="201168"/>
          </a:xfrm>
          <a:prstGeom prst="rect">
            <a:avLst/>
          </a:prstGeom>
          <a:noFill/>
        </p:spPr>
        <p:txBody>
          <a:bodyPr wrap="square" lIns="0" tIns="0" rIns="0" bIns="0" anchor="t">
            <a:spAutoFit/>
          </a:bodyPr>
          <a:lstStyle/>
          <a:p>
            <a:pPr algn="l"/>
            <a:r>
              <a:rPr sz="800" b="1" i="0">
                <a:solidFill>
                  <a:srgbClr val="93A79A"/>
                </a:solidFill>
                <a:latin typeface="Consolas"/>
              </a:rPr>
              <a:t>PRODUCT</a:t>
            </a:r>
          </a:p>
        </p:txBody>
      </p:sp>
      <p:sp>
        <p:nvSpPr>
          <p:cNvPr id="9" name="TextBox 8"/>
          <p:cNvSpPr txBox="1"/>
          <p:nvPr/>
        </p:nvSpPr>
        <p:spPr>
          <a:xfrm>
            <a:off x="2148840" y="1298448"/>
            <a:ext cx="1737360" cy="201168"/>
          </a:xfrm>
          <a:prstGeom prst="rect">
            <a:avLst/>
          </a:prstGeom>
          <a:noFill/>
        </p:spPr>
        <p:txBody>
          <a:bodyPr wrap="square" lIns="0" tIns="0" rIns="0" bIns="0" anchor="t">
            <a:spAutoFit/>
          </a:bodyPr>
          <a:lstStyle/>
          <a:p>
            <a:pPr algn="l"/>
            <a:r>
              <a:rPr sz="800" b="1" i="0">
                <a:solidFill>
                  <a:srgbClr val="93A79A"/>
                </a:solidFill>
                <a:latin typeface="Consolas"/>
              </a:rPr>
              <a:t>ENGINE</a:t>
            </a:r>
          </a:p>
        </p:txBody>
      </p:sp>
      <p:sp>
        <p:nvSpPr>
          <p:cNvPr id="10" name="TextBox 9"/>
          <p:cNvSpPr txBox="1"/>
          <p:nvPr/>
        </p:nvSpPr>
        <p:spPr>
          <a:xfrm>
            <a:off x="3977639" y="1298448"/>
            <a:ext cx="914400" cy="201168"/>
          </a:xfrm>
          <a:prstGeom prst="rect">
            <a:avLst/>
          </a:prstGeom>
          <a:noFill/>
        </p:spPr>
        <p:txBody>
          <a:bodyPr wrap="square" lIns="0" tIns="0" rIns="0" bIns="0" anchor="t">
            <a:spAutoFit/>
          </a:bodyPr>
          <a:lstStyle/>
          <a:p>
            <a:pPr algn="r"/>
            <a:r>
              <a:rPr sz="800" b="1" i="0">
                <a:solidFill>
                  <a:srgbClr val="93A79A"/>
                </a:solidFill>
                <a:latin typeface="Consolas"/>
              </a:rPr>
              <a:t>DELTA</a:t>
            </a:r>
          </a:p>
        </p:txBody>
      </p:sp>
      <p:sp>
        <p:nvSpPr>
          <p:cNvPr id="11" name="TextBox 10"/>
          <p:cNvSpPr txBox="1"/>
          <p:nvPr/>
        </p:nvSpPr>
        <p:spPr>
          <a:xfrm>
            <a:off x="4937760" y="1298448"/>
            <a:ext cx="914400" cy="201168"/>
          </a:xfrm>
          <a:prstGeom prst="rect">
            <a:avLst/>
          </a:prstGeom>
          <a:noFill/>
        </p:spPr>
        <p:txBody>
          <a:bodyPr wrap="square" lIns="0" tIns="0" rIns="0" bIns="0" anchor="t">
            <a:spAutoFit/>
          </a:bodyPr>
          <a:lstStyle/>
          <a:p>
            <a:pPr algn="r"/>
            <a:r>
              <a:rPr sz="800" b="1" i="0">
                <a:solidFill>
                  <a:srgbClr val="93A79A"/>
                </a:solidFill>
                <a:latin typeface="Consolas"/>
              </a:rPr>
              <a:t>GAMMA</a:t>
            </a:r>
          </a:p>
        </p:txBody>
      </p:sp>
      <p:sp>
        <p:nvSpPr>
          <p:cNvPr id="12" name="TextBox 11"/>
          <p:cNvSpPr txBox="1"/>
          <p:nvPr/>
        </p:nvSpPr>
        <p:spPr>
          <a:xfrm>
            <a:off x="5897880" y="1298448"/>
            <a:ext cx="914400" cy="201168"/>
          </a:xfrm>
          <a:prstGeom prst="rect">
            <a:avLst/>
          </a:prstGeom>
          <a:noFill/>
        </p:spPr>
        <p:txBody>
          <a:bodyPr wrap="square" lIns="0" tIns="0" rIns="0" bIns="0" anchor="t">
            <a:spAutoFit/>
          </a:bodyPr>
          <a:lstStyle/>
          <a:p>
            <a:pPr algn="r"/>
            <a:r>
              <a:rPr sz="800" b="1" i="0">
                <a:solidFill>
                  <a:srgbClr val="93A79A"/>
                </a:solidFill>
                <a:latin typeface="Consolas"/>
              </a:rPr>
              <a:t>VEGA /pt</a:t>
            </a:r>
          </a:p>
        </p:txBody>
      </p:sp>
      <p:sp>
        <p:nvSpPr>
          <p:cNvPr id="13" name="TextBox 12"/>
          <p:cNvSpPr txBox="1"/>
          <p:nvPr/>
        </p:nvSpPr>
        <p:spPr>
          <a:xfrm>
            <a:off x="6858000" y="1298448"/>
            <a:ext cx="914400" cy="201168"/>
          </a:xfrm>
          <a:prstGeom prst="rect">
            <a:avLst/>
          </a:prstGeom>
          <a:noFill/>
        </p:spPr>
        <p:txBody>
          <a:bodyPr wrap="square" lIns="0" tIns="0" rIns="0" bIns="0" anchor="t">
            <a:spAutoFit/>
          </a:bodyPr>
          <a:lstStyle/>
          <a:p>
            <a:pPr algn="r"/>
            <a:r>
              <a:rPr sz="800" b="1" i="0">
                <a:solidFill>
                  <a:srgbClr val="93A79A"/>
                </a:solidFill>
                <a:latin typeface="Consolas"/>
              </a:rPr>
              <a:t>THETA /d</a:t>
            </a:r>
          </a:p>
        </p:txBody>
      </p:sp>
      <p:sp>
        <p:nvSpPr>
          <p:cNvPr id="14" name="TextBox 13"/>
          <p:cNvSpPr txBox="1"/>
          <p:nvPr/>
        </p:nvSpPr>
        <p:spPr>
          <a:xfrm>
            <a:off x="7818120" y="1298448"/>
            <a:ext cx="914400" cy="201168"/>
          </a:xfrm>
          <a:prstGeom prst="rect">
            <a:avLst/>
          </a:prstGeom>
          <a:noFill/>
        </p:spPr>
        <p:txBody>
          <a:bodyPr wrap="square" lIns="0" tIns="0" rIns="0" bIns="0" anchor="t">
            <a:spAutoFit/>
          </a:bodyPr>
          <a:lstStyle/>
          <a:p>
            <a:pPr algn="r"/>
            <a:r>
              <a:rPr sz="800" b="1" i="0">
                <a:solidFill>
                  <a:srgbClr val="93A79A"/>
                </a:solidFill>
                <a:latin typeface="Consolas"/>
              </a:rPr>
              <a:t>RHO /1%</a:t>
            </a:r>
          </a:p>
        </p:txBody>
      </p:sp>
      <p:sp>
        <p:nvSpPr>
          <p:cNvPr id="15" name="Rectangle 14"/>
          <p:cNvSpPr/>
          <p:nvPr/>
        </p:nvSpPr>
        <p:spPr>
          <a:xfrm>
            <a:off x="566928" y="1527048"/>
            <a:ext cx="8165592" cy="9144"/>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66928" y="1709928"/>
            <a:ext cx="73152" cy="73152"/>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1591056"/>
            <a:ext cx="1417320" cy="310896"/>
          </a:xfrm>
          <a:prstGeom prst="rect">
            <a:avLst/>
          </a:prstGeom>
          <a:noFill/>
        </p:spPr>
        <p:txBody>
          <a:bodyPr wrap="square" lIns="0" tIns="0" rIns="0" bIns="0" anchor="ctr">
            <a:spAutoFit/>
          </a:bodyPr>
          <a:lstStyle/>
          <a:p>
            <a:pPr algn="l"/>
            <a:r>
              <a:rPr sz="1050" b="1" i="0">
                <a:solidFill>
                  <a:srgbClr val="E8F2EA"/>
                </a:solidFill>
                <a:latin typeface="Arial"/>
              </a:rPr>
              <a:t>European call</a:t>
            </a:r>
          </a:p>
        </p:txBody>
      </p:sp>
      <p:sp>
        <p:nvSpPr>
          <p:cNvPr id="18" name="TextBox 17"/>
          <p:cNvSpPr txBox="1"/>
          <p:nvPr/>
        </p:nvSpPr>
        <p:spPr>
          <a:xfrm>
            <a:off x="2148840" y="1591056"/>
            <a:ext cx="1737360" cy="310896"/>
          </a:xfrm>
          <a:prstGeom prst="rect">
            <a:avLst/>
          </a:prstGeom>
          <a:noFill/>
        </p:spPr>
        <p:txBody>
          <a:bodyPr wrap="square" lIns="0" tIns="0" rIns="0" bIns="0" anchor="ctr">
            <a:spAutoFit/>
          </a:bodyPr>
          <a:lstStyle/>
          <a:p>
            <a:pPr algn="l"/>
            <a:r>
              <a:rPr sz="900" b="0" i="0">
                <a:solidFill>
                  <a:srgbClr val="93A79A"/>
                </a:solidFill>
                <a:latin typeface="Consolas"/>
              </a:rPr>
              <a:t>BSM</a:t>
            </a:r>
          </a:p>
        </p:txBody>
      </p:sp>
      <p:sp>
        <p:nvSpPr>
          <p:cNvPr id="19" name="TextBox 18"/>
          <p:cNvSpPr txBox="1"/>
          <p:nvPr/>
        </p:nvSpPr>
        <p:spPr>
          <a:xfrm>
            <a:off x="3977639" y="1591056"/>
            <a:ext cx="914400" cy="310896"/>
          </a:xfrm>
          <a:prstGeom prst="rect">
            <a:avLst/>
          </a:prstGeom>
          <a:noFill/>
        </p:spPr>
        <p:txBody>
          <a:bodyPr wrap="square" lIns="0" tIns="0" rIns="0" bIns="0" anchor="ctr">
            <a:spAutoFit/>
          </a:bodyPr>
          <a:lstStyle/>
          <a:p>
            <a:pPr algn="r"/>
            <a:r>
              <a:rPr sz="1050" b="0" i="0">
                <a:solidFill>
                  <a:srgbClr val="E8F2EA"/>
                </a:solidFill>
                <a:latin typeface="Consolas"/>
              </a:rPr>
              <a:t>0.6368</a:t>
            </a:r>
          </a:p>
        </p:txBody>
      </p:sp>
      <p:sp>
        <p:nvSpPr>
          <p:cNvPr id="20" name="TextBox 19"/>
          <p:cNvSpPr txBox="1"/>
          <p:nvPr/>
        </p:nvSpPr>
        <p:spPr>
          <a:xfrm>
            <a:off x="4937760" y="1591056"/>
            <a:ext cx="914400" cy="310896"/>
          </a:xfrm>
          <a:prstGeom prst="rect">
            <a:avLst/>
          </a:prstGeom>
          <a:noFill/>
        </p:spPr>
        <p:txBody>
          <a:bodyPr wrap="square" lIns="0" tIns="0" rIns="0" bIns="0" anchor="ctr">
            <a:spAutoFit/>
          </a:bodyPr>
          <a:lstStyle/>
          <a:p>
            <a:pPr algn="r"/>
            <a:r>
              <a:rPr sz="1050" b="0" i="0">
                <a:solidFill>
                  <a:srgbClr val="E8F2EA"/>
                </a:solidFill>
                <a:latin typeface="Consolas"/>
              </a:rPr>
              <a:t>0.0188</a:t>
            </a:r>
          </a:p>
        </p:txBody>
      </p:sp>
      <p:sp>
        <p:nvSpPr>
          <p:cNvPr id="21" name="TextBox 20"/>
          <p:cNvSpPr txBox="1"/>
          <p:nvPr/>
        </p:nvSpPr>
        <p:spPr>
          <a:xfrm>
            <a:off x="5897880" y="1591056"/>
            <a:ext cx="914400" cy="310896"/>
          </a:xfrm>
          <a:prstGeom prst="rect">
            <a:avLst/>
          </a:prstGeom>
          <a:noFill/>
        </p:spPr>
        <p:txBody>
          <a:bodyPr wrap="square" lIns="0" tIns="0" rIns="0" bIns="0" anchor="ctr">
            <a:spAutoFit/>
          </a:bodyPr>
          <a:lstStyle/>
          <a:p>
            <a:pPr algn="r"/>
            <a:r>
              <a:rPr sz="1050" b="0" i="0">
                <a:solidFill>
                  <a:srgbClr val="E8F2EA"/>
                </a:solidFill>
                <a:latin typeface="Consolas"/>
              </a:rPr>
              <a:t>0.3752</a:t>
            </a:r>
          </a:p>
        </p:txBody>
      </p:sp>
      <p:sp>
        <p:nvSpPr>
          <p:cNvPr id="22" name="TextBox 21"/>
          <p:cNvSpPr txBox="1"/>
          <p:nvPr/>
        </p:nvSpPr>
        <p:spPr>
          <a:xfrm>
            <a:off x="6858000" y="159105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−0.0176</a:t>
            </a:r>
          </a:p>
        </p:txBody>
      </p:sp>
      <p:sp>
        <p:nvSpPr>
          <p:cNvPr id="23" name="TextBox 22"/>
          <p:cNvSpPr txBox="1"/>
          <p:nvPr/>
        </p:nvSpPr>
        <p:spPr>
          <a:xfrm>
            <a:off x="7818120" y="1591056"/>
            <a:ext cx="914400" cy="310896"/>
          </a:xfrm>
          <a:prstGeom prst="rect">
            <a:avLst/>
          </a:prstGeom>
          <a:noFill/>
        </p:spPr>
        <p:txBody>
          <a:bodyPr wrap="square" lIns="0" tIns="0" rIns="0" bIns="0" anchor="ctr">
            <a:spAutoFit/>
          </a:bodyPr>
          <a:lstStyle/>
          <a:p>
            <a:pPr algn="r"/>
            <a:r>
              <a:rPr sz="1050" b="0" i="0">
                <a:solidFill>
                  <a:srgbClr val="E8F2EA"/>
                </a:solidFill>
                <a:latin typeface="Consolas"/>
              </a:rPr>
              <a:t>0.5323</a:t>
            </a:r>
          </a:p>
        </p:txBody>
      </p:sp>
      <p:sp>
        <p:nvSpPr>
          <p:cNvPr id="24" name="Rectangle 23"/>
          <p:cNvSpPr/>
          <p:nvPr/>
        </p:nvSpPr>
        <p:spPr>
          <a:xfrm>
            <a:off x="566928" y="192938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66928" y="2075688"/>
            <a:ext cx="73152" cy="73152"/>
          </a:xfrm>
          <a:prstGeom prst="ellipse">
            <a:avLst/>
          </a:prstGeom>
          <a:solidFill>
            <a:srgbClr val="5BC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1956816"/>
            <a:ext cx="1417320" cy="310896"/>
          </a:xfrm>
          <a:prstGeom prst="rect">
            <a:avLst/>
          </a:prstGeom>
          <a:noFill/>
        </p:spPr>
        <p:txBody>
          <a:bodyPr wrap="square" lIns="0" tIns="0" rIns="0" bIns="0" anchor="ctr">
            <a:spAutoFit/>
          </a:bodyPr>
          <a:lstStyle/>
          <a:p>
            <a:pPr algn="l"/>
            <a:r>
              <a:rPr sz="1050" b="1" i="0">
                <a:solidFill>
                  <a:srgbClr val="E8F2EA"/>
                </a:solidFill>
                <a:latin typeface="Arial"/>
              </a:rPr>
              <a:t>American put</a:t>
            </a:r>
          </a:p>
        </p:txBody>
      </p:sp>
      <p:sp>
        <p:nvSpPr>
          <p:cNvPr id="27" name="TextBox 26"/>
          <p:cNvSpPr txBox="1"/>
          <p:nvPr/>
        </p:nvSpPr>
        <p:spPr>
          <a:xfrm>
            <a:off x="2148840" y="1956816"/>
            <a:ext cx="1737360" cy="310896"/>
          </a:xfrm>
          <a:prstGeom prst="rect">
            <a:avLst/>
          </a:prstGeom>
          <a:noFill/>
        </p:spPr>
        <p:txBody>
          <a:bodyPr wrap="square" lIns="0" tIns="0" rIns="0" bIns="0" anchor="ctr">
            <a:spAutoFit/>
          </a:bodyPr>
          <a:lstStyle/>
          <a:p>
            <a:pPr algn="l"/>
            <a:r>
              <a:rPr sz="900" b="0" i="0">
                <a:solidFill>
                  <a:srgbClr val="93A79A"/>
                </a:solidFill>
                <a:latin typeface="Consolas"/>
              </a:rPr>
              <a:t>LR tree, 501</a:t>
            </a:r>
          </a:p>
        </p:txBody>
      </p:sp>
      <p:sp>
        <p:nvSpPr>
          <p:cNvPr id="28" name="TextBox 27"/>
          <p:cNvSpPr txBox="1"/>
          <p:nvPr/>
        </p:nvSpPr>
        <p:spPr>
          <a:xfrm>
            <a:off x="3977639" y="1956816"/>
            <a:ext cx="914400" cy="310896"/>
          </a:xfrm>
          <a:prstGeom prst="rect">
            <a:avLst/>
          </a:prstGeom>
          <a:noFill/>
        </p:spPr>
        <p:txBody>
          <a:bodyPr wrap="square" lIns="0" tIns="0" rIns="0" bIns="0" anchor="ctr">
            <a:spAutoFit/>
          </a:bodyPr>
          <a:lstStyle/>
          <a:p>
            <a:pPr algn="r"/>
            <a:r>
              <a:rPr sz="1050" b="0" i="0">
                <a:solidFill>
                  <a:srgbClr val="FFB020"/>
                </a:solidFill>
                <a:latin typeface="Consolas"/>
              </a:rPr>
              <a:t>−0.4111</a:t>
            </a:r>
          </a:p>
        </p:txBody>
      </p:sp>
      <p:sp>
        <p:nvSpPr>
          <p:cNvPr id="29" name="TextBox 28"/>
          <p:cNvSpPr txBox="1"/>
          <p:nvPr/>
        </p:nvSpPr>
        <p:spPr>
          <a:xfrm>
            <a:off x="4937760" y="1956816"/>
            <a:ext cx="914400" cy="310896"/>
          </a:xfrm>
          <a:prstGeom prst="rect">
            <a:avLst/>
          </a:prstGeom>
          <a:noFill/>
        </p:spPr>
        <p:txBody>
          <a:bodyPr wrap="square" lIns="0" tIns="0" rIns="0" bIns="0" anchor="ctr">
            <a:spAutoFit/>
          </a:bodyPr>
          <a:lstStyle/>
          <a:p>
            <a:pPr algn="r"/>
            <a:r>
              <a:rPr sz="1050" b="0" i="0">
                <a:solidFill>
                  <a:srgbClr val="E8F2EA"/>
                </a:solidFill>
                <a:latin typeface="Consolas"/>
              </a:rPr>
              <a:t>0.0230</a:t>
            </a:r>
          </a:p>
        </p:txBody>
      </p:sp>
      <p:sp>
        <p:nvSpPr>
          <p:cNvPr id="30" name="TextBox 29"/>
          <p:cNvSpPr txBox="1"/>
          <p:nvPr/>
        </p:nvSpPr>
        <p:spPr>
          <a:xfrm>
            <a:off x="5897880" y="1956816"/>
            <a:ext cx="914400" cy="310896"/>
          </a:xfrm>
          <a:prstGeom prst="rect">
            <a:avLst/>
          </a:prstGeom>
          <a:noFill/>
        </p:spPr>
        <p:txBody>
          <a:bodyPr wrap="square" lIns="0" tIns="0" rIns="0" bIns="0" anchor="ctr">
            <a:spAutoFit/>
          </a:bodyPr>
          <a:lstStyle/>
          <a:p>
            <a:pPr algn="r"/>
            <a:r>
              <a:rPr sz="1050" b="0" i="0">
                <a:solidFill>
                  <a:srgbClr val="E8F2EA"/>
                </a:solidFill>
                <a:latin typeface="Consolas"/>
              </a:rPr>
              <a:t>0.3749</a:t>
            </a:r>
          </a:p>
        </p:txBody>
      </p:sp>
      <p:sp>
        <p:nvSpPr>
          <p:cNvPr id="31" name="TextBox 30"/>
          <p:cNvSpPr txBox="1"/>
          <p:nvPr/>
        </p:nvSpPr>
        <p:spPr>
          <a:xfrm>
            <a:off x="6858000" y="195681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−0.0061</a:t>
            </a:r>
          </a:p>
        </p:txBody>
      </p:sp>
      <p:sp>
        <p:nvSpPr>
          <p:cNvPr id="32" name="TextBox 31"/>
          <p:cNvSpPr txBox="1"/>
          <p:nvPr/>
        </p:nvSpPr>
        <p:spPr>
          <a:xfrm>
            <a:off x="7818120" y="1956816"/>
            <a:ext cx="914400" cy="310896"/>
          </a:xfrm>
          <a:prstGeom prst="rect">
            <a:avLst/>
          </a:prstGeom>
          <a:noFill/>
        </p:spPr>
        <p:txBody>
          <a:bodyPr wrap="square" lIns="0" tIns="0" rIns="0" bIns="0" anchor="ctr">
            <a:spAutoFit/>
          </a:bodyPr>
          <a:lstStyle/>
          <a:p>
            <a:pPr algn="r"/>
            <a:r>
              <a:rPr sz="1050" b="0" i="0">
                <a:solidFill>
                  <a:srgbClr val="FFB020"/>
                </a:solidFill>
                <a:latin typeface="Consolas"/>
              </a:rPr>
              <a:t>−0.3025</a:t>
            </a:r>
          </a:p>
        </p:txBody>
      </p:sp>
      <p:sp>
        <p:nvSpPr>
          <p:cNvPr id="33" name="Rectangle 32"/>
          <p:cNvSpPr/>
          <p:nvPr/>
        </p:nvSpPr>
        <p:spPr>
          <a:xfrm>
            <a:off x="566928" y="229514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66928" y="2441448"/>
            <a:ext cx="73152" cy="73152"/>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2322576"/>
            <a:ext cx="1417320" cy="310896"/>
          </a:xfrm>
          <a:prstGeom prst="rect">
            <a:avLst/>
          </a:prstGeom>
          <a:noFill/>
        </p:spPr>
        <p:txBody>
          <a:bodyPr wrap="square" lIns="0" tIns="0" rIns="0" bIns="0" anchor="ctr">
            <a:spAutoFit/>
          </a:bodyPr>
          <a:lstStyle/>
          <a:p>
            <a:pPr algn="l"/>
            <a:r>
              <a:rPr sz="1050" b="1" i="0">
                <a:solidFill>
                  <a:srgbClr val="E8F2EA"/>
                </a:solidFill>
                <a:latin typeface="Arial"/>
              </a:rPr>
              <a:t>Futures call</a:t>
            </a:r>
          </a:p>
        </p:txBody>
      </p:sp>
      <p:sp>
        <p:nvSpPr>
          <p:cNvPr id="36" name="TextBox 35"/>
          <p:cNvSpPr txBox="1"/>
          <p:nvPr/>
        </p:nvSpPr>
        <p:spPr>
          <a:xfrm>
            <a:off x="2148840" y="2322576"/>
            <a:ext cx="1737360" cy="310896"/>
          </a:xfrm>
          <a:prstGeom prst="rect">
            <a:avLst/>
          </a:prstGeom>
          <a:noFill/>
        </p:spPr>
        <p:txBody>
          <a:bodyPr wrap="square" lIns="0" tIns="0" rIns="0" bIns="0" anchor="ctr">
            <a:spAutoFit/>
          </a:bodyPr>
          <a:lstStyle/>
          <a:p>
            <a:pPr algn="l"/>
            <a:r>
              <a:rPr sz="900" b="0" i="0">
                <a:solidFill>
                  <a:srgbClr val="93A79A"/>
                </a:solidFill>
                <a:latin typeface="Consolas"/>
              </a:rPr>
              <a:t>Black-76</a:t>
            </a:r>
          </a:p>
        </p:txBody>
      </p:sp>
      <p:sp>
        <p:nvSpPr>
          <p:cNvPr id="37" name="TextBox 36"/>
          <p:cNvSpPr txBox="1"/>
          <p:nvPr/>
        </p:nvSpPr>
        <p:spPr>
          <a:xfrm>
            <a:off x="3977639" y="2322576"/>
            <a:ext cx="914400" cy="310896"/>
          </a:xfrm>
          <a:prstGeom prst="rect">
            <a:avLst/>
          </a:prstGeom>
          <a:noFill/>
        </p:spPr>
        <p:txBody>
          <a:bodyPr wrap="square" lIns="0" tIns="0" rIns="0" bIns="0" anchor="ctr">
            <a:spAutoFit/>
          </a:bodyPr>
          <a:lstStyle/>
          <a:p>
            <a:pPr algn="r"/>
            <a:r>
              <a:rPr sz="1050" b="0" i="0">
                <a:solidFill>
                  <a:srgbClr val="E8F2EA"/>
                </a:solidFill>
                <a:latin typeface="Consolas"/>
              </a:rPr>
              <a:t>0.5135</a:t>
            </a:r>
          </a:p>
        </p:txBody>
      </p:sp>
      <p:sp>
        <p:nvSpPr>
          <p:cNvPr id="38" name="TextBox 37"/>
          <p:cNvSpPr txBox="1"/>
          <p:nvPr/>
        </p:nvSpPr>
        <p:spPr>
          <a:xfrm>
            <a:off x="4937760" y="2322576"/>
            <a:ext cx="914400" cy="310896"/>
          </a:xfrm>
          <a:prstGeom prst="rect">
            <a:avLst/>
          </a:prstGeom>
          <a:noFill/>
        </p:spPr>
        <p:txBody>
          <a:bodyPr wrap="square" lIns="0" tIns="0" rIns="0" bIns="0" anchor="ctr">
            <a:spAutoFit/>
          </a:bodyPr>
          <a:lstStyle/>
          <a:p>
            <a:pPr algn="r"/>
            <a:r>
              <a:rPr sz="1050" b="0" i="0">
                <a:solidFill>
                  <a:srgbClr val="E8F2EA"/>
                </a:solidFill>
                <a:latin typeface="Consolas"/>
              </a:rPr>
              <a:t>0.0189</a:t>
            </a:r>
          </a:p>
        </p:txBody>
      </p:sp>
      <p:sp>
        <p:nvSpPr>
          <p:cNvPr id="39" name="TextBox 38"/>
          <p:cNvSpPr txBox="1"/>
          <p:nvPr/>
        </p:nvSpPr>
        <p:spPr>
          <a:xfrm>
            <a:off x="5897880" y="2322576"/>
            <a:ext cx="914400" cy="310896"/>
          </a:xfrm>
          <a:prstGeom prst="rect">
            <a:avLst/>
          </a:prstGeom>
          <a:noFill/>
        </p:spPr>
        <p:txBody>
          <a:bodyPr wrap="square" lIns="0" tIns="0" rIns="0" bIns="0" anchor="ctr">
            <a:spAutoFit/>
          </a:bodyPr>
          <a:lstStyle/>
          <a:p>
            <a:pPr algn="r"/>
            <a:r>
              <a:rPr sz="1050" b="0" i="0">
                <a:solidFill>
                  <a:srgbClr val="E8F2EA"/>
                </a:solidFill>
                <a:latin typeface="Consolas"/>
              </a:rPr>
              <a:t>0.3776</a:t>
            </a:r>
          </a:p>
        </p:txBody>
      </p:sp>
      <p:sp>
        <p:nvSpPr>
          <p:cNvPr id="40" name="TextBox 39"/>
          <p:cNvSpPr txBox="1"/>
          <p:nvPr/>
        </p:nvSpPr>
        <p:spPr>
          <a:xfrm>
            <a:off x="6858000" y="232257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−0.0093</a:t>
            </a:r>
          </a:p>
        </p:txBody>
      </p:sp>
      <p:sp>
        <p:nvSpPr>
          <p:cNvPr id="41" name="TextBox 40"/>
          <p:cNvSpPr txBox="1"/>
          <p:nvPr/>
        </p:nvSpPr>
        <p:spPr>
          <a:xfrm>
            <a:off x="7818120" y="232257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−0.0758</a:t>
            </a:r>
          </a:p>
        </p:txBody>
      </p:sp>
      <p:sp>
        <p:nvSpPr>
          <p:cNvPr id="42" name="Rectangle 41"/>
          <p:cNvSpPr/>
          <p:nvPr/>
        </p:nvSpPr>
        <p:spPr>
          <a:xfrm>
            <a:off x="566928" y="266090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66928" y="2807208"/>
            <a:ext cx="73152" cy="73152"/>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1520" y="2688336"/>
            <a:ext cx="1417320" cy="310896"/>
          </a:xfrm>
          <a:prstGeom prst="rect">
            <a:avLst/>
          </a:prstGeom>
          <a:noFill/>
        </p:spPr>
        <p:txBody>
          <a:bodyPr wrap="square" lIns="0" tIns="0" rIns="0" bIns="0" anchor="ctr">
            <a:spAutoFit/>
          </a:bodyPr>
          <a:lstStyle/>
          <a:p>
            <a:pPr algn="l"/>
            <a:r>
              <a:rPr sz="1050" b="1" i="0">
                <a:solidFill>
                  <a:srgbClr val="E8F2EA"/>
                </a:solidFill>
                <a:latin typeface="Arial"/>
              </a:rPr>
              <a:t>Asian call</a:t>
            </a:r>
          </a:p>
        </p:txBody>
      </p:sp>
      <p:sp>
        <p:nvSpPr>
          <p:cNvPr id="45" name="TextBox 44"/>
          <p:cNvSpPr txBox="1"/>
          <p:nvPr/>
        </p:nvSpPr>
        <p:spPr>
          <a:xfrm>
            <a:off x="2148840" y="2688336"/>
            <a:ext cx="1737360" cy="310896"/>
          </a:xfrm>
          <a:prstGeom prst="rect">
            <a:avLst/>
          </a:prstGeom>
          <a:noFill/>
        </p:spPr>
        <p:txBody>
          <a:bodyPr wrap="square" lIns="0" tIns="0" rIns="0" bIns="0" anchor="ctr">
            <a:spAutoFit/>
          </a:bodyPr>
          <a:lstStyle/>
          <a:p>
            <a:pPr algn="l"/>
            <a:r>
              <a:rPr sz="900" b="0" i="0">
                <a:solidFill>
                  <a:srgbClr val="93A79A"/>
                </a:solidFill>
                <a:latin typeface="Consolas"/>
              </a:rPr>
              <a:t>MC, 252 fixings</a:t>
            </a:r>
          </a:p>
        </p:txBody>
      </p:sp>
      <p:sp>
        <p:nvSpPr>
          <p:cNvPr id="46" name="TextBox 45"/>
          <p:cNvSpPr txBox="1"/>
          <p:nvPr/>
        </p:nvSpPr>
        <p:spPr>
          <a:xfrm>
            <a:off x="3977639" y="2688336"/>
            <a:ext cx="914400" cy="310896"/>
          </a:xfrm>
          <a:prstGeom prst="rect">
            <a:avLst/>
          </a:prstGeom>
          <a:noFill/>
        </p:spPr>
        <p:txBody>
          <a:bodyPr wrap="square" lIns="0" tIns="0" rIns="0" bIns="0" anchor="ctr">
            <a:spAutoFit/>
          </a:bodyPr>
          <a:lstStyle/>
          <a:p>
            <a:pPr algn="r"/>
            <a:r>
              <a:rPr sz="1050" b="0" i="0">
                <a:solidFill>
                  <a:srgbClr val="E8F2EA"/>
                </a:solidFill>
                <a:latin typeface="Consolas"/>
              </a:rPr>
              <a:t>0.5879</a:t>
            </a:r>
          </a:p>
        </p:txBody>
      </p:sp>
      <p:sp>
        <p:nvSpPr>
          <p:cNvPr id="47" name="TextBox 46"/>
          <p:cNvSpPr txBox="1"/>
          <p:nvPr/>
        </p:nvSpPr>
        <p:spPr>
          <a:xfrm>
            <a:off x="4937760" y="2688336"/>
            <a:ext cx="914400" cy="310896"/>
          </a:xfrm>
          <a:prstGeom prst="rect">
            <a:avLst/>
          </a:prstGeom>
          <a:noFill/>
        </p:spPr>
        <p:txBody>
          <a:bodyPr wrap="square" lIns="0" tIns="0" rIns="0" bIns="0" anchor="ctr">
            <a:spAutoFit/>
          </a:bodyPr>
          <a:lstStyle/>
          <a:p>
            <a:pPr algn="r"/>
            <a:r>
              <a:rPr sz="1050" b="0" i="0">
                <a:solidFill>
                  <a:srgbClr val="E8F2EA"/>
                </a:solidFill>
                <a:latin typeface="Consolas"/>
              </a:rPr>
              <a:t>0.0317</a:t>
            </a:r>
          </a:p>
        </p:txBody>
      </p:sp>
      <p:sp>
        <p:nvSpPr>
          <p:cNvPr id="48" name="TextBox 47"/>
          <p:cNvSpPr txBox="1"/>
          <p:nvPr/>
        </p:nvSpPr>
        <p:spPr>
          <a:xfrm>
            <a:off x="5897880" y="2688336"/>
            <a:ext cx="914400" cy="310896"/>
          </a:xfrm>
          <a:prstGeom prst="rect">
            <a:avLst/>
          </a:prstGeom>
          <a:noFill/>
        </p:spPr>
        <p:txBody>
          <a:bodyPr wrap="square" lIns="0" tIns="0" rIns="0" bIns="0" anchor="ctr">
            <a:spAutoFit/>
          </a:bodyPr>
          <a:lstStyle/>
          <a:p>
            <a:pPr algn="r"/>
            <a:r>
              <a:rPr sz="1050" b="0" i="0">
                <a:solidFill>
                  <a:srgbClr val="E8F2EA"/>
                </a:solidFill>
                <a:latin typeface="Consolas"/>
              </a:rPr>
              <a:t>0.2197</a:t>
            </a:r>
          </a:p>
        </p:txBody>
      </p:sp>
      <p:sp>
        <p:nvSpPr>
          <p:cNvPr id="49" name="TextBox 48"/>
          <p:cNvSpPr txBox="1"/>
          <p:nvPr/>
        </p:nvSpPr>
        <p:spPr>
          <a:xfrm>
            <a:off x="6858000" y="268833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−0.0094</a:t>
            </a:r>
          </a:p>
        </p:txBody>
      </p:sp>
      <p:sp>
        <p:nvSpPr>
          <p:cNvPr id="50" name="TextBox 49"/>
          <p:cNvSpPr txBox="1"/>
          <p:nvPr/>
        </p:nvSpPr>
        <p:spPr>
          <a:xfrm>
            <a:off x="7818120" y="2688336"/>
            <a:ext cx="914400" cy="310896"/>
          </a:xfrm>
          <a:prstGeom prst="rect">
            <a:avLst/>
          </a:prstGeom>
          <a:noFill/>
        </p:spPr>
        <p:txBody>
          <a:bodyPr wrap="square" lIns="0" tIns="0" rIns="0" bIns="0" anchor="ctr">
            <a:spAutoFit/>
          </a:bodyPr>
          <a:lstStyle/>
          <a:p>
            <a:pPr algn="r"/>
            <a:r>
              <a:rPr sz="1050" b="0" i="0">
                <a:solidFill>
                  <a:srgbClr val="E8F2EA"/>
                </a:solidFill>
                <a:latin typeface="Consolas"/>
              </a:rPr>
              <a:t>0.2449</a:t>
            </a:r>
          </a:p>
        </p:txBody>
      </p:sp>
      <p:sp>
        <p:nvSpPr>
          <p:cNvPr id="51" name="Rectangle 50"/>
          <p:cNvSpPr/>
          <p:nvPr/>
        </p:nvSpPr>
        <p:spPr>
          <a:xfrm>
            <a:off x="566928" y="302666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66928" y="3172968"/>
            <a:ext cx="73152" cy="73152"/>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31520" y="3054096"/>
            <a:ext cx="1417320" cy="310896"/>
          </a:xfrm>
          <a:prstGeom prst="rect">
            <a:avLst/>
          </a:prstGeom>
          <a:noFill/>
        </p:spPr>
        <p:txBody>
          <a:bodyPr wrap="square" lIns="0" tIns="0" rIns="0" bIns="0" anchor="ctr">
            <a:spAutoFit/>
          </a:bodyPr>
          <a:lstStyle/>
          <a:p>
            <a:pPr algn="l"/>
            <a:r>
              <a:rPr sz="1050" b="1" i="0">
                <a:solidFill>
                  <a:srgbClr val="E8F2EA"/>
                </a:solidFill>
                <a:latin typeface="Arial"/>
              </a:rPr>
              <a:t>Lookback call</a:t>
            </a:r>
          </a:p>
        </p:txBody>
      </p:sp>
      <p:sp>
        <p:nvSpPr>
          <p:cNvPr id="54" name="TextBox 53"/>
          <p:cNvSpPr txBox="1"/>
          <p:nvPr/>
        </p:nvSpPr>
        <p:spPr>
          <a:xfrm>
            <a:off x="2148840" y="3054096"/>
            <a:ext cx="1737360" cy="310896"/>
          </a:xfrm>
          <a:prstGeom prst="rect">
            <a:avLst/>
          </a:prstGeom>
          <a:noFill/>
        </p:spPr>
        <p:txBody>
          <a:bodyPr wrap="square" lIns="0" tIns="0" rIns="0" bIns="0" anchor="ctr">
            <a:spAutoFit/>
          </a:bodyPr>
          <a:lstStyle/>
          <a:p>
            <a:pPr algn="l"/>
            <a:r>
              <a:rPr sz="900" b="0" i="0">
                <a:solidFill>
                  <a:srgbClr val="93A79A"/>
                </a:solidFill>
                <a:latin typeface="Consolas"/>
              </a:rPr>
              <a:t>MC, floating</a:t>
            </a:r>
          </a:p>
        </p:txBody>
      </p:sp>
      <p:sp>
        <p:nvSpPr>
          <p:cNvPr id="55" name="TextBox 54"/>
          <p:cNvSpPr txBox="1"/>
          <p:nvPr/>
        </p:nvSpPr>
        <p:spPr>
          <a:xfrm>
            <a:off x="3977639" y="3054096"/>
            <a:ext cx="914400" cy="310896"/>
          </a:xfrm>
          <a:prstGeom prst="rect">
            <a:avLst/>
          </a:prstGeom>
          <a:noFill/>
        </p:spPr>
        <p:txBody>
          <a:bodyPr wrap="square" lIns="0" tIns="0" rIns="0" bIns="0" anchor="ctr">
            <a:spAutoFit/>
          </a:bodyPr>
          <a:lstStyle/>
          <a:p>
            <a:pPr algn="r"/>
            <a:r>
              <a:rPr sz="1050" b="0" i="0">
                <a:solidFill>
                  <a:srgbClr val="E8F2EA"/>
                </a:solidFill>
                <a:latin typeface="Consolas"/>
              </a:rPr>
              <a:t>0.1726</a:t>
            </a:r>
          </a:p>
        </p:txBody>
      </p:sp>
      <p:sp>
        <p:nvSpPr>
          <p:cNvPr id="56" name="TextBox 55"/>
          <p:cNvSpPr txBox="1"/>
          <p:nvPr/>
        </p:nvSpPr>
        <p:spPr>
          <a:xfrm>
            <a:off x="4937760" y="3054096"/>
            <a:ext cx="914400" cy="310896"/>
          </a:xfrm>
          <a:prstGeom prst="rect">
            <a:avLst/>
          </a:prstGeom>
          <a:noFill/>
        </p:spPr>
        <p:txBody>
          <a:bodyPr wrap="square" lIns="0" tIns="0" rIns="0" bIns="0" anchor="ctr">
            <a:spAutoFit/>
          </a:bodyPr>
          <a:lstStyle/>
          <a:p>
            <a:pPr algn="r"/>
            <a:r>
              <a:rPr sz="1050" b="0" i="0">
                <a:solidFill>
                  <a:srgbClr val="E8F2EA"/>
                </a:solidFill>
                <a:latin typeface="Consolas"/>
              </a:rPr>
              <a:t>0.0000</a:t>
            </a:r>
          </a:p>
        </p:txBody>
      </p:sp>
      <p:sp>
        <p:nvSpPr>
          <p:cNvPr id="57" name="TextBox 56"/>
          <p:cNvSpPr txBox="1"/>
          <p:nvPr/>
        </p:nvSpPr>
        <p:spPr>
          <a:xfrm>
            <a:off x="5897880" y="3054096"/>
            <a:ext cx="914400" cy="310896"/>
          </a:xfrm>
          <a:prstGeom prst="rect">
            <a:avLst/>
          </a:prstGeom>
          <a:noFill/>
        </p:spPr>
        <p:txBody>
          <a:bodyPr wrap="square" lIns="0" tIns="0" rIns="0" bIns="0" anchor="ctr">
            <a:spAutoFit/>
          </a:bodyPr>
          <a:lstStyle/>
          <a:p>
            <a:pPr algn="r"/>
            <a:r>
              <a:rPr sz="1050" b="0" i="0">
                <a:solidFill>
                  <a:srgbClr val="E8F2EA"/>
                </a:solidFill>
                <a:latin typeface="Consolas"/>
              </a:rPr>
              <a:t>0.6801</a:t>
            </a:r>
          </a:p>
        </p:txBody>
      </p:sp>
      <p:sp>
        <p:nvSpPr>
          <p:cNvPr id="58" name="TextBox 57"/>
          <p:cNvSpPr txBox="1"/>
          <p:nvPr/>
        </p:nvSpPr>
        <p:spPr>
          <a:xfrm>
            <a:off x="6858000" y="305409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−0.0250</a:t>
            </a:r>
          </a:p>
        </p:txBody>
      </p:sp>
      <p:sp>
        <p:nvSpPr>
          <p:cNvPr id="59" name="TextBox 58"/>
          <p:cNvSpPr txBox="1"/>
          <p:nvPr/>
        </p:nvSpPr>
        <p:spPr>
          <a:xfrm>
            <a:off x="7818120" y="3054096"/>
            <a:ext cx="914400" cy="310896"/>
          </a:xfrm>
          <a:prstGeom prst="rect">
            <a:avLst/>
          </a:prstGeom>
          <a:noFill/>
        </p:spPr>
        <p:txBody>
          <a:bodyPr wrap="square" lIns="0" tIns="0" rIns="0" bIns="0" anchor="ctr">
            <a:spAutoFit/>
          </a:bodyPr>
          <a:lstStyle/>
          <a:p>
            <a:pPr algn="r"/>
            <a:r>
              <a:rPr sz="1050" b="0" i="0">
                <a:solidFill>
                  <a:srgbClr val="E8F2EA"/>
                </a:solidFill>
                <a:latin typeface="Consolas"/>
              </a:rPr>
              <a:t>0.4657</a:t>
            </a:r>
          </a:p>
        </p:txBody>
      </p:sp>
      <p:sp>
        <p:nvSpPr>
          <p:cNvPr id="60" name="Rectangle 59"/>
          <p:cNvSpPr/>
          <p:nvPr/>
        </p:nvSpPr>
        <p:spPr>
          <a:xfrm>
            <a:off x="566928" y="339242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66928" y="3538728"/>
            <a:ext cx="73152" cy="73152"/>
          </a:xfrm>
          <a:prstGeom prst="ellipse">
            <a:avLst/>
          </a:prstGeom>
          <a:solidFill>
            <a:srgbClr val="B78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1520" y="3419856"/>
            <a:ext cx="1417320" cy="310896"/>
          </a:xfrm>
          <a:prstGeom prst="rect">
            <a:avLst/>
          </a:prstGeom>
          <a:noFill/>
        </p:spPr>
        <p:txBody>
          <a:bodyPr wrap="square" lIns="0" tIns="0" rIns="0" bIns="0" anchor="ctr">
            <a:spAutoFit/>
          </a:bodyPr>
          <a:lstStyle/>
          <a:p>
            <a:pPr algn="l"/>
            <a:r>
              <a:rPr sz="1050" b="1" i="0">
                <a:solidFill>
                  <a:srgbClr val="E8F2EA"/>
                </a:solidFill>
                <a:latin typeface="Arial"/>
              </a:rPr>
              <a:t>Barrier UO 120</a:t>
            </a:r>
          </a:p>
        </p:txBody>
      </p:sp>
      <p:sp>
        <p:nvSpPr>
          <p:cNvPr id="63" name="TextBox 62"/>
          <p:cNvSpPr txBox="1"/>
          <p:nvPr/>
        </p:nvSpPr>
        <p:spPr>
          <a:xfrm>
            <a:off x="2148840" y="3419856"/>
            <a:ext cx="1737360" cy="310896"/>
          </a:xfrm>
          <a:prstGeom prst="rect">
            <a:avLst/>
          </a:prstGeom>
          <a:noFill/>
        </p:spPr>
        <p:txBody>
          <a:bodyPr wrap="square" lIns="0" tIns="0" rIns="0" bIns="0" anchor="ctr">
            <a:spAutoFit/>
          </a:bodyPr>
          <a:lstStyle/>
          <a:p>
            <a:pPr algn="l"/>
            <a:r>
              <a:rPr sz="900" b="0" i="0">
                <a:solidFill>
                  <a:srgbClr val="93A79A"/>
                </a:solidFill>
                <a:latin typeface="Consolas"/>
              </a:rPr>
              <a:t>PDE</a:t>
            </a:r>
          </a:p>
        </p:txBody>
      </p:sp>
      <p:sp>
        <p:nvSpPr>
          <p:cNvPr id="64" name="TextBox 63"/>
          <p:cNvSpPr txBox="1"/>
          <p:nvPr/>
        </p:nvSpPr>
        <p:spPr>
          <a:xfrm>
            <a:off x="3977639" y="341985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−0.0237</a:t>
            </a:r>
          </a:p>
        </p:txBody>
      </p:sp>
      <p:sp>
        <p:nvSpPr>
          <p:cNvPr id="65" name="TextBox 64"/>
          <p:cNvSpPr txBox="1"/>
          <p:nvPr/>
        </p:nvSpPr>
        <p:spPr>
          <a:xfrm>
            <a:off x="4937760" y="341985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−0.0055</a:t>
            </a:r>
          </a:p>
        </p:txBody>
      </p:sp>
      <p:sp>
        <p:nvSpPr>
          <p:cNvPr id="66" name="TextBox 65"/>
          <p:cNvSpPr txBox="1"/>
          <p:nvPr/>
        </p:nvSpPr>
        <p:spPr>
          <a:xfrm>
            <a:off x="5897880" y="3419856"/>
            <a:ext cx="914400" cy="310896"/>
          </a:xfrm>
          <a:prstGeom prst="rect">
            <a:avLst/>
          </a:prstGeom>
          <a:noFill/>
        </p:spPr>
        <p:txBody>
          <a:bodyPr wrap="square" lIns="0" tIns="0" rIns="0" bIns="0" anchor="ctr">
            <a:spAutoFit/>
          </a:bodyPr>
          <a:lstStyle/>
          <a:p>
            <a:pPr algn="r"/>
            <a:r>
              <a:rPr sz="1050" b="0" i="0">
                <a:solidFill>
                  <a:srgbClr val="FFB020"/>
                </a:solidFill>
                <a:latin typeface="Consolas"/>
              </a:rPr>
              <a:t>−0.1328</a:t>
            </a:r>
          </a:p>
        </p:txBody>
      </p:sp>
      <p:sp>
        <p:nvSpPr>
          <p:cNvPr id="67" name="TextBox 66"/>
          <p:cNvSpPr txBox="1"/>
          <p:nvPr/>
        </p:nvSpPr>
        <p:spPr>
          <a:xfrm>
            <a:off x="6858000" y="3419856"/>
            <a:ext cx="914400" cy="310896"/>
          </a:xfrm>
          <a:prstGeom prst="rect">
            <a:avLst/>
          </a:prstGeom>
          <a:noFill/>
        </p:spPr>
        <p:txBody>
          <a:bodyPr wrap="square" lIns="0" tIns="0" rIns="0" bIns="0" anchor="ctr">
            <a:spAutoFit/>
          </a:bodyPr>
          <a:lstStyle/>
          <a:p>
            <a:pPr algn="r"/>
            <a:r>
              <a:rPr sz="1050" b="0" i="0">
                <a:solidFill>
                  <a:srgbClr val="E8F2EA"/>
                </a:solidFill>
                <a:latin typeface="Consolas"/>
              </a:rPr>
              <a:t>0.0035</a:t>
            </a:r>
          </a:p>
        </p:txBody>
      </p:sp>
      <p:sp>
        <p:nvSpPr>
          <p:cNvPr id="68" name="TextBox 67"/>
          <p:cNvSpPr txBox="1"/>
          <p:nvPr/>
        </p:nvSpPr>
        <p:spPr>
          <a:xfrm>
            <a:off x="7818120" y="3419856"/>
            <a:ext cx="914400" cy="310896"/>
          </a:xfrm>
          <a:prstGeom prst="rect">
            <a:avLst/>
          </a:prstGeom>
          <a:noFill/>
        </p:spPr>
        <p:txBody>
          <a:bodyPr wrap="square" lIns="0" tIns="0" rIns="0" bIns="0" anchor="ctr">
            <a:spAutoFit/>
          </a:bodyPr>
          <a:lstStyle/>
          <a:p>
            <a:pPr algn="r"/>
            <a:r>
              <a:rPr sz="1050" b="0" i="0">
                <a:solidFill>
                  <a:srgbClr val="E8F2EA"/>
                </a:solidFill>
                <a:latin typeface="Consolas"/>
              </a:rPr>
              <a:t>0.0076</a:t>
            </a:r>
          </a:p>
        </p:txBody>
      </p:sp>
      <p:sp>
        <p:nvSpPr>
          <p:cNvPr id="69" name="Rectangle 68"/>
          <p:cNvSpPr/>
          <p:nvPr/>
        </p:nvSpPr>
        <p:spPr>
          <a:xfrm>
            <a:off x="566928" y="375818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566928" y="3904488"/>
            <a:ext cx="73152" cy="73152"/>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31520" y="3785616"/>
            <a:ext cx="1417320" cy="310896"/>
          </a:xfrm>
          <a:prstGeom prst="rect">
            <a:avLst/>
          </a:prstGeom>
          <a:noFill/>
        </p:spPr>
        <p:txBody>
          <a:bodyPr wrap="square" lIns="0" tIns="0" rIns="0" bIns="0" anchor="ctr">
            <a:spAutoFit/>
          </a:bodyPr>
          <a:lstStyle/>
          <a:p>
            <a:pPr algn="l"/>
            <a:r>
              <a:rPr sz="1050" b="1" i="0">
                <a:solidFill>
                  <a:srgbClr val="E8F2EA"/>
                </a:solidFill>
                <a:latin typeface="Arial"/>
              </a:rPr>
              <a:t>Basket call</a:t>
            </a:r>
          </a:p>
        </p:txBody>
      </p:sp>
      <p:sp>
        <p:nvSpPr>
          <p:cNvPr id="72" name="TextBox 71"/>
          <p:cNvSpPr txBox="1"/>
          <p:nvPr/>
        </p:nvSpPr>
        <p:spPr>
          <a:xfrm>
            <a:off x="2148840" y="3785616"/>
            <a:ext cx="1737360" cy="310896"/>
          </a:xfrm>
          <a:prstGeom prst="rect">
            <a:avLst/>
          </a:prstGeom>
          <a:noFill/>
        </p:spPr>
        <p:txBody>
          <a:bodyPr wrap="square" lIns="0" tIns="0" rIns="0" bIns="0" anchor="ctr">
            <a:spAutoFit/>
          </a:bodyPr>
          <a:lstStyle/>
          <a:p>
            <a:pPr algn="l"/>
            <a:r>
              <a:rPr sz="900" b="0" i="0">
                <a:solidFill>
                  <a:srgbClr val="93A79A"/>
                </a:solidFill>
                <a:latin typeface="Consolas"/>
              </a:rPr>
              <a:t>MC, 3 assets</a:t>
            </a:r>
          </a:p>
        </p:txBody>
      </p:sp>
      <p:sp>
        <p:nvSpPr>
          <p:cNvPr id="73" name="TextBox 72"/>
          <p:cNvSpPr txBox="1"/>
          <p:nvPr/>
        </p:nvSpPr>
        <p:spPr>
          <a:xfrm>
            <a:off x="3977639" y="3785616"/>
            <a:ext cx="914400" cy="310896"/>
          </a:xfrm>
          <a:prstGeom prst="rect">
            <a:avLst/>
          </a:prstGeom>
          <a:noFill/>
        </p:spPr>
        <p:txBody>
          <a:bodyPr wrap="square" lIns="0" tIns="0" rIns="0" bIns="0" anchor="ctr">
            <a:spAutoFit/>
          </a:bodyPr>
          <a:lstStyle/>
          <a:p>
            <a:pPr algn="r"/>
            <a:r>
              <a:rPr sz="1050" b="0" i="0">
                <a:solidFill>
                  <a:srgbClr val="E8F2EA"/>
                </a:solidFill>
                <a:latin typeface="Consolas"/>
              </a:rPr>
              <a:t>0.6468</a:t>
            </a:r>
          </a:p>
        </p:txBody>
      </p:sp>
      <p:sp>
        <p:nvSpPr>
          <p:cNvPr id="74" name="TextBox 73"/>
          <p:cNvSpPr txBox="1"/>
          <p:nvPr/>
        </p:nvSpPr>
        <p:spPr>
          <a:xfrm>
            <a:off x="4937760" y="3785616"/>
            <a:ext cx="914400" cy="310896"/>
          </a:xfrm>
          <a:prstGeom prst="rect">
            <a:avLst/>
          </a:prstGeom>
          <a:noFill/>
        </p:spPr>
        <p:txBody>
          <a:bodyPr wrap="square" lIns="0" tIns="0" rIns="0" bIns="0" anchor="ctr">
            <a:spAutoFit/>
          </a:bodyPr>
          <a:lstStyle/>
          <a:p>
            <a:pPr algn="r"/>
            <a:r>
              <a:rPr sz="1050" b="0" i="0">
                <a:solidFill>
                  <a:srgbClr val="E8F2EA"/>
                </a:solidFill>
                <a:latin typeface="Consolas"/>
              </a:rPr>
              <a:t>0.0215</a:t>
            </a:r>
          </a:p>
        </p:txBody>
      </p:sp>
      <p:sp>
        <p:nvSpPr>
          <p:cNvPr id="75" name="TextBox 74"/>
          <p:cNvSpPr txBox="1"/>
          <p:nvPr/>
        </p:nvSpPr>
        <p:spPr>
          <a:xfrm>
            <a:off x="5897880" y="3785616"/>
            <a:ext cx="914400" cy="310896"/>
          </a:xfrm>
          <a:prstGeom prst="rect">
            <a:avLst/>
          </a:prstGeom>
          <a:noFill/>
        </p:spPr>
        <p:txBody>
          <a:bodyPr wrap="square" lIns="0" tIns="0" rIns="0" bIns="0" anchor="ctr">
            <a:spAutoFit/>
          </a:bodyPr>
          <a:lstStyle/>
          <a:p>
            <a:pPr algn="r"/>
            <a:r>
              <a:rPr sz="1050" b="0" i="0">
                <a:solidFill>
                  <a:srgbClr val="E8F2EA"/>
                </a:solidFill>
                <a:latin typeface="Consolas"/>
              </a:rPr>
              <a:t>0.3080</a:t>
            </a:r>
          </a:p>
        </p:txBody>
      </p:sp>
      <p:sp>
        <p:nvSpPr>
          <p:cNvPr id="76" name="TextBox 75"/>
          <p:cNvSpPr txBox="1"/>
          <p:nvPr/>
        </p:nvSpPr>
        <p:spPr>
          <a:xfrm>
            <a:off x="6858000" y="3785616"/>
            <a:ext cx="914400" cy="310896"/>
          </a:xfrm>
          <a:prstGeom prst="rect">
            <a:avLst/>
          </a:prstGeom>
          <a:noFill/>
        </p:spPr>
        <p:txBody>
          <a:bodyPr wrap="square" lIns="0" tIns="0" rIns="0" bIns="0" anchor="ctr">
            <a:spAutoFit/>
          </a:bodyPr>
          <a:lstStyle/>
          <a:p>
            <a:pPr algn="r"/>
            <a:r>
              <a:rPr sz="1050" b="0" i="0">
                <a:solidFill>
                  <a:srgbClr val="FFB020"/>
                </a:solidFill>
                <a:latin typeface="Consolas"/>
              </a:rPr>
              <a:t>−0.0161</a:t>
            </a:r>
          </a:p>
        </p:txBody>
      </p:sp>
      <p:sp>
        <p:nvSpPr>
          <p:cNvPr id="77" name="TextBox 76"/>
          <p:cNvSpPr txBox="1"/>
          <p:nvPr/>
        </p:nvSpPr>
        <p:spPr>
          <a:xfrm>
            <a:off x="7818120" y="3785616"/>
            <a:ext cx="914400" cy="310896"/>
          </a:xfrm>
          <a:prstGeom prst="rect">
            <a:avLst/>
          </a:prstGeom>
          <a:noFill/>
        </p:spPr>
        <p:txBody>
          <a:bodyPr wrap="square" lIns="0" tIns="0" rIns="0" bIns="0" anchor="ctr">
            <a:spAutoFit/>
          </a:bodyPr>
          <a:lstStyle/>
          <a:p>
            <a:pPr algn="r"/>
            <a:r>
              <a:rPr sz="1050" b="0" i="0">
                <a:solidFill>
                  <a:srgbClr val="E8F2EA"/>
                </a:solidFill>
                <a:latin typeface="Consolas"/>
              </a:rPr>
              <a:t>0.5548</a:t>
            </a:r>
          </a:p>
        </p:txBody>
      </p:sp>
      <p:sp>
        <p:nvSpPr>
          <p:cNvPr id="78" name="Rectangle 77"/>
          <p:cNvSpPr/>
          <p:nvPr/>
        </p:nvSpPr>
        <p:spPr>
          <a:xfrm>
            <a:off x="566928" y="412394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66928" y="4224528"/>
            <a:ext cx="8138160" cy="566928"/>
          </a:xfrm>
          <a:prstGeom prst="rect">
            <a:avLst/>
          </a:prstGeom>
          <a:noFill/>
        </p:spPr>
        <p:txBody>
          <a:bodyPr wrap="square" lIns="0" tIns="0" rIns="0" bIns="0" anchor="t">
            <a:spAutoFit/>
          </a:bodyPr>
          <a:lstStyle/>
          <a:p>
            <a:pPr marL="155448" indent="-155448" algn="l">
              <a:spcAft>
                <a:spcPts val="200"/>
              </a:spcAft>
              <a:buClr>
                <a:srgbClr val="3DDC84"/>
              </a:buClr>
              <a:buFont typeface="Arial"/>
              <a:buChar char="▪"/>
            </a:pPr>
            <a:r>
              <a:rPr sz="1000" b="0" i="0">
                <a:solidFill>
                  <a:srgbClr val="E8F2EA"/>
                </a:solidFill>
                <a:latin typeface="Arial"/>
              </a:rPr>
              <a:t>The up-and-out call is short delta, gamma and vega: more volatility raises the chance of a knock-out.</a:t>
            </a:r>
          </a:p>
          <a:p>
            <a:pPr marL="155448" indent="-155448" algn="l">
              <a:spcAft>
                <a:spcPts val="200"/>
              </a:spcAft>
              <a:buClr>
                <a:srgbClr val="3DDC84"/>
              </a:buClr>
              <a:buFont typeface="Arial"/>
              <a:buChar char="▪"/>
            </a:pPr>
            <a:r>
              <a:rPr sz="1000" b="0" i="0">
                <a:solidFill>
                  <a:srgbClr val="E8F2EA"/>
                </a:solidFill>
                <a:latin typeface="Arial"/>
              </a:rPr>
              <a:t>The lookback has zero gamma because its value scales with spot; the Asian has 41% less vega than the vanilla.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16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9 / SCENARIO_ANALYSIS</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600" b="1" i="0">
                <a:solidFill>
                  <a:srgbClr val="E8F2EA"/>
                </a:solidFill>
                <a:latin typeface="Arial"/>
              </a:rPr>
              <a:t>What breaks, and how badly.</a:t>
            </a:r>
          </a:p>
        </p:txBody>
      </p:sp>
      <p:sp>
        <p:nvSpPr>
          <p:cNvPr id="8" name="TextBox 7"/>
          <p:cNvSpPr txBox="1"/>
          <p:nvPr/>
        </p:nvSpPr>
        <p:spPr>
          <a:xfrm>
            <a:off x="0" y="0"/>
            <a:ext cx="91440" cy="91440"/>
          </a:xfrm>
          <a:prstGeom prst="rect">
            <a:avLst/>
          </a:prstGeom>
          <a:noFill/>
        </p:spPr>
        <p:txBody>
          <a:bodyPr wrap="square" lIns="0" tIns="0" rIns="0" bIns="0" anchor="t">
            <a:spAutoFit/>
          </a:bodyPr>
          <a:lstStyle/>
          <a:p>
            <a:pPr algn="l"/>
            <a:endParaRPr/>
          </a:p>
        </p:txBody>
      </p:sp>
      <p:sp>
        <p:nvSpPr>
          <p:cNvPr id="9" name="TextBox 8"/>
          <p:cNvSpPr txBox="1"/>
          <p:nvPr/>
        </p:nvSpPr>
        <p:spPr>
          <a:xfrm>
            <a:off x="1600200" y="1389888"/>
            <a:ext cx="932688" cy="201168"/>
          </a:xfrm>
          <a:prstGeom prst="rect">
            <a:avLst/>
          </a:prstGeom>
          <a:noFill/>
        </p:spPr>
        <p:txBody>
          <a:bodyPr wrap="square" lIns="0" tIns="0" rIns="0" bIns="0" anchor="t">
            <a:spAutoFit/>
          </a:bodyPr>
          <a:lstStyle/>
          <a:p>
            <a:pPr algn="ctr"/>
            <a:r>
              <a:rPr sz="850" b="0" i="0">
                <a:solidFill>
                  <a:srgbClr val="93A79A"/>
                </a:solidFill>
                <a:latin typeface="Consolas"/>
              </a:rPr>
              <a:t>−10%</a:t>
            </a:r>
          </a:p>
        </p:txBody>
      </p:sp>
      <p:sp>
        <p:nvSpPr>
          <p:cNvPr id="10" name="TextBox 9"/>
          <p:cNvSpPr txBox="1"/>
          <p:nvPr/>
        </p:nvSpPr>
        <p:spPr>
          <a:xfrm>
            <a:off x="2587752" y="1389888"/>
            <a:ext cx="932688" cy="201168"/>
          </a:xfrm>
          <a:prstGeom prst="rect">
            <a:avLst/>
          </a:prstGeom>
          <a:noFill/>
        </p:spPr>
        <p:txBody>
          <a:bodyPr wrap="square" lIns="0" tIns="0" rIns="0" bIns="0" anchor="t">
            <a:spAutoFit/>
          </a:bodyPr>
          <a:lstStyle/>
          <a:p>
            <a:pPr algn="ctr"/>
            <a:r>
              <a:rPr sz="850" b="0" i="0">
                <a:solidFill>
                  <a:srgbClr val="93A79A"/>
                </a:solidFill>
                <a:latin typeface="Consolas"/>
              </a:rPr>
              <a:t>−5%</a:t>
            </a:r>
          </a:p>
        </p:txBody>
      </p:sp>
      <p:sp>
        <p:nvSpPr>
          <p:cNvPr id="11" name="TextBox 10"/>
          <p:cNvSpPr txBox="1"/>
          <p:nvPr/>
        </p:nvSpPr>
        <p:spPr>
          <a:xfrm>
            <a:off x="3575304" y="1389888"/>
            <a:ext cx="932688" cy="201168"/>
          </a:xfrm>
          <a:prstGeom prst="rect">
            <a:avLst/>
          </a:prstGeom>
          <a:noFill/>
        </p:spPr>
        <p:txBody>
          <a:bodyPr wrap="square" lIns="0" tIns="0" rIns="0" bIns="0" anchor="t">
            <a:spAutoFit/>
          </a:bodyPr>
          <a:lstStyle/>
          <a:p>
            <a:pPr algn="ctr"/>
            <a:r>
              <a:rPr sz="850" b="0" i="0">
                <a:solidFill>
                  <a:srgbClr val="93A79A"/>
                </a:solidFill>
                <a:latin typeface="Consolas"/>
              </a:rPr>
              <a:t>−1%</a:t>
            </a:r>
          </a:p>
        </p:txBody>
      </p:sp>
      <p:sp>
        <p:nvSpPr>
          <p:cNvPr id="12" name="TextBox 11"/>
          <p:cNvSpPr txBox="1"/>
          <p:nvPr/>
        </p:nvSpPr>
        <p:spPr>
          <a:xfrm>
            <a:off x="4562856" y="1389888"/>
            <a:ext cx="932688" cy="201168"/>
          </a:xfrm>
          <a:prstGeom prst="rect">
            <a:avLst/>
          </a:prstGeom>
          <a:noFill/>
        </p:spPr>
        <p:txBody>
          <a:bodyPr wrap="square" lIns="0" tIns="0" rIns="0" bIns="0" anchor="t">
            <a:spAutoFit/>
          </a:bodyPr>
          <a:lstStyle/>
          <a:p>
            <a:pPr algn="ctr"/>
            <a:r>
              <a:rPr sz="850" b="0" i="0">
                <a:solidFill>
                  <a:srgbClr val="93A79A"/>
                </a:solidFill>
                <a:latin typeface="Consolas"/>
              </a:rPr>
              <a:t>0</a:t>
            </a:r>
          </a:p>
        </p:txBody>
      </p:sp>
      <p:sp>
        <p:nvSpPr>
          <p:cNvPr id="13" name="TextBox 12"/>
          <p:cNvSpPr txBox="1"/>
          <p:nvPr/>
        </p:nvSpPr>
        <p:spPr>
          <a:xfrm>
            <a:off x="5550408" y="1389888"/>
            <a:ext cx="932688" cy="201168"/>
          </a:xfrm>
          <a:prstGeom prst="rect">
            <a:avLst/>
          </a:prstGeom>
          <a:noFill/>
        </p:spPr>
        <p:txBody>
          <a:bodyPr wrap="square" lIns="0" tIns="0" rIns="0" bIns="0" anchor="t">
            <a:spAutoFit/>
          </a:bodyPr>
          <a:lstStyle/>
          <a:p>
            <a:pPr algn="ctr"/>
            <a:r>
              <a:rPr sz="850" b="0" i="0">
                <a:solidFill>
                  <a:srgbClr val="93A79A"/>
                </a:solidFill>
                <a:latin typeface="Consolas"/>
              </a:rPr>
              <a:t>+1%</a:t>
            </a:r>
          </a:p>
        </p:txBody>
      </p:sp>
      <p:sp>
        <p:nvSpPr>
          <p:cNvPr id="14" name="TextBox 13"/>
          <p:cNvSpPr txBox="1"/>
          <p:nvPr/>
        </p:nvSpPr>
        <p:spPr>
          <a:xfrm>
            <a:off x="6537960" y="1389888"/>
            <a:ext cx="932688" cy="201168"/>
          </a:xfrm>
          <a:prstGeom prst="rect">
            <a:avLst/>
          </a:prstGeom>
          <a:noFill/>
        </p:spPr>
        <p:txBody>
          <a:bodyPr wrap="square" lIns="0" tIns="0" rIns="0" bIns="0" anchor="t">
            <a:spAutoFit/>
          </a:bodyPr>
          <a:lstStyle/>
          <a:p>
            <a:pPr algn="ctr"/>
            <a:r>
              <a:rPr sz="850" b="0" i="0">
                <a:solidFill>
                  <a:srgbClr val="93A79A"/>
                </a:solidFill>
                <a:latin typeface="Consolas"/>
              </a:rPr>
              <a:t>+5%</a:t>
            </a:r>
          </a:p>
        </p:txBody>
      </p:sp>
      <p:sp>
        <p:nvSpPr>
          <p:cNvPr id="15" name="TextBox 14"/>
          <p:cNvSpPr txBox="1"/>
          <p:nvPr/>
        </p:nvSpPr>
        <p:spPr>
          <a:xfrm>
            <a:off x="7525512" y="1389888"/>
            <a:ext cx="932688" cy="201168"/>
          </a:xfrm>
          <a:prstGeom prst="rect">
            <a:avLst/>
          </a:prstGeom>
          <a:noFill/>
        </p:spPr>
        <p:txBody>
          <a:bodyPr wrap="square" lIns="0" tIns="0" rIns="0" bIns="0" anchor="t">
            <a:spAutoFit/>
          </a:bodyPr>
          <a:lstStyle/>
          <a:p>
            <a:pPr algn="ctr"/>
            <a:r>
              <a:rPr sz="850" b="0" i="0">
                <a:solidFill>
                  <a:srgbClr val="93A79A"/>
                </a:solidFill>
                <a:latin typeface="Consolas"/>
              </a:rPr>
              <a:t>+10%</a:t>
            </a:r>
          </a:p>
        </p:txBody>
      </p:sp>
      <p:sp>
        <p:nvSpPr>
          <p:cNvPr id="16" name="TextBox 15"/>
          <p:cNvSpPr txBox="1"/>
          <p:nvPr/>
        </p:nvSpPr>
        <p:spPr>
          <a:xfrm>
            <a:off x="566928" y="1645920"/>
            <a:ext cx="1005840" cy="384048"/>
          </a:xfrm>
          <a:prstGeom prst="rect">
            <a:avLst/>
          </a:prstGeom>
          <a:noFill/>
        </p:spPr>
        <p:txBody>
          <a:bodyPr wrap="square" lIns="0" tIns="0" rIns="0" bIns="0" anchor="ctr">
            <a:spAutoFit/>
          </a:bodyPr>
          <a:lstStyle/>
          <a:p>
            <a:pPr algn="l"/>
            <a:r>
              <a:rPr sz="900" b="0" i="0">
                <a:solidFill>
                  <a:srgbClr val="93A79A"/>
                </a:solidFill>
                <a:latin typeface="Consolas"/>
              </a:rPr>
              <a:t>VOL −10</a:t>
            </a:r>
          </a:p>
        </p:txBody>
      </p:sp>
      <p:sp>
        <p:nvSpPr>
          <p:cNvPr id="17" name="Rectangle 16"/>
          <p:cNvSpPr/>
          <p:nvPr/>
        </p:nvSpPr>
        <p:spPr>
          <a:xfrm>
            <a:off x="1600200" y="1645920"/>
            <a:ext cx="932688" cy="384048"/>
          </a:xfrm>
          <a:prstGeom prst="rect">
            <a:avLst/>
          </a:prstGeom>
          <a:solidFill>
            <a:srgbClr val="953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00200" y="16459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−8.77</a:t>
            </a:r>
          </a:p>
        </p:txBody>
      </p:sp>
      <p:sp>
        <p:nvSpPr>
          <p:cNvPr id="19" name="Rectangle 18"/>
          <p:cNvSpPr/>
          <p:nvPr/>
        </p:nvSpPr>
        <p:spPr>
          <a:xfrm>
            <a:off x="2587752" y="1645920"/>
            <a:ext cx="932688" cy="384048"/>
          </a:xfrm>
          <a:prstGeom prst="rect">
            <a:avLst/>
          </a:prstGeom>
          <a:solidFill>
            <a:srgbClr val="7E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87752" y="16459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−6.72</a:t>
            </a:r>
          </a:p>
        </p:txBody>
      </p:sp>
      <p:sp>
        <p:nvSpPr>
          <p:cNvPr id="21" name="Rectangle 20"/>
          <p:cNvSpPr/>
          <p:nvPr/>
        </p:nvSpPr>
        <p:spPr>
          <a:xfrm>
            <a:off x="3575304" y="1645920"/>
            <a:ext cx="932688" cy="384048"/>
          </a:xfrm>
          <a:prstGeom prst="rect">
            <a:avLst/>
          </a:prstGeom>
          <a:solidFill>
            <a:srgbClr val="63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75304" y="16459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−4.34</a:t>
            </a:r>
          </a:p>
        </p:txBody>
      </p:sp>
      <p:sp>
        <p:nvSpPr>
          <p:cNvPr id="23" name="Rectangle 22"/>
          <p:cNvSpPr/>
          <p:nvPr/>
        </p:nvSpPr>
        <p:spPr>
          <a:xfrm>
            <a:off x="4562856" y="1645920"/>
            <a:ext cx="932688" cy="384048"/>
          </a:xfrm>
          <a:prstGeom prst="rect">
            <a:avLst/>
          </a:prstGeom>
          <a:solidFill>
            <a:srgbClr val="5B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62856" y="16459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−3.65</a:t>
            </a:r>
          </a:p>
        </p:txBody>
      </p:sp>
      <p:sp>
        <p:nvSpPr>
          <p:cNvPr id="25" name="Rectangle 24"/>
          <p:cNvSpPr/>
          <p:nvPr/>
        </p:nvSpPr>
        <p:spPr>
          <a:xfrm>
            <a:off x="5550408" y="1645920"/>
            <a:ext cx="932688" cy="384048"/>
          </a:xfrm>
          <a:prstGeom prst="rect">
            <a:avLst/>
          </a:prstGeom>
          <a:solidFill>
            <a:srgbClr val="53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50408" y="16459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−2.92</a:t>
            </a:r>
          </a:p>
        </p:txBody>
      </p:sp>
      <p:sp>
        <p:nvSpPr>
          <p:cNvPr id="27" name="Rectangle 26"/>
          <p:cNvSpPr/>
          <p:nvPr/>
        </p:nvSpPr>
        <p:spPr>
          <a:xfrm>
            <a:off x="6537960" y="1645920"/>
            <a:ext cx="932688" cy="384048"/>
          </a:xfrm>
          <a:prstGeom prst="rect">
            <a:avLst/>
          </a:prstGeom>
          <a:solidFill>
            <a:srgbClr val="112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16459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+0.28</a:t>
            </a:r>
          </a:p>
        </p:txBody>
      </p:sp>
      <p:sp>
        <p:nvSpPr>
          <p:cNvPr id="29" name="Rectangle 28"/>
          <p:cNvSpPr/>
          <p:nvPr/>
        </p:nvSpPr>
        <p:spPr>
          <a:xfrm>
            <a:off x="7525512" y="1645920"/>
            <a:ext cx="932688" cy="384048"/>
          </a:xfrm>
          <a:prstGeom prst="rect">
            <a:avLst/>
          </a:prstGeom>
          <a:solidFill>
            <a:srgbClr val="195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25512" y="16459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+4.76</a:t>
            </a:r>
          </a:p>
        </p:txBody>
      </p:sp>
      <p:sp>
        <p:nvSpPr>
          <p:cNvPr id="31" name="TextBox 30"/>
          <p:cNvSpPr txBox="1"/>
          <p:nvPr/>
        </p:nvSpPr>
        <p:spPr>
          <a:xfrm>
            <a:off x="566928" y="2103120"/>
            <a:ext cx="1005840" cy="384048"/>
          </a:xfrm>
          <a:prstGeom prst="rect">
            <a:avLst/>
          </a:prstGeom>
          <a:noFill/>
        </p:spPr>
        <p:txBody>
          <a:bodyPr wrap="square" lIns="0" tIns="0" rIns="0" bIns="0" anchor="ctr">
            <a:spAutoFit/>
          </a:bodyPr>
          <a:lstStyle/>
          <a:p>
            <a:pPr algn="l"/>
            <a:r>
              <a:rPr sz="900" b="0" i="0">
                <a:solidFill>
                  <a:srgbClr val="93A79A"/>
                </a:solidFill>
                <a:latin typeface="Consolas"/>
              </a:rPr>
              <a:t>VOL  0</a:t>
            </a:r>
          </a:p>
        </p:txBody>
      </p:sp>
      <p:sp>
        <p:nvSpPr>
          <p:cNvPr id="32" name="Rectangle 31"/>
          <p:cNvSpPr/>
          <p:nvPr/>
        </p:nvSpPr>
        <p:spPr>
          <a:xfrm>
            <a:off x="1600200" y="2103120"/>
            <a:ext cx="932688" cy="384048"/>
          </a:xfrm>
          <a:prstGeom prst="rect">
            <a:avLst/>
          </a:prstGeom>
          <a:solidFill>
            <a:srgbClr val="6E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600200" y="21031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−5.36</a:t>
            </a:r>
          </a:p>
        </p:txBody>
      </p:sp>
      <p:sp>
        <p:nvSpPr>
          <p:cNvPr id="34" name="Rectangle 33"/>
          <p:cNvSpPr/>
          <p:nvPr/>
        </p:nvSpPr>
        <p:spPr>
          <a:xfrm>
            <a:off x="2587752" y="2103120"/>
            <a:ext cx="932688" cy="384048"/>
          </a:xfrm>
          <a:prstGeom prst="rect">
            <a:avLst/>
          </a:prstGeom>
          <a:solidFill>
            <a:srgbClr val="53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587752" y="21031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−2.94</a:t>
            </a:r>
          </a:p>
        </p:txBody>
      </p:sp>
      <p:sp>
        <p:nvSpPr>
          <p:cNvPr id="36" name="Rectangle 35"/>
          <p:cNvSpPr/>
          <p:nvPr/>
        </p:nvSpPr>
        <p:spPr>
          <a:xfrm>
            <a:off x="3575304" y="2103120"/>
            <a:ext cx="932688" cy="384048"/>
          </a:xfrm>
          <a:prstGeom prst="rect">
            <a:avLst/>
          </a:prstGeom>
          <a:solidFill>
            <a:srgbClr val="39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575304" y="21031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−0.63</a:t>
            </a:r>
          </a:p>
        </p:txBody>
      </p:sp>
      <p:sp>
        <p:nvSpPr>
          <p:cNvPr id="38" name="Rectangle 37"/>
          <p:cNvSpPr/>
          <p:nvPr/>
        </p:nvSpPr>
        <p:spPr>
          <a:xfrm>
            <a:off x="4562856" y="2103120"/>
            <a:ext cx="932688" cy="3840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62856" y="21031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0.00</a:t>
            </a:r>
          </a:p>
        </p:txBody>
      </p:sp>
      <p:sp>
        <p:nvSpPr>
          <p:cNvPr id="40" name="Rectangle 39"/>
          <p:cNvSpPr/>
          <p:nvPr/>
        </p:nvSpPr>
        <p:spPr>
          <a:xfrm>
            <a:off x="5550408" y="2103120"/>
            <a:ext cx="932688" cy="384048"/>
          </a:xfrm>
          <a:prstGeom prst="rect">
            <a:avLst/>
          </a:prstGeom>
          <a:solidFill>
            <a:srgbClr val="122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550408" y="21031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+0.65</a:t>
            </a:r>
          </a:p>
        </p:txBody>
      </p:sp>
      <p:sp>
        <p:nvSpPr>
          <p:cNvPr id="42" name="Rectangle 41"/>
          <p:cNvSpPr/>
          <p:nvPr/>
        </p:nvSpPr>
        <p:spPr>
          <a:xfrm>
            <a:off x="6537960" y="2103120"/>
            <a:ext cx="932688" cy="384048"/>
          </a:xfrm>
          <a:prstGeom prst="rect">
            <a:avLst/>
          </a:prstGeom>
          <a:solidFill>
            <a:srgbClr val="17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37960" y="21031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+3.41</a:t>
            </a:r>
          </a:p>
        </p:txBody>
      </p:sp>
      <p:sp>
        <p:nvSpPr>
          <p:cNvPr id="44" name="Rectangle 43"/>
          <p:cNvSpPr/>
          <p:nvPr/>
        </p:nvSpPr>
        <p:spPr>
          <a:xfrm>
            <a:off x="7525512" y="2103120"/>
            <a:ext cx="932688" cy="384048"/>
          </a:xfrm>
          <a:prstGeom prst="rect">
            <a:avLst/>
          </a:prstGeom>
          <a:solidFill>
            <a:srgbClr val="1E6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525512" y="21031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+7.21</a:t>
            </a:r>
          </a:p>
        </p:txBody>
      </p:sp>
      <p:sp>
        <p:nvSpPr>
          <p:cNvPr id="46" name="TextBox 45"/>
          <p:cNvSpPr txBox="1"/>
          <p:nvPr/>
        </p:nvSpPr>
        <p:spPr>
          <a:xfrm>
            <a:off x="566928" y="2560320"/>
            <a:ext cx="1005840" cy="384048"/>
          </a:xfrm>
          <a:prstGeom prst="rect">
            <a:avLst/>
          </a:prstGeom>
          <a:noFill/>
        </p:spPr>
        <p:txBody>
          <a:bodyPr wrap="square" lIns="0" tIns="0" rIns="0" bIns="0" anchor="ctr">
            <a:spAutoFit/>
          </a:bodyPr>
          <a:lstStyle/>
          <a:p>
            <a:pPr algn="l"/>
            <a:r>
              <a:rPr sz="900" b="0" i="0">
                <a:solidFill>
                  <a:srgbClr val="93A79A"/>
                </a:solidFill>
                <a:latin typeface="Consolas"/>
              </a:rPr>
              <a:t>VOL +10</a:t>
            </a:r>
          </a:p>
        </p:txBody>
      </p:sp>
      <p:sp>
        <p:nvSpPr>
          <p:cNvPr id="47" name="Rectangle 46"/>
          <p:cNvSpPr/>
          <p:nvPr/>
        </p:nvSpPr>
        <p:spPr>
          <a:xfrm>
            <a:off x="1600200" y="2560320"/>
            <a:ext cx="932688" cy="384048"/>
          </a:xfrm>
          <a:prstGeom prst="rect">
            <a:avLst/>
          </a:prstGeom>
          <a:solidFill>
            <a:srgbClr val="46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600200" y="25603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−1.79</a:t>
            </a:r>
          </a:p>
        </p:txBody>
      </p:sp>
      <p:sp>
        <p:nvSpPr>
          <p:cNvPr id="49" name="Rectangle 48"/>
          <p:cNvSpPr/>
          <p:nvPr/>
        </p:nvSpPr>
        <p:spPr>
          <a:xfrm>
            <a:off x="2587752" y="2560320"/>
            <a:ext cx="932688" cy="384048"/>
          </a:xfrm>
          <a:prstGeom prst="rect">
            <a:avLst/>
          </a:prstGeom>
          <a:solidFill>
            <a:srgbClr val="122E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587752" y="25603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+0.82</a:t>
            </a:r>
          </a:p>
        </p:txBody>
      </p:sp>
      <p:sp>
        <p:nvSpPr>
          <p:cNvPr id="51" name="Rectangle 50"/>
          <p:cNvSpPr/>
          <p:nvPr/>
        </p:nvSpPr>
        <p:spPr>
          <a:xfrm>
            <a:off x="3575304" y="2560320"/>
            <a:ext cx="932688" cy="384048"/>
          </a:xfrm>
          <a:prstGeom prst="rect">
            <a:avLst/>
          </a:prstGeom>
          <a:solidFill>
            <a:srgbClr val="164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575304" y="25603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+3.16</a:t>
            </a:r>
          </a:p>
        </p:txBody>
      </p:sp>
      <p:sp>
        <p:nvSpPr>
          <p:cNvPr id="53" name="Rectangle 52"/>
          <p:cNvSpPr/>
          <p:nvPr/>
        </p:nvSpPr>
        <p:spPr>
          <a:xfrm>
            <a:off x="4562856" y="2560320"/>
            <a:ext cx="932688" cy="384048"/>
          </a:xfrm>
          <a:prstGeom prst="rect">
            <a:avLst/>
          </a:prstGeom>
          <a:solidFill>
            <a:srgbClr val="184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562856" y="25603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+3.78</a:t>
            </a:r>
          </a:p>
        </p:txBody>
      </p:sp>
      <p:sp>
        <p:nvSpPr>
          <p:cNvPr id="55" name="Rectangle 54"/>
          <p:cNvSpPr/>
          <p:nvPr/>
        </p:nvSpPr>
        <p:spPr>
          <a:xfrm>
            <a:off x="5550408" y="2560320"/>
            <a:ext cx="932688" cy="384048"/>
          </a:xfrm>
          <a:prstGeom prst="rect">
            <a:avLst/>
          </a:prstGeom>
          <a:solidFill>
            <a:srgbClr val="194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550408" y="25603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+4.41</a:t>
            </a:r>
          </a:p>
        </p:txBody>
      </p:sp>
      <p:sp>
        <p:nvSpPr>
          <p:cNvPr id="57" name="Rectangle 56"/>
          <p:cNvSpPr/>
          <p:nvPr/>
        </p:nvSpPr>
        <p:spPr>
          <a:xfrm>
            <a:off x="6537960" y="2560320"/>
            <a:ext cx="932688" cy="384048"/>
          </a:xfrm>
          <a:prstGeom prst="rect">
            <a:avLst/>
          </a:prstGeom>
          <a:solidFill>
            <a:srgbClr val="1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37960" y="25603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+7.05</a:t>
            </a:r>
          </a:p>
        </p:txBody>
      </p:sp>
      <p:sp>
        <p:nvSpPr>
          <p:cNvPr id="59" name="Rectangle 58"/>
          <p:cNvSpPr/>
          <p:nvPr/>
        </p:nvSpPr>
        <p:spPr>
          <a:xfrm>
            <a:off x="7525512" y="2560320"/>
            <a:ext cx="932688" cy="384048"/>
          </a:xfrm>
          <a:prstGeom prst="rect">
            <a:avLst/>
          </a:prstGeom>
          <a:solidFill>
            <a:srgbClr val="2582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525512" y="2560320"/>
            <a:ext cx="932688" cy="384048"/>
          </a:xfrm>
          <a:prstGeom prst="rect">
            <a:avLst/>
          </a:prstGeom>
          <a:noFill/>
        </p:spPr>
        <p:txBody>
          <a:bodyPr wrap="square" lIns="0" tIns="0" rIns="0" bIns="0" anchor="ctr">
            <a:spAutoFit/>
          </a:bodyPr>
          <a:lstStyle/>
          <a:p>
            <a:pPr algn="ctr"/>
            <a:r>
              <a:rPr sz="1050" b="1" i="0">
                <a:solidFill>
                  <a:srgbClr val="E8F2EA"/>
                </a:solidFill>
                <a:latin typeface="Consolas"/>
              </a:rPr>
              <a:t>+10.61</a:t>
            </a:r>
          </a:p>
        </p:txBody>
      </p:sp>
      <p:sp>
        <p:nvSpPr>
          <p:cNvPr id="61" name="Rectangle 60"/>
          <p:cNvSpPr/>
          <p:nvPr/>
        </p:nvSpPr>
        <p:spPr>
          <a:xfrm>
            <a:off x="566928" y="3182112"/>
            <a:ext cx="1947672" cy="71323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6656" y="3255264"/>
            <a:ext cx="1783080" cy="182880"/>
          </a:xfrm>
          <a:prstGeom prst="rect">
            <a:avLst/>
          </a:prstGeom>
          <a:noFill/>
        </p:spPr>
        <p:txBody>
          <a:bodyPr wrap="square" lIns="0" tIns="0" rIns="0" bIns="0" anchor="t">
            <a:spAutoFit/>
          </a:bodyPr>
          <a:lstStyle/>
          <a:p>
            <a:pPr algn="l"/>
            <a:r>
              <a:rPr sz="800" b="1" i="0">
                <a:solidFill>
                  <a:srgbClr val="3DDC84"/>
                </a:solidFill>
                <a:latin typeface="Consolas"/>
              </a:rPr>
              <a:t>RATES ±100bp</a:t>
            </a:r>
          </a:p>
        </p:txBody>
      </p:sp>
      <p:sp>
        <p:nvSpPr>
          <p:cNvPr id="63" name="TextBox 62"/>
          <p:cNvSpPr txBox="1"/>
          <p:nvPr/>
        </p:nvSpPr>
        <p:spPr>
          <a:xfrm>
            <a:off x="676656" y="3502152"/>
            <a:ext cx="1783080" cy="274320"/>
          </a:xfrm>
          <a:prstGeom prst="rect">
            <a:avLst/>
          </a:prstGeom>
          <a:noFill/>
        </p:spPr>
        <p:txBody>
          <a:bodyPr wrap="square" lIns="0" tIns="0" rIns="0" bIns="0" anchor="t">
            <a:spAutoFit/>
          </a:bodyPr>
          <a:lstStyle/>
          <a:p>
            <a:pPr algn="l"/>
            <a:r>
              <a:rPr sz="1200" b="1" i="0">
                <a:solidFill>
                  <a:srgbClr val="E8F2EA"/>
                </a:solidFill>
                <a:latin typeface="Consolas"/>
              </a:rPr>
              <a:t>−0.53 / +0.54</a:t>
            </a:r>
          </a:p>
        </p:txBody>
      </p:sp>
      <p:sp>
        <p:nvSpPr>
          <p:cNvPr id="64" name="Rectangle 63"/>
          <p:cNvSpPr/>
          <p:nvPr/>
        </p:nvSpPr>
        <p:spPr>
          <a:xfrm>
            <a:off x="2642616" y="3182112"/>
            <a:ext cx="1947672" cy="71323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752344" y="3255264"/>
            <a:ext cx="1783080" cy="182880"/>
          </a:xfrm>
          <a:prstGeom prst="rect">
            <a:avLst/>
          </a:prstGeom>
          <a:noFill/>
        </p:spPr>
        <p:txBody>
          <a:bodyPr wrap="square" lIns="0" tIns="0" rIns="0" bIns="0" anchor="t">
            <a:spAutoFit/>
          </a:bodyPr>
          <a:lstStyle/>
          <a:p>
            <a:pPr algn="l"/>
            <a:r>
              <a:rPr sz="800" b="1" i="0">
                <a:solidFill>
                  <a:srgbClr val="3DDC84"/>
                </a:solidFill>
                <a:latin typeface="Consolas"/>
              </a:rPr>
              <a:t>TIME 1d · 7d · 30d</a:t>
            </a:r>
          </a:p>
        </p:txBody>
      </p:sp>
      <p:sp>
        <p:nvSpPr>
          <p:cNvPr id="66" name="TextBox 65"/>
          <p:cNvSpPr txBox="1"/>
          <p:nvPr/>
        </p:nvSpPr>
        <p:spPr>
          <a:xfrm>
            <a:off x="2752344" y="3502152"/>
            <a:ext cx="1783080" cy="274320"/>
          </a:xfrm>
          <a:prstGeom prst="rect">
            <a:avLst/>
          </a:prstGeom>
          <a:noFill/>
        </p:spPr>
        <p:txBody>
          <a:bodyPr wrap="square" lIns="0" tIns="0" rIns="0" bIns="0" anchor="t">
            <a:spAutoFit/>
          </a:bodyPr>
          <a:lstStyle/>
          <a:p>
            <a:pPr algn="l"/>
            <a:r>
              <a:rPr sz="1200" b="1" i="0">
                <a:solidFill>
                  <a:srgbClr val="E8F2EA"/>
                </a:solidFill>
                <a:latin typeface="Consolas"/>
              </a:rPr>
              <a:t>−0.02 · −0.12 · −0.53</a:t>
            </a:r>
          </a:p>
        </p:txBody>
      </p:sp>
      <p:sp>
        <p:nvSpPr>
          <p:cNvPr id="67" name="Rectangle 66"/>
          <p:cNvSpPr/>
          <p:nvPr/>
        </p:nvSpPr>
        <p:spPr>
          <a:xfrm>
            <a:off x="4718304" y="3182112"/>
            <a:ext cx="1947672" cy="71323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828032" y="3255264"/>
            <a:ext cx="1783080" cy="182880"/>
          </a:xfrm>
          <a:prstGeom prst="rect">
            <a:avLst/>
          </a:prstGeom>
          <a:noFill/>
        </p:spPr>
        <p:txBody>
          <a:bodyPr wrap="square" lIns="0" tIns="0" rIns="0" bIns="0" anchor="t">
            <a:spAutoFit/>
          </a:bodyPr>
          <a:lstStyle/>
          <a:p>
            <a:pPr algn="l"/>
            <a:r>
              <a:rPr sz="800" b="1" i="0">
                <a:solidFill>
                  <a:srgbClr val="3DDC84"/>
                </a:solidFill>
                <a:latin typeface="Consolas"/>
              </a:rPr>
              <a:t>BASKET ρ 0.5 → 0.2 / 0.8</a:t>
            </a:r>
          </a:p>
        </p:txBody>
      </p:sp>
      <p:sp>
        <p:nvSpPr>
          <p:cNvPr id="69" name="TextBox 68"/>
          <p:cNvSpPr txBox="1"/>
          <p:nvPr/>
        </p:nvSpPr>
        <p:spPr>
          <a:xfrm>
            <a:off x="4828032" y="3502152"/>
            <a:ext cx="1783080" cy="274320"/>
          </a:xfrm>
          <a:prstGeom prst="rect">
            <a:avLst/>
          </a:prstGeom>
          <a:noFill/>
        </p:spPr>
        <p:txBody>
          <a:bodyPr wrap="square" lIns="0" tIns="0" rIns="0" bIns="0" anchor="t">
            <a:spAutoFit/>
          </a:bodyPr>
          <a:lstStyle/>
          <a:p>
            <a:pPr algn="l"/>
            <a:r>
              <a:rPr sz="1200" b="1" i="0">
                <a:solidFill>
                  <a:srgbClr val="E8F2EA"/>
                </a:solidFill>
                <a:latin typeface="Consolas"/>
              </a:rPr>
              <a:t>−0.97 / +0.85</a:t>
            </a:r>
          </a:p>
        </p:txBody>
      </p:sp>
      <p:sp>
        <p:nvSpPr>
          <p:cNvPr id="70" name="Rectangle 69"/>
          <p:cNvSpPr/>
          <p:nvPr/>
        </p:nvSpPr>
        <p:spPr>
          <a:xfrm>
            <a:off x="6793992" y="3182112"/>
            <a:ext cx="1947672" cy="713232"/>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903720" y="3255264"/>
            <a:ext cx="1783080" cy="182880"/>
          </a:xfrm>
          <a:prstGeom prst="rect">
            <a:avLst/>
          </a:prstGeom>
          <a:noFill/>
        </p:spPr>
        <p:txBody>
          <a:bodyPr wrap="square" lIns="0" tIns="0" rIns="0" bIns="0" anchor="t">
            <a:spAutoFit/>
          </a:bodyPr>
          <a:lstStyle/>
          <a:p>
            <a:pPr algn="l"/>
            <a:r>
              <a:rPr sz="800" b="1" i="0">
                <a:solidFill>
                  <a:srgbClr val="3DDC84"/>
                </a:solidFill>
                <a:latin typeface="Consolas"/>
              </a:rPr>
              <a:t>BARRIER 120 ±5%</a:t>
            </a:r>
          </a:p>
        </p:txBody>
      </p:sp>
      <p:sp>
        <p:nvSpPr>
          <p:cNvPr id="72" name="TextBox 71"/>
          <p:cNvSpPr txBox="1"/>
          <p:nvPr/>
        </p:nvSpPr>
        <p:spPr>
          <a:xfrm>
            <a:off x="6903720" y="3502152"/>
            <a:ext cx="1783080" cy="274320"/>
          </a:xfrm>
          <a:prstGeom prst="rect">
            <a:avLst/>
          </a:prstGeom>
          <a:noFill/>
        </p:spPr>
        <p:txBody>
          <a:bodyPr wrap="square" lIns="0" tIns="0" rIns="0" bIns="0" anchor="t">
            <a:spAutoFit/>
          </a:bodyPr>
          <a:lstStyle/>
          <a:p>
            <a:pPr algn="l"/>
            <a:r>
              <a:rPr sz="1200" b="1" i="0">
                <a:solidFill>
                  <a:srgbClr val="E8F2EA"/>
                </a:solidFill>
                <a:latin typeface="Consolas"/>
              </a:rPr>
              <a:t>−0.79 / +1.21</a:t>
            </a:r>
          </a:p>
        </p:txBody>
      </p:sp>
      <p:sp>
        <p:nvSpPr>
          <p:cNvPr id="73" name="TextBox 72"/>
          <p:cNvSpPr txBox="1"/>
          <p:nvPr/>
        </p:nvSpPr>
        <p:spPr>
          <a:xfrm>
            <a:off x="566928" y="4041648"/>
            <a:ext cx="8138160" cy="731520"/>
          </a:xfrm>
          <a:prstGeom prst="rect">
            <a:avLst/>
          </a:prstGeom>
          <a:noFill/>
        </p:spPr>
        <p:txBody>
          <a:bodyPr wrap="square" lIns="0" tIns="0" rIns="0" bIns="0" anchor="t">
            <a:spAutoFit/>
          </a:bodyPr>
          <a:lstStyle/>
          <a:p>
            <a:pPr marL="155448" indent="-155448" algn="l">
              <a:spcAft>
                <a:spcPts val="300"/>
              </a:spcAft>
              <a:buClr>
                <a:srgbClr val="3DDC84"/>
              </a:buClr>
              <a:buFont typeface="Arial"/>
              <a:buChar char="▪"/>
            </a:pPr>
            <a:r>
              <a:rPr sz="1000" b="0" i="0">
                <a:solidFill>
                  <a:srgbClr val="E8F2EA"/>
                </a:solidFill>
                <a:latin typeface="Arial"/>
              </a:rPr>
              <a:t>Worst cell: spot −10% with vol −10 points loses 8.77, which is 84% of the 10.45 premium.</a:t>
            </a:r>
          </a:p>
          <a:p>
            <a:pPr marL="155448" indent="-155448" algn="l">
              <a:spcAft>
                <a:spcPts val="300"/>
              </a:spcAft>
              <a:buClr>
                <a:srgbClr val="3DDC84"/>
              </a:buClr>
              <a:buFont typeface="Arial"/>
              <a:buChar char="▪"/>
            </a:pPr>
            <a:r>
              <a:rPr sz="1000" b="0" i="0">
                <a:solidFill>
                  <a:srgbClr val="E8F2EA"/>
                </a:solidFill>
                <a:latin typeface="Arial"/>
              </a:rPr>
              <a:t>P&amp;L per unit of one long ATM call; basket and barrier tiles are for those products. Full revaluation throughout.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17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10 / DELTA_GAMMA</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Near a barrier, the Taylor</a:t>
            </a:r>
          </a:p>
          <a:p>
            <a:pPr algn="l">
              <a:lnSpc>
                <a:spcPct val="92000"/>
              </a:lnSpc>
            </a:pPr>
            <a:r>
              <a:rPr sz="2500" b="1" i="0">
                <a:solidFill>
                  <a:srgbClr val="E8F2EA"/>
                </a:solidFill>
                <a:latin typeface="Arial"/>
              </a:rPr>
              <a:t>approximation breaks.</a:t>
            </a:r>
          </a:p>
        </p:txBody>
      </p:sp>
      <p:sp>
        <p:nvSpPr>
          <p:cNvPr id="8" name="Rectangle 7"/>
          <p:cNvSpPr/>
          <p:nvPr/>
        </p:nvSpPr>
        <p:spPr>
          <a:xfrm>
            <a:off x="566928" y="1691640"/>
            <a:ext cx="4480560" cy="297180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773936"/>
            <a:ext cx="4206240" cy="182880"/>
          </a:xfrm>
          <a:prstGeom prst="rect">
            <a:avLst/>
          </a:prstGeom>
          <a:noFill/>
        </p:spPr>
        <p:txBody>
          <a:bodyPr wrap="square" lIns="0" tIns="0" rIns="0" bIns="0" anchor="t">
            <a:spAutoFit/>
          </a:bodyPr>
          <a:lstStyle/>
          <a:p>
            <a:pPr algn="l"/>
            <a:r>
              <a:rPr sz="900" b="1" i="0">
                <a:solidFill>
                  <a:srgbClr val="E8F2EA"/>
                </a:solidFill>
                <a:latin typeface="Consolas"/>
              </a:rPr>
              <a:t>UP-AND-OUT CALL (H=120): P&amp;L vs SPOT MOVE (%)</a:t>
            </a:r>
          </a:p>
        </p:txBody>
      </p:sp>
      <p:graphicFrame>
        <p:nvGraphicFramePr>
          <p:cNvPr id="10" name="Chart 9"/>
          <p:cNvGraphicFramePr>
            <a:graphicFrameLocks noGrp="1"/>
          </p:cNvGraphicFramePr>
          <p:nvPr/>
        </p:nvGraphicFramePr>
        <p:xfrm>
          <a:off x="621792" y="1984248"/>
          <a:ext cx="4352544"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04088" y="4334255"/>
            <a:ext cx="4206240" cy="274320"/>
          </a:xfrm>
          <a:prstGeom prst="rect">
            <a:avLst/>
          </a:prstGeom>
          <a:noFill/>
        </p:spPr>
        <p:txBody>
          <a:bodyPr wrap="square" lIns="0" tIns="0" rIns="0" bIns="0" anchor="t">
            <a:spAutoFit/>
          </a:bodyPr>
          <a:lstStyle/>
          <a:p>
            <a:pPr algn="l"/>
            <a:r>
              <a:rPr sz="900" b="0" i="0">
                <a:solidFill>
                  <a:srgbClr val="93A79A"/>
                </a:solidFill>
                <a:latin typeface="Arial"/>
              </a:rPr>
              <a:t>Past the barrier the option is gone; the quadratic keeps falling.</a:t>
            </a:r>
          </a:p>
        </p:txBody>
      </p:sp>
      <p:sp>
        <p:nvSpPr>
          <p:cNvPr id="12" name="Rectangle 11"/>
          <p:cNvSpPr/>
          <p:nvPr/>
        </p:nvSpPr>
        <p:spPr>
          <a:xfrm>
            <a:off x="5230368" y="1691640"/>
            <a:ext cx="1700784" cy="102412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49240" y="1783080"/>
            <a:ext cx="1463040" cy="164592"/>
          </a:xfrm>
          <a:prstGeom prst="rect">
            <a:avLst/>
          </a:prstGeom>
          <a:noFill/>
        </p:spPr>
        <p:txBody>
          <a:bodyPr wrap="square" lIns="0" tIns="0" rIns="0" bIns="0" anchor="t">
            <a:spAutoFit/>
          </a:bodyPr>
          <a:lstStyle/>
          <a:p>
            <a:pPr algn="l"/>
            <a:r>
              <a:rPr sz="800" b="1" i="0">
                <a:solidFill>
                  <a:srgbClr val="93A79A"/>
                </a:solidFill>
                <a:latin typeface="Consolas"/>
              </a:rPr>
              <a:t>ACTUAL @ +20%</a:t>
            </a:r>
          </a:p>
        </p:txBody>
      </p:sp>
      <p:sp>
        <p:nvSpPr>
          <p:cNvPr id="14" name="TextBox 13"/>
          <p:cNvSpPr txBox="1"/>
          <p:nvPr/>
        </p:nvSpPr>
        <p:spPr>
          <a:xfrm>
            <a:off x="5349240" y="1975104"/>
            <a:ext cx="1463040" cy="310896"/>
          </a:xfrm>
          <a:prstGeom prst="rect">
            <a:avLst/>
          </a:prstGeom>
          <a:noFill/>
        </p:spPr>
        <p:txBody>
          <a:bodyPr wrap="square" lIns="0" tIns="0" rIns="0" bIns="0" anchor="t">
            <a:spAutoFit/>
          </a:bodyPr>
          <a:lstStyle/>
          <a:p>
            <a:pPr algn="l"/>
            <a:r>
              <a:rPr sz="1700" b="1" i="0">
                <a:solidFill>
                  <a:srgbClr val="B78CFF"/>
                </a:solidFill>
                <a:latin typeface="Consolas"/>
              </a:rPr>
              <a:t>−1.18</a:t>
            </a:r>
          </a:p>
        </p:txBody>
      </p:sp>
      <p:sp>
        <p:nvSpPr>
          <p:cNvPr id="15" name="TextBox 14"/>
          <p:cNvSpPr txBox="1"/>
          <p:nvPr/>
        </p:nvSpPr>
        <p:spPr>
          <a:xfrm>
            <a:off x="5349240" y="2300732"/>
            <a:ext cx="1463040" cy="338328"/>
          </a:xfrm>
          <a:prstGeom prst="rect">
            <a:avLst/>
          </a:prstGeom>
          <a:noFill/>
        </p:spPr>
        <p:txBody>
          <a:bodyPr wrap="square" lIns="0" tIns="0" rIns="0" bIns="0" anchor="t">
            <a:spAutoFit/>
          </a:bodyPr>
          <a:lstStyle/>
          <a:p>
            <a:pPr algn="l"/>
            <a:r>
              <a:rPr sz="900" b="0" i="0">
                <a:solidFill>
                  <a:srgbClr val="93A79A"/>
                </a:solidFill>
                <a:latin typeface="Arial"/>
              </a:rPr>
              <a:t>knocked out: the full premium</a:t>
            </a:r>
          </a:p>
        </p:txBody>
      </p:sp>
      <p:sp>
        <p:nvSpPr>
          <p:cNvPr id="16" name="Rectangle 15"/>
          <p:cNvSpPr/>
          <p:nvPr/>
        </p:nvSpPr>
        <p:spPr>
          <a:xfrm>
            <a:off x="7031736" y="1691640"/>
            <a:ext cx="1700784" cy="102412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50608" y="1783080"/>
            <a:ext cx="1463040" cy="164592"/>
          </a:xfrm>
          <a:prstGeom prst="rect">
            <a:avLst/>
          </a:prstGeom>
          <a:noFill/>
        </p:spPr>
        <p:txBody>
          <a:bodyPr wrap="square" lIns="0" tIns="0" rIns="0" bIns="0" anchor="t">
            <a:spAutoFit/>
          </a:bodyPr>
          <a:lstStyle/>
          <a:p>
            <a:pPr algn="l"/>
            <a:r>
              <a:rPr sz="800" b="1" i="0">
                <a:solidFill>
                  <a:srgbClr val="93A79A"/>
                </a:solidFill>
                <a:latin typeface="Consolas"/>
              </a:rPr>
              <a:t>DELTA-GAMMA @ +20%</a:t>
            </a:r>
          </a:p>
        </p:txBody>
      </p:sp>
      <p:sp>
        <p:nvSpPr>
          <p:cNvPr id="18" name="TextBox 17"/>
          <p:cNvSpPr txBox="1"/>
          <p:nvPr/>
        </p:nvSpPr>
        <p:spPr>
          <a:xfrm>
            <a:off x="7150608" y="1975104"/>
            <a:ext cx="1463040" cy="310896"/>
          </a:xfrm>
          <a:prstGeom prst="rect">
            <a:avLst/>
          </a:prstGeom>
          <a:noFill/>
        </p:spPr>
        <p:txBody>
          <a:bodyPr wrap="square" lIns="0" tIns="0" rIns="0" bIns="0" anchor="t">
            <a:spAutoFit/>
          </a:bodyPr>
          <a:lstStyle/>
          <a:p>
            <a:pPr algn="l"/>
            <a:r>
              <a:rPr sz="1700" b="1" i="0">
                <a:solidFill>
                  <a:srgbClr val="FFB020"/>
                </a:solidFill>
                <a:latin typeface="Consolas"/>
              </a:rPr>
              <a:t>−1.58</a:t>
            </a:r>
          </a:p>
        </p:txBody>
      </p:sp>
      <p:sp>
        <p:nvSpPr>
          <p:cNvPr id="19" name="TextBox 18"/>
          <p:cNvSpPr txBox="1"/>
          <p:nvPr/>
        </p:nvSpPr>
        <p:spPr>
          <a:xfrm>
            <a:off x="7150608" y="2300732"/>
            <a:ext cx="1463040" cy="338328"/>
          </a:xfrm>
          <a:prstGeom prst="rect">
            <a:avLst/>
          </a:prstGeom>
          <a:noFill/>
        </p:spPr>
        <p:txBody>
          <a:bodyPr wrap="square" lIns="0" tIns="0" rIns="0" bIns="0" anchor="t">
            <a:spAutoFit/>
          </a:bodyPr>
          <a:lstStyle/>
          <a:p>
            <a:pPr algn="l"/>
            <a:r>
              <a:rPr sz="900" b="0" i="0">
                <a:solidFill>
                  <a:srgbClr val="93A79A"/>
                </a:solidFill>
                <a:latin typeface="Arial"/>
              </a:rPr>
              <a:t>135% of the premium</a:t>
            </a:r>
          </a:p>
        </p:txBody>
      </p:sp>
      <p:sp>
        <p:nvSpPr>
          <p:cNvPr id="20" name="TextBox 19"/>
          <p:cNvSpPr txBox="1"/>
          <p:nvPr/>
        </p:nvSpPr>
        <p:spPr>
          <a:xfrm>
            <a:off x="5230368" y="2871216"/>
            <a:ext cx="3520440" cy="1828800"/>
          </a:xfrm>
          <a:prstGeom prst="rect">
            <a:avLst/>
          </a:prstGeom>
          <a:noFill/>
        </p:spPr>
        <p:txBody>
          <a:bodyPr wrap="square" lIns="0" tIns="0" rIns="0" bIns="0" anchor="t">
            <a:spAutoFit/>
          </a:bodyPr>
          <a:lstStyle/>
          <a:p>
            <a:pPr marL="155448" indent="-155448" algn="l">
              <a:spcAft>
                <a:spcPts val="400"/>
              </a:spcAft>
              <a:buClr>
                <a:srgbClr val="3DDC84"/>
              </a:buClr>
              <a:buFont typeface="Arial"/>
              <a:buChar char="▪"/>
            </a:pPr>
            <a:r>
              <a:rPr sz="1000" b="0" i="0">
                <a:solidFill>
                  <a:srgbClr val="E8F2EA"/>
                </a:solidFill>
                <a:latin typeface="Arial"/>
              </a:rPr>
              <a:t>A long option cannot lose more than its premium; the approximation says it can.</a:t>
            </a:r>
          </a:p>
          <a:p>
            <a:pPr marL="155448" indent="-155448" algn="l">
              <a:spcAft>
                <a:spcPts val="400"/>
              </a:spcAft>
              <a:buClr>
                <a:srgbClr val="3DDC84"/>
              </a:buClr>
              <a:buFont typeface="Arial"/>
              <a:buChar char="▪"/>
            </a:pPr>
            <a:r>
              <a:rPr sz="1000" b="0" i="0">
                <a:solidFill>
                  <a:srgbClr val="E8F2EA"/>
                </a:solidFill>
                <a:latin typeface="Arial"/>
              </a:rPr>
              <a:t>On the vanilla call the same estimate is off by 0.77 at +20% and 0.39 at −20%.</a:t>
            </a:r>
          </a:p>
          <a:p>
            <a:pPr marL="155448" indent="-155448" algn="l">
              <a:spcAft>
                <a:spcPts val="400"/>
              </a:spcAft>
              <a:buClr>
                <a:srgbClr val="3DDC84"/>
              </a:buClr>
              <a:buFont typeface="Arial"/>
              <a:buChar char="▪"/>
            </a:pPr>
            <a:r>
              <a:rPr sz="1000" b="0" i="0">
                <a:solidFill>
                  <a:srgbClr val="E8F2EA"/>
                </a:solidFill>
                <a:latin typeface="Arial"/>
              </a:rPr>
              <a:t>The error grows with move size, near expiry and near a barrier, which is where risk matters most.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18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13 / VALIDATION</a:t>
            </a:r>
          </a:p>
        </p:txBody>
      </p:sp>
      <p:sp>
        <p:nvSpPr>
          <p:cNvPr id="7" name="Title"/>
          <p:cNvSpPr txBox="1"/>
          <p:nvPr/>
        </p:nvSpPr>
        <p:spPr>
          <a:xfrm>
            <a:off x="566928" y="530352"/>
            <a:ext cx="329184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Eight checks.</a:t>
            </a:r>
          </a:p>
          <a:p>
            <a:pPr algn="l">
              <a:lnSpc>
                <a:spcPct val="92000"/>
              </a:lnSpc>
            </a:pPr>
            <a:r>
              <a:rPr sz="2500" b="1" i="0">
                <a:solidFill>
                  <a:srgbClr val="E8F2EA"/>
                </a:solidFill>
                <a:latin typeface="Arial"/>
              </a:rPr>
              <a:t>8 / 8 passing.</a:t>
            </a:r>
          </a:p>
        </p:txBody>
      </p:sp>
      <p:sp>
        <p:nvSpPr>
          <p:cNvPr id="8" name="TextBox 7"/>
          <p:cNvSpPr txBox="1"/>
          <p:nvPr/>
        </p:nvSpPr>
        <p:spPr>
          <a:xfrm>
            <a:off x="566928" y="1783080"/>
            <a:ext cx="3017520" cy="1371600"/>
          </a:xfrm>
          <a:prstGeom prst="rect">
            <a:avLst/>
          </a:prstGeom>
          <a:noFill/>
        </p:spPr>
        <p:txBody>
          <a:bodyPr wrap="square" lIns="0" tIns="0" rIns="0" bIns="0" anchor="t">
            <a:spAutoFit/>
          </a:bodyPr>
          <a:lstStyle/>
          <a:p>
            <a:pPr algn="l">
              <a:spcAft>
                <a:spcPts val="600"/>
              </a:spcAft>
            </a:pPr>
            <a:r>
              <a:rPr sz="2000" b="1" i="0">
                <a:solidFill>
                  <a:srgbClr val="3DDC84"/>
                </a:solidFill>
                <a:latin typeface="Consolas"/>
              </a:rPr>
              <a:t>35</a:t>
            </a:r>
            <a:r>
              <a:rPr sz="1050" b="0" i="0">
                <a:solidFill>
                  <a:srgbClr val="93A79A"/>
                </a:solidFill>
                <a:latin typeface="Arial"/>
              </a:rPr>
              <a:t>  harness checks, all passing</a:t>
            </a:r>
          </a:p>
          <a:p>
            <a:pPr algn="l">
              <a:spcAft>
                <a:spcPts val="600"/>
              </a:spcAft>
            </a:pPr>
            <a:r>
              <a:rPr sz="2000" b="1" i="0">
                <a:solidFill>
                  <a:srgbClr val="E8F2EA"/>
                </a:solidFill>
                <a:latin typeface="Consolas"/>
              </a:rPr>
              <a:t>11</a:t>
            </a:r>
            <a:r>
              <a:rPr sz="1050" b="0" i="0">
                <a:solidFill>
                  <a:srgbClr val="93A79A"/>
                </a:solidFill>
                <a:latin typeface="Arial"/>
              </a:rPr>
              <a:t>  model families</a:t>
            </a:r>
          </a:p>
          <a:p>
            <a:pPr algn="l">
              <a:spcAft>
                <a:spcPts val="600"/>
              </a:spcAft>
            </a:pPr>
            <a:r>
              <a:rPr sz="2000" b="1" i="0">
                <a:solidFill>
                  <a:srgbClr val="E8F2EA"/>
                </a:solidFill>
                <a:latin typeface="Consolas"/>
              </a:rPr>
              <a:t>365</a:t>
            </a:r>
            <a:r>
              <a:rPr sz="1050" b="0" i="0">
                <a:solidFill>
                  <a:srgbClr val="93A79A"/>
                </a:solidFill>
                <a:latin typeface="Arial"/>
              </a:rPr>
              <a:t>  unit tests passing</a:t>
            </a:r>
          </a:p>
        </p:txBody>
      </p:sp>
      <p:sp>
        <p:nvSpPr>
          <p:cNvPr id="9" name="TextBox 8"/>
          <p:cNvSpPr txBox="1"/>
          <p:nvPr/>
        </p:nvSpPr>
        <p:spPr>
          <a:xfrm>
            <a:off x="566928" y="3310128"/>
            <a:ext cx="3017520" cy="914400"/>
          </a:xfrm>
          <a:prstGeom prst="rect">
            <a:avLst/>
          </a:prstGeom>
          <a:noFill/>
        </p:spPr>
        <p:txBody>
          <a:bodyPr wrap="square" lIns="0" tIns="0" rIns="0" bIns="0" anchor="t">
            <a:spAutoFit/>
          </a:bodyPr>
          <a:lstStyle/>
          <a:p>
            <a:pPr algn="l">
              <a:lnSpc>
                <a:spcPct val="105000"/>
              </a:lnSpc>
            </a:pPr>
            <a:r>
              <a:rPr sz="1000" b="0" i="0">
                <a:solidFill>
                  <a:srgbClr val="93A79A"/>
                </a:solidFill>
                <a:latin typeface="Arial"/>
              </a:rPr>
              <a:t>18 invariants · 9 closed-form · 8 cross-model. The harness reruns live in the app on the contract in the sidebar.</a:t>
            </a:r>
          </a:p>
        </p:txBody>
      </p:sp>
      <p:sp>
        <p:nvSpPr>
          <p:cNvPr id="10" name="Rectangle 9"/>
          <p:cNvSpPr/>
          <p:nvPr/>
        </p:nvSpPr>
        <p:spPr>
          <a:xfrm>
            <a:off x="3794760" y="457200"/>
            <a:ext cx="2395728" cy="93268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922776" y="612648"/>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87368" y="557784"/>
            <a:ext cx="1600200" cy="201168"/>
          </a:xfrm>
          <a:prstGeom prst="rect">
            <a:avLst/>
          </a:prstGeom>
          <a:noFill/>
        </p:spPr>
        <p:txBody>
          <a:bodyPr wrap="square" lIns="0" tIns="0" rIns="0" bIns="0" anchor="ctr">
            <a:spAutoFit/>
          </a:bodyPr>
          <a:lstStyle/>
          <a:p>
            <a:pPr algn="l"/>
            <a:r>
              <a:rPr sz="850" b="1" i="0">
                <a:solidFill>
                  <a:srgbClr val="E8F2EA"/>
                </a:solidFill>
                <a:latin typeface="Consolas"/>
              </a:rPr>
              <a:t>PUT–CALL PARITY</a:t>
            </a:r>
          </a:p>
        </p:txBody>
      </p:sp>
      <p:sp>
        <p:nvSpPr>
          <p:cNvPr id="13" name="TextBox 12"/>
          <p:cNvSpPr txBox="1"/>
          <p:nvPr/>
        </p:nvSpPr>
        <p:spPr>
          <a:xfrm>
            <a:off x="5623560" y="557784"/>
            <a:ext cx="457200" cy="201168"/>
          </a:xfrm>
          <a:prstGeom prst="rect">
            <a:avLst/>
          </a:prstGeom>
          <a:noFill/>
        </p:spPr>
        <p:txBody>
          <a:bodyPr wrap="square" lIns="0" tIns="0" rIns="0" bIns="0" anchor="ctr">
            <a:spAutoFit/>
          </a:bodyPr>
          <a:lstStyle/>
          <a:p>
            <a:pPr algn="r"/>
            <a:r>
              <a:rPr sz="850" b="1" i="0">
                <a:solidFill>
                  <a:srgbClr val="3DDC84"/>
                </a:solidFill>
                <a:latin typeface="Consolas"/>
              </a:rPr>
              <a:t>PASS</a:t>
            </a:r>
          </a:p>
        </p:txBody>
      </p:sp>
      <p:sp>
        <p:nvSpPr>
          <p:cNvPr id="14" name="TextBox 13"/>
          <p:cNvSpPr txBox="1"/>
          <p:nvPr/>
        </p:nvSpPr>
        <p:spPr>
          <a:xfrm>
            <a:off x="3922776" y="896112"/>
            <a:ext cx="2157984" cy="365760"/>
          </a:xfrm>
          <a:prstGeom prst="rect">
            <a:avLst/>
          </a:prstGeom>
          <a:noFill/>
        </p:spPr>
        <p:txBody>
          <a:bodyPr wrap="square" lIns="0" tIns="0" rIns="0" bIns="0" anchor="t">
            <a:spAutoFit/>
          </a:bodyPr>
          <a:lstStyle/>
          <a:p>
            <a:pPr algn="l"/>
            <a:r>
              <a:rPr sz="1000" b="0" i="0">
                <a:solidFill>
                  <a:srgbClr val="93A79A"/>
                </a:solidFill>
                <a:latin typeface="Consolas"/>
              </a:rPr>
              <a:t>4.8771 = 4.8771</a:t>
            </a:r>
          </a:p>
        </p:txBody>
      </p:sp>
      <p:sp>
        <p:nvSpPr>
          <p:cNvPr id="15" name="Rectangle 14"/>
          <p:cNvSpPr/>
          <p:nvPr/>
        </p:nvSpPr>
        <p:spPr>
          <a:xfrm>
            <a:off x="6309360" y="457200"/>
            <a:ext cx="2395728" cy="93268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37376" y="612648"/>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01968" y="557784"/>
            <a:ext cx="1600200" cy="201168"/>
          </a:xfrm>
          <a:prstGeom prst="rect">
            <a:avLst/>
          </a:prstGeom>
          <a:noFill/>
        </p:spPr>
        <p:txBody>
          <a:bodyPr wrap="square" lIns="0" tIns="0" rIns="0" bIns="0" anchor="ctr">
            <a:spAutoFit/>
          </a:bodyPr>
          <a:lstStyle/>
          <a:p>
            <a:pPr algn="l"/>
            <a:r>
              <a:rPr sz="850" b="1" i="0">
                <a:solidFill>
                  <a:srgbClr val="E8F2EA"/>
                </a:solidFill>
                <a:latin typeface="Consolas"/>
              </a:rPr>
              <a:t>NO-ARBITRAGE BOUNDS</a:t>
            </a:r>
          </a:p>
        </p:txBody>
      </p:sp>
      <p:sp>
        <p:nvSpPr>
          <p:cNvPr id="18" name="TextBox 17"/>
          <p:cNvSpPr txBox="1"/>
          <p:nvPr/>
        </p:nvSpPr>
        <p:spPr>
          <a:xfrm>
            <a:off x="8138160" y="557784"/>
            <a:ext cx="457200" cy="201168"/>
          </a:xfrm>
          <a:prstGeom prst="rect">
            <a:avLst/>
          </a:prstGeom>
          <a:noFill/>
        </p:spPr>
        <p:txBody>
          <a:bodyPr wrap="square" lIns="0" tIns="0" rIns="0" bIns="0" anchor="ctr">
            <a:spAutoFit/>
          </a:bodyPr>
          <a:lstStyle/>
          <a:p>
            <a:pPr algn="r"/>
            <a:r>
              <a:rPr sz="850" b="1" i="0">
                <a:solidFill>
                  <a:srgbClr val="3DDC84"/>
                </a:solidFill>
                <a:latin typeface="Consolas"/>
              </a:rPr>
              <a:t>PASS</a:t>
            </a:r>
          </a:p>
        </p:txBody>
      </p:sp>
      <p:sp>
        <p:nvSpPr>
          <p:cNvPr id="19" name="TextBox 18"/>
          <p:cNvSpPr txBox="1"/>
          <p:nvPr/>
        </p:nvSpPr>
        <p:spPr>
          <a:xfrm>
            <a:off x="6437376" y="896112"/>
            <a:ext cx="2157984" cy="365760"/>
          </a:xfrm>
          <a:prstGeom prst="rect">
            <a:avLst/>
          </a:prstGeom>
          <a:noFill/>
        </p:spPr>
        <p:txBody>
          <a:bodyPr wrap="square" lIns="0" tIns="0" rIns="0" bIns="0" anchor="t">
            <a:spAutoFit/>
          </a:bodyPr>
          <a:lstStyle/>
          <a:p>
            <a:pPr algn="l"/>
            <a:r>
              <a:rPr sz="1000" b="0" i="0">
                <a:solidFill>
                  <a:srgbClr val="93A79A"/>
                </a:solidFill>
                <a:latin typeface="Consolas"/>
              </a:rPr>
              <a:t>4.877 ≤ 10.4506 ≤ 100</a:t>
            </a:r>
          </a:p>
        </p:txBody>
      </p:sp>
      <p:sp>
        <p:nvSpPr>
          <p:cNvPr id="20" name="Rectangle 19"/>
          <p:cNvSpPr/>
          <p:nvPr/>
        </p:nvSpPr>
        <p:spPr>
          <a:xfrm>
            <a:off x="3794760" y="1517904"/>
            <a:ext cx="2395728" cy="93268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922776" y="1673351"/>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87368" y="1618488"/>
            <a:ext cx="1600200" cy="201168"/>
          </a:xfrm>
          <a:prstGeom prst="rect">
            <a:avLst/>
          </a:prstGeom>
          <a:noFill/>
        </p:spPr>
        <p:txBody>
          <a:bodyPr wrap="square" lIns="0" tIns="0" rIns="0" bIns="0" anchor="ctr">
            <a:spAutoFit/>
          </a:bodyPr>
          <a:lstStyle/>
          <a:p>
            <a:pPr algn="l"/>
            <a:r>
              <a:rPr sz="850" b="1" i="0">
                <a:solidFill>
                  <a:srgbClr val="E8F2EA"/>
                </a:solidFill>
                <a:latin typeface="Consolas"/>
              </a:rPr>
              <a:t>AMERICAN ≥ EUROPEAN</a:t>
            </a:r>
          </a:p>
        </p:txBody>
      </p:sp>
      <p:sp>
        <p:nvSpPr>
          <p:cNvPr id="23" name="TextBox 22"/>
          <p:cNvSpPr txBox="1"/>
          <p:nvPr/>
        </p:nvSpPr>
        <p:spPr>
          <a:xfrm>
            <a:off x="5623560" y="1618488"/>
            <a:ext cx="457200" cy="201168"/>
          </a:xfrm>
          <a:prstGeom prst="rect">
            <a:avLst/>
          </a:prstGeom>
          <a:noFill/>
        </p:spPr>
        <p:txBody>
          <a:bodyPr wrap="square" lIns="0" tIns="0" rIns="0" bIns="0" anchor="ctr">
            <a:spAutoFit/>
          </a:bodyPr>
          <a:lstStyle/>
          <a:p>
            <a:pPr algn="r"/>
            <a:r>
              <a:rPr sz="850" b="1" i="0">
                <a:solidFill>
                  <a:srgbClr val="3DDC84"/>
                </a:solidFill>
                <a:latin typeface="Consolas"/>
              </a:rPr>
              <a:t>PASS</a:t>
            </a:r>
          </a:p>
        </p:txBody>
      </p:sp>
      <p:sp>
        <p:nvSpPr>
          <p:cNvPr id="24" name="TextBox 23"/>
          <p:cNvSpPr txBox="1"/>
          <p:nvPr/>
        </p:nvSpPr>
        <p:spPr>
          <a:xfrm>
            <a:off x="3922776" y="1956815"/>
            <a:ext cx="2157984" cy="365760"/>
          </a:xfrm>
          <a:prstGeom prst="rect">
            <a:avLst/>
          </a:prstGeom>
          <a:noFill/>
        </p:spPr>
        <p:txBody>
          <a:bodyPr wrap="square" lIns="0" tIns="0" rIns="0" bIns="0" anchor="t">
            <a:spAutoFit/>
          </a:bodyPr>
          <a:lstStyle/>
          <a:p>
            <a:pPr algn="l"/>
            <a:r>
              <a:rPr sz="1000" b="0" i="0">
                <a:solidFill>
                  <a:srgbClr val="93A79A"/>
                </a:solidFill>
                <a:latin typeface="Consolas"/>
              </a:rPr>
              <a:t>6.0903 ≥ 5.5735</a:t>
            </a:r>
          </a:p>
        </p:txBody>
      </p:sp>
      <p:sp>
        <p:nvSpPr>
          <p:cNvPr id="25" name="Rectangle 24"/>
          <p:cNvSpPr/>
          <p:nvPr/>
        </p:nvSpPr>
        <p:spPr>
          <a:xfrm>
            <a:off x="6309360" y="1517904"/>
            <a:ext cx="2395728" cy="93268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37376" y="1673351"/>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01968" y="1618488"/>
            <a:ext cx="1600200" cy="201168"/>
          </a:xfrm>
          <a:prstGeom prst="rect">
            <a:avLst/>
          </a:prstGeom>
          <a:noFill/>
        </p:spPr>
        <p:txBody>
          <a:bodyPr wrap="square" lIns="0" tIns="0" rIns="0" bIns="0" anchor="ctr">
            <a:spAutoFit/>
          </a:bodyPr>
          <a:lstStyle/>
          <a:p>
            <a:pPr algn="l"/>
            <a:r>
              <a:rPr sz="850" b="1" i="0">
                <a:solidFill>
                  <a:srgbClr val="E8F2EA"/>
                </a:solidFill>
                <a:latin typeface="Consolas"/>
              </a:rPr>
              <a:t>CRR CONVERGENCE</a:t>
            </a:r>
          </a:p>
        </p:txBody>
      </p:sp>
      <p:sp>
        <p:nvSpPr>
          <p:cNvPr id="28" name="TextBox 27"/>
          <p:cNvSpPr txBox="1"/>
          <p:nvPr/>
        </p:nvSpPr>
        <p:spPr>
          <a:xfrm>
            <a:off x="8138160" y="1618488"/>
            <a:ext cx="457200" cy="201168"/>
          </a:xfrm>
          <a:prstGeom prst="rect">
            <a:avLst/>
          </a:prstGeom>
          <a:noFill/>
        </p:spPr>
        <p:txBody>
          <a:bodyPr wrap="square" lIns="0" tIns="0" rIns="0" bIns="0" anchor="ctr">
            <a:spAutoFit/>
          </a:bodyPr>
          <a:lstStyle/>
          <a:p>
            <a:pPr algn="r"/>
            <a:r>
              <a:rPr sz="850" b="1" i="0">
                <a:solidFill>
                  <a:srgbClr val="3DDC84"/>
                </a:solidFill>
                <a:latin typeface="Consolas"/>
              </a:rPr>
              <a:t>PASS</a:t>
            </a:r>
          </a:p>
        </p:txBody>
      </p:sp>
      <p:sp>
        <p:nvSpPr>
          <p:cNvPr id="29" name="TextBox 28"/>
          <p:cNvSpPr txBox="1"/>
          <p:nvPr/>
        </p:nvSpPr>
        <p:spPr>
          <a:xfrm>
            <a:off x="6437376" y="1956815"/>
            <a:ext cx="2157984" cy="365760"/>
          </a:xfrm>
          <a:prstGeom prst="rect">
            <a:avLst/>
          </a:prstGeom>
          <a:noFill/>
        </p:spPr>
        <p:txBody>
          <a:bodyPr wrap="square" lIns="0" tIns="0" rIns="0" bIns="0" anchor="t">
            <a:spAutoFit/>
          </a:bodyPr>
          <a:lstStyle/>
          <a:p>
            <a:pPr algn="l"/>
            <a:r>
              <a:rPr sz="1000" b="0" i="0">
                <a:solidFill>
                  <a:srgbClr val="93A79A"/>
                </a:solidFill>
                <a:latin typeface="Consolas"/>
              </a:rPr>
              <a:t>err 0.0018 @ N=1001</a:t>
            </a:r>
          </a:p>
        </p:txBody>
      </p:sp>
      <p:sp>
        <p:nvSpPr>
          <p:cNvPr id="30" name="Rectangle 29"/>
          <p:cNvSpPr/>
          <p:nvPr/>
        </p:nvSpPr>
        <p:spPr>
          <a:xfrm>
            <a:off x="3794760" y="2578608"/>
            <a:ext cx="2395728" cy="93268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922776" y="2734056"/>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087368" y="2679191"/>
            <a:ext cx="1600200" cy="201168"/>
          </a:xfrm>
          <a:prstGeom prst="rect">
            <a:avLst/>
          </a:prstGeom>
          <a:noFill/>
        </p:spPr>
        <p:txBody>
          <a:bodyPr wrap="square" lIns="0" tIns="0" rIns="0" bIns="0" anchor="ctr">
            <a:spAutoFit/>
          </a:bodyPr>
          <a:lstStyle/>
          <a:p>
            <a:pPr algn="l"/>
            <a:r>
              <a:rPr sz="850" b="1" i="0">
                <a:solidFill>
                  <a:srgbClr val="E8F2EA"/>
                </a:solidFill>
                <a:latin typeface="Consolas"/>
              </a:rPr>
              <a:t>LR CONVERGENCE</a:t>
            </a:r>
          </a:p>
        </p:txBody>
      </p:sp>
      <p:sp>
        <p:nvSpPr>
          <p:cNvPr id="33" name="TextBox 32"/>
          <p:cNvSpPr txBox="1"/>
          <p:nvPr/>
        </p:nvSpPr>
        <p:spPr>
          <a:xfrm>
            <a:off x="5623560" y="2679191"/>
            <a:ext cx="457200" cy="201168"/>
          </a:xfrm>
          <a:prstGeom prst="rect">
            <a:avLst/>
          </a:prstGeom>
          <a:noFill/>
        </p:spPr>
        <p:txBody>
          <a:bodyPr wrap="square" lIns="0" tIns="0" rIns="0" bIns="0" anchor="ctr">
            <a:spAutoFit/>
          </a:bodyPr>
          <a:lstStyle/>
          <a:p>
            <a:pPr algn="r"/>
            <a:r>
              <a:rPr sz="850" b="1" i="0">
                <a:solidFill>
                  <a:srgbClr val="3DDC84"/>
                </a:solidFill>
                <a:latin typeface="Consolas"/>
              </a:rPr>
              <a:t>PASS</a:t>
            </a:r>
          </a:p>
        </p:txBody>
      </p:sp>
      <p:sp>
        <p:nvSpPr>
          <p:cNvPr id="34" name="TextBox 33"/>
          <p:cNvSpPr txBox="1"/>
          <p:nvPr/>
        </p:nvSpPr>
        <p:spPr>
          <a:xfrm>
            <a:off x="3922776" y="3017520"/>
            <a:ext cx="2157984" cy="365760"/>
          </a:xfrm>
          <a:prstGeom prst="rect">
            <a:avLst/>
          </a:prstGeom>
          <a:noFill/>
        </p:spPr>
        <p:txBody>
          <a:bodyPr wrap="square" lIns="0" tIns="0" rIns="0" bIns="0" anchor="t">
            <a:spAutoFit/>
          </a:bodyPr>
          <a:lstStyle/>
          <a:p>
            <a:pPr algn="l"/>
            <a:r>
              <a:rPr sz="1000" b="0" i="0">
                <a:solidFill>
                  <a:srgbClr val="93A79A"/>
                </a:solidFill>
                <a:latin typeface="Consolas"/>
              </a:rPr>
              <a:t>err 0.0001 @ N=51</a:t>
            </a:r>
          </a:p>
        </p:txBody>
      </p:sp>
      <p:sp>
        <p:nvSpPr>
          <p:cNvPr id="35" name="Rectangle 34"/>
          <p:cNvSpPr/>
          <p:nvPr/>
        </p:nvSpPr>
        <p:spPr>
          <a:xfrm>
            <a:off x="6309360" y="2578608"/>
            <a:ext cx="2395728" cy="93268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437376" y="2734056"/>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01968" y="2679191"/>
            <a:ext cx="1600200" cy="201168"/>
          </a:xfrm>
          <a:prstGeom prst="rect">
            <a:avLst/>
          </a:prstGeom>
          <a:noFill/>
        </p:spPr>
        <p:txBody>
          <a:bodyPr wrap="square" lIns="0" tIns="0" rIns="0" bIns="0" anchor="ctr">
            <a:spAutoFit/>
          </a:bodyPr>
          <a:lstStyle/>
          <a:p>
            <a:pPr algn="l"/>
            <a:r>
              <a:rPr sz="850" b="1" i="0">
                <a:solidFill>
                  <a:srgbClr val="E8F2EA"/>
                </a:solidFill>
                <a:latin typeface="Consolas"/>
              </a:rPr>
              <a:t>MONTE CARLO</a:t>
            </a:r>
          </a:p>
        </p:txBody>
      </p:sp>
      <p:sp>
        <p:nvSpPr>
          <p:cNvPr id="38" name="TextBox 37"/>
          <p:cNvSpPr txBox="1"/>
          <p:nvPr/>
        </p:nvSpPr>
        <p:spPr>
          <a:xfrm>
            <a:off x="8138160" y="2679191"/>
            <a:ext cx="457200" cy="201168"/>
          </a:xfrm>
          <a:prstGeom prst="rect">
            <a:avLst/>
          </a:prstGeom>
          <a:noFill/>
        </p:spPr>
        <p:txBody>
          <a:bodyPr wrap="square" lIns="0" tIns="0" rIns="0" bIns="0" anchor="ctr">
            <a:spAutoFit/>
          </a:bodyPr>
          <a:lstStyle/>
          <a:p>
            <a:pPr algn="r"/>
            <a:r>
              <a:rPr sz="850" b="1" i="0">
                <a:solidFill>
                  <a:srgbClr val="3DDC84"/>
                </a:solidFill>
                <a:latin typeface="Consolas"/>
              </a:rPr>
              <a:t>PASS</a:t>
            </a:r>
          </a:p>
        </p:txBody>
      </p:sp>
      <p:sp>
        <p:nvSpPr>
          <p:cNvPr id="39" name="TextBox 38"/>
          <p:cNvSpPr txBox="1"/>
          <p:nvPr/>
        </p:nvSpPr>
        <p:spPr>
          <a:xfrm>
            <a:off x="6437376" y="3017520"/>
            <a:ext cx="2157984" cy="365760"/>
          </a:xfrm>
          <a:prstGeom prst="rect">
            <a:avLst/>
          </a:prstGeom>
          <a:noFill/>
        </p:spPr>
        <p:txBody>
          <a:bodyPr wrap="square" lIns="0" tIns="0" rIns="0" bIns="0" anchor="t">
            <a:spAutoFit/>
          </a:bodyPr>
          <a:lstStyle/>
          <a:p>
            <a:pPr algn="l"/>
            <a:r>
              <a:rPr sz="1000" b="0" i="0">
                <a:solidFill>
                  <a:srgbClr val="93A79A"/>
                </a:solidFill>
                <a:latin typeface="Consolas"/>
              </a:rPr>
              <a:t>|MC − BSM| = 0.5 SE</a:t>
            </a:r>
          </a:p>
        </p:txBody>
      </p:sp>
      <p:sp>
        <p:nvSpPr>
          <p:cNvPr id="40" name="Rectangle 39"/>
          <p:cNvSpPr/>
          <p:nvPr/>
        </p:nvSpPr>
        <p:spPr>
          <a:xfrm>
            <a:off x="3794760" y="3639311"/>
            <a:ext cx="2395728" cy="93268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3922776" y="3794759"/>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087368" y="3739896"/>
            <a:ext cx="1600200" cy="201168"/>
          </a:xfrm>
          <a:prstGeom prst="rect">
            <a:avLst/>
          </a:prstGeom>
          <a:noFill/>
        </p:spPr>
        <p:txBody>
          <a:bodyPr wrap="square" lIns="0" tIns="0" rIns="0" bIns="0" anchor="ctr">
            <a:spAutoFit/>
          </a:bodyPr>
          <a:lstStyle/>
          <a:p>
            <a:pPr algn="l"/>
            <a:r>
              <a:rPr sz="850" b="1" i="0">
                <a:solidFill>
                  <a:srgbClr val="E8F2EA"/>
                </a:solidFill>
                <a:latin typeface="Consolas"/>
              </a:rPr>
              <a:t>STABLE GREEKS</a:t>
            </a:r>
          </a:p>
        </p:txBody>
      </p:sp>
      <p:sp>
        <p:nvSpPr>
          <p:cNvPr id="43" name="TextBox 42"/>
          <p:cNvSpPr txBox="1"/>
          <p:nvPr/>
        </p:nvSpPr>
        <p:spPr>
          <a:xfrm>
            <a:off x="5623560" y="3739896"/>
            <a:ext cx="457200" cy="201168"/>
          </a:xfrm>
          <a:prstGeom prst="rect">
            <a:avLst/>
          </a:prstGeom>
          <a:noFill/>
        </p:spPr>
        <p:txBody>
          <a:bodyPr wrap="square" lIns="0" tIns="0" rIns="0" bIns="0" anchor="ctr">
            <a:spAutoFit/>
          </a:bodyPr>
          <a:lstStyle/>
          <a:p>
            <a:pPr algn="r"/>
            <a:r>
              <a:rPr sz="850" b="1" i="0">
                <a:solidFill>
                  <a:srgbClr val="3DDC84"/>
                </a:solidFill>
                <a:latin typeface="Consolas"/>
              </a:rPr>
              <a:t>PASS</a:t>
            </a:r>
          </a:p>
        </p:txBody>
      </p:sp>
      <p:sp>
        <p:nvSpPr>
          <p:cNvPr id="44" name="TextBox 43"/>
          <p:cNvSpPr txBox="1"/>
          <p:nvPr/>
        </p:nvSpPr>
        <p:spPr>
          <a:xfrm>
            <a:off x="3922776" y="4078223"/>
            <a:ext cx="2157984" cy="365760"/>
          </a:xfrm>
          <a:prstGeom prst="rect">
            <a:avLst/>
          </a:prstGeom>
          <a:noFill/>
        </p:spPr>
        <p:txBody>
          <a:bodyPr wrap="square" lIns="0" tIns="0" rIns="0" bIns="0" anchor="t">
            <a:spAutoFit/>
          </a:bodyPr>
          <a:lstStyle/>
          <a:p>
            <a:pPr algn="l"/>
            <a:r>
              <a:rPr sz="1000" b="0" i="0">
                <a:solidFill>
                  <a:srgbClr val="93A79A"/>
                </a:solidFill>
                <a:latin typeface="Consolas"/>
              </a:rPr>
              <a:t>analytic vs bump &lt; 0.01%</a:t>
            </a:r>
          </a:p>
        </p:txBody>
      </p:sp>
      <p:sp>
        <p:nvSpPr>
          <p:cNvPr id="45" name="Rectangle 44"/>
          <p:cNvSpPr/>
          <p:nvPr/>
        </p:nvSpPr>
        <p:spPr>
          <a:xfrm>
            <a:off x="6309360" y="3639311"/>
            <a:ext cx="2395728" cy="93268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437376" y="3794759"/>
            <a:ext cx="82296" cy="82296"/>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01968" y="3739896"/>
            <a:ext cx="1600200" cy="201168"/>
          </a:xfrm>
          <a:prstGeom prst="rect">
            <a:avLst/>
          </a:prstGeom>
          <a:noFill/>
        </p:spPr>
        <p:txBody>
          <a:bodyPr wrap="square" lIns="0" tIns="0" rIns="0" bIns="0" anchor="ctr">
            <a:spAutoFit/>
          </a:bodyPr>
          <a:lstStyle/>
          <a:p>
            <a:pPr algn="l"/>
            <a:r>
              <a:rPr sz="850" b="1" i="0">
                <a:solidFill>
                  <a:srgbClr val="E8F2EA"/>
                </a:solidFill>
                <a:latin typeface="Consolas"/>
              </a:rPr>
              <a:t>BARRIER BEHAVIOUR</a:t>
            </a:r>
          </a:p>
        </p:txBody>
      </p:sp>
      <p:sp>
        <p:nvSpPr>
          <p:cNvPr id="48" name="TextBox 47"/>
          <p:cNvSpPr txBox="1"/>
          <p:nvPr/>
        </p:nvSpPr>
        <p:spPr>
          <a:xfrm>
            <a:off x="8138160" y="3739896"/>
            <a:ext cx="457200" cy="201168"/>
          </a:xfrm>
          <a:prstGeom prst="rect">
            <a:avLst/>
          </a:prstGeom>
          <a:noFill/>
        </p:spPr>
        <p:txBody>
          <a:bodyPr wrap="square" lIns="0" tIns="0" rIns="0" bIns="0" anchor="ctr">
            <a:spAutoFit/>
          </a:bodyPr>
          <a:lstStyle/>
          <a:p>
            <a:pPr algn="r"/>
            <a:r>
              <a:rPr sz="850" b="1" i="0">
                <a:solidFill>
                  <a:srgbClr val="3DDC84"/>
                </a:solidFill>
                <a:latin typeface="Consolas"/>
              </a:rPr>
              <a:t>PASS</a:t>
            </a:r>
          </a:p>
        </p:txBody>
      </p:sp>
      <p:sp>
        <p:nvSpPr>
          <p:cNvPr id="49" name="TextBox 48"/>
          <p:cNvSpPr txBox="1"/>
          <p:nvPr/>
        </p:nvSpPr>
        <p:spPr>
          <a:xfrm>
            <a:off x="6437376" y="4078223"/>
            <a:ext cx="2157984" cy="365760"/>
          </a:xfrm>
          <a:prstGeom prst="rect">
            <a:avLst/>
          </a:prstGeom>
          <a:noFill/>
        </p:spPr>
        <p:txBody>
          <a:bodyPr wrap="square" lIns="0" tIns="0" rIns="0" bIns="0" anchor="t">
            <a:spAutoFit/>
          </a:bodyPr>
          <a:lstStyle/>
          <a:p>
            <a:pPr algn="l"/>
            <a:r>
              <a:rPr sz="1000" b="0" i="0">
                <a:solidFill>
                  <a:srgbClr val="93A79A"/>
                </a:solidFill>
                <a:latin typeface="Consolas"/>
              </a:rPr>
              <a:t>1.1756 + 9.2750 = vanilla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19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13+ / INDEPENDENT_AUDIT</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500" b="1" i="0">
                <a:solidFill>
                  <a:srgbClr val="E8F2EA"/>
                </a:solidFill>
                <a:latin typeface="Arial"/>
              </a:rPr>
              <a:t>We audited our own engine.</a:t>
            </a:r>
          </a:p>
          <a:p>
            <a:pPr algn="l">
              <a:lnSpc>
                <a:spcPct val="92000"/>
              </a:lnSpc>
            </a:pPr>
            <a:r>
              <a:rPr sz="2500" b="1" i="0">
                <a:solidFill>
                  <a:srgbClr val="E8F2EA"/>
                </a:solidFill>
                <a:latin typeface="Arial"/>
              </a:rPr>
              <a:t>Prices hold; some Greeks do not.</a:t>
            </a:r>
          </a:p>
        </p:txBody>
      </p:sp>
      <p:sp>
        <p:nvSpPr>
          <p:cNvPr id="8" name="TextBox 7"/>
          <p:cNvSpPr txBox="1"/>
          <p:nvPr/>
        </p:nvSpPr>
        <p:spPr>
          <a:xfrm>
            <a:off x="566928" y="1645920"/>
            <a:ext cx="1188720" cy="384048"/>
          </a:xfrm>
          <a:prstGeom prst="rect">
            <a:avLst/>
          </a:prstGeom>
          <a:noFill/>
        </p:spPr>
        <p:txBody>
          <a:bodyPr wrap="square" lIns="0" tIns="0" rIns="0" bIns="0" anchor="t">
            <a:spAutoFit/>
          </a:bodyPr>
          <a:lstStyle/>
          <a:p>
            <a:pPr algn="l"/>
            <a:r>
              <a:rPr sz="2400" b="1" i="0">
                <a:solidFill>
                  <a:srgbClr val="3DDC84"/>
                </a:solidFill>
                <a:latin typeface="Consolas"/>
              </a:rPr>
              <a:t>1,472</a:t>
            </a:r>
          </a:p>
        </p:txBody>
      </p:sp>
      <p:sp>
        <p:nvSpPr>
          <p:cNvPr id="9" name="TextBox 8"/>
          <p:cNvSpPr txBox="1"/>
          <p:nvPr/>
        </p:nvSpPr>
        <p:spPr>
          <a:xfrm>
            <a:off x="1938528" y="1664208"/>
            <a:ext cx="1097280" cy="384048"/>
          </a:xfrm>
          <a:prstGeom prst="rect">
            <a:avLst/>
          </a:prstGeom>
          <a:noFill/>
        </p:spPr>
        <p:txBody>
          <a:bodyPr wrap="square" lIns="0" tIns="0" rIns="0" bIns="0" anchor="ctr">
            <a:spAutoFit/>
          </a:bodyPr>
          <a:lstStyle/>
          <a:p>
            <a:pPr algn="l"/>
            <a:r>
              <a:rPr sz="900" b="0" i="0">
                <a:solidFill>
                  <a:srgbClr val="93A79A"/>
                </a:solidFill>
                <a:latin typeface="Arial"/>
              </a:rPr>
              <a:t>closed-form, tree and PDE comparisons</a:t>
            </a:r>
          </a:p>
        </p:txBody>
      </p:sp>
      <p:sp>
        <p:nvSpPr>
          <p:cNvPr id="10" name="TextBox 9"/>
          <p:cNvSpPr txBox="1"/>
          <p:nvPr/>
        </p:nvSpPr>
        <p:spPr>
          <a:xfrm>
            <a:off x="3310128" y="1645920"/>
            <a:ext cx="1188720" cy="384048"/>
          </a:xfrm>
          <a:prstGeom prst="rect">
            <a:avLst/>
          </a:prstGeom>
          <a:noFill/>
        </p:spPr>
        <p:txBody>
          <a:bodyPr wrap="square" lIns="0" tIns="0" rIns="0" bIns="0" anchor="t">
            <a:spAutoFit/>
          </a:bodyPr>
          <a:lstStyle/>
          <a:p>
            <a:pPr algn="l"/>
            <a:r>
              <a:rPr sz="2400" b="1" i="0">
                <a:solidFill>
                  <a:srgbClr val="3DDC84"/>
                </a:solidFill>
                <a:latin typeface="Consolas"/>
              </a:rPr>
              <a:t>160</a:t>
            </a:r>
          </a:p>
        </p:txBody>
      </p:sp>
      <p:sp>
        <p:nvSpPr>
          <p:cNvPr id="11" name="TextBox 10"/>
          <p:cNvSpPr txBox="1"/>
          <p:nvPr/>
        </p:nvSpPr>
        <p:spPr>
          <a:xfrm>
            <a:off x="4242816" y="1664208"/>
            <a:ext cx="1536192" cy="384048"/>
          </a:xfrm>
          <a:prstGeom prst="rect">
            <a:avLst/>
          </a:prstGeom>
          <a:noFill/>
        </p:spPr>
        <p:txBody>
          <a:bodyPr wrap="square" lIns="0" tIns="0" rIns="0" bIns="0" anchor="ctr">
            <a:spAutoFit/>
          </a:bodyPr>
          <a:lstStyle/>
          <a:p>
            <a:pPr algn="l"/>
            <a:r>
              <a:rPr sz="900" b="0" i="0">
                <a:solidFill>
                  <a:srgbClr val="93A79A"/>
                </a:solidFill>
                <a:latin typeface="Arial"/>
              </a:rPr>
              <a:t>simulation comparisons + 40-seed study</a:t>
            </a:r>
          </a:p>
        </p:txBody>
      </p:sp>
      <p:sp>
        <p:nvSpPr>
          <p:cNvPr id="12" name="TextBox 11"/>
          <p:cNvSpPr txBox="1"/>
          <p:nvPr/>
        </p:nvSpPr>
        <p:spPr>
          <a:xfrm>
            <a:off x="6053328" y="1645920"/>
            <a:ext cx="1188720" cy="384048"/>
          </a:xfrm>
          <a:prstGeom prst="rect">
            <a:avLst/>
          </a:prstGeom>
          <a:noFill/>
        </p:spPr>
        <p:txBody>
          <a:bodyPr wrap="square" lIns="0" tIns="0" rIns="0" bIns="0" anchor="t">
            <a:spAutoFit/>
          </a:bodyPr>
          <a:lstStyle/>
          <a:p>
            <a:pPr algn="l"/>
            <a:r>
              <a:rPr sz="2400" b="1" i="0">
                <a:solidFill>
                  <a:srgbClr val="3DDC84"/>
                </a:solidFill>
                <a:latin typeface="Consolas"/>
              </a:rPr>
              <a:t>8</a:t>
            </a:r>
          </a:p>
        </p:txBody>
      </p:sp>
      <p:sp>
        <p:nvSpPr>
          <p:cNvPr id="13" name="TextBox 12"/>
          <p:cNvSpPr txBox="1"/>
          <p:nvPr/>
        </p:nvSpPr>
        <p:spPr>
          <a:xfrm>
            <a:off x="6547104" y="1664208"/>
            <a:ext cx="1975104" cy="384048"/>
          </a:xfrm>
          <a:prstGeom prst="rect">
            <a:avLst/>
          </a:prstGeom>
          <a:noFill/>
        </p:spPr>
        <p:txBody>
          <a:bodyPr wrap="square" lIns="0" tIns="0" rIns="0" bIns="0" anchor="ctr">
            <a:spAutoFit/>
          </a:bodyPr>
          <a:lstStyle/>
          <a:p>
            <a:pPr algn="l"/>
            <a:r>
              <a:rPr sz="900" b="0" i="0">
                <a:solidFill>
                  <a:srgbClr val="93A79A"/>
                </a:solidFill>
                <a:latin typeface="Arial"/>
              </a:rPr>
              <a:t>real tickers, incl. AAPL, TSLA, S&amp;P 500</a:t>
            </a:r>
          </a:p>
        </p:txBody>
      </p:sp>
      <p:sp>
        <p:nvSpPr>
          <p:cNvPr id="14" name="Rectangle 13"/>
          <p:cNvSpPr/>
          <p:nvPr/>
        </p:nvSpPr>
        <p:spPr>
          <a:xfrm>
            <a:off x="566928" y="2240280"/>
            <a:ext cx="3977639" cy="196596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4088" y="2322576"/>
            <a:ext cx="3657600" cy="182880"/>
          </a:xfrm>
          <a:prstGeom prst="rect">
            <a:avLst/>
          </a:prstGeom>
          <a:noFill/>
        </p:spPr>
        <p:txBody>
          <a:bodyPr wrap="square" lIns="0" tIns="0" rIns="0" bIns="0" anchor="t">
            <a:spAutoFit/>
          </a:bodyPr>
          <a:lstStyle/>
          <a:p>
            <a:pPr algn="l"/>
            <a:r>
              <a:rPr sz="850" b="1" i="0">
                <a:solidFill>
                  <a:srgbClr val="3DDC84"/>
                </a:solidFill>
                <a:latin typeface="Consolas"/>
              </a:rPr>
              <a:t>HOLDS</a:t>
            </a:r>
          </a:p>
        </p:txBody>
      </p:sp>
      <p:sp>
        <p:nvSpPr>
          <p:cNvPr id="16" name="TextBox 15"/>
          <p:cNvSpPr txBox="1"/>
          <p:nvPr/>
        </p:nvSpPr>
        <p:spPr>
          <a:xfrm>
            <a:off x="704088" y="2578608"/>
            <a:ext cx="3703320" cy="2011680"/>
          </a:xfrm>
          <a:prstGeom prst="rect">
            <a:avLst/>
          </a:prstGeom>
          <a:noFill/>
        </p:spPr>
        <p:txBody>
          <a:bodyPr wrap="square" lIns="0" tIns="0" rIns="0" bIns="0" anchor="t">
            <a:spAutoFit/>
          </a:bodyPr>
          <a:lstStyle/>
          <a:p>
            <a:pPr marL="155448" indent="-155448" algn="l">
              <a:spcAft>
                <a:spcPts val="500"/>
              </a:spcAft>
              <a:buClr>
                <a:srgbClr val="3DDC84"/>
              </a:buClr>
              <a:buFont typeface="Arial"/>
              <a:buChar char="▪"/>
            </a:pPr>
            <a:r>
              <a:rPr sz="1000" b="0" i="0">
                <a:solidFill>
                  <a:srgbClr val="E8F2EA"/>
                </a:solidFill>
                <a:latin typeface="Arial"/>
              </a:rPr>
              <a:t>BSM and Black-76: price and Greeks exact on all 144 cases each.</a:t>
            </a:r>
          </a:p>
          <a:p>
            <a:pPr marL="155448" indent="-155448" algn="l">
              <a:spcAft>
                <a:spcPts val="500"/>
              </a:spcAft>
              <a:buClr>
                <a:srgbClr val="3DDC84"/>
              </a:buClr>
              <a:buFont typeface="Arial"/>
              <a:buChar char="▪"/>
            </a:pPr>
            <a:r>
              <a:rPr sz="1000" b="0" i="0">
                <a:solidFill>
                  <a:srgbClr val="E8F2EA"/>
                </a:solidFill>
                <a:latin typeface="Arial"/>
              </a:rPr>
              <a:t>Leisen-Reimer prices within 0.1%; CRR within 0.24%.</a:t>
            </a:r>
          </a:p>
          <a:p>
            <a:pPr marL="155448" indent="-155448" algn="l">
              <a:spcAft>
                <a:spcPts val="500"/>
              </a:spcAft>
              <a:buClr>
                <a:srgbClr val="3DDC84"/>
              </a:buClr>
              <a:buFont typeface="Arial"/>
              <a:buChar char="▪"/>
            </a:pPr>
            <a:r>
              <a:rPr sz="1000" b="0" i="0">
                <a:solidFill>
                  <a:srgbClr val="E8F2EA"/>
                </a:solidFill>
                <a:latin typeface="Arial"/>
              </a:rPr>
              <a:t>All 576 barrier PDE prices within 0.2% of the vanilla.</a:t>
            </a:r>
          </a:p>
          <a:p>
            <a:pPr marL="155448" indent="-155448" algn="l">
              <a:spcAft>
                <a:spcPts val="500"/>
              </a:spcAft>
              <a:buClr>
                <a:srgbClr val="3DDC84"/>
              </a:buClr>
              <a:buFont typeface="Arial"/>
              <a:buChar char="▪"/>
            </a:pPr>
            <a:r>
              <a:rPr sz="1000" b="0" i="0">
                <a:solidFill>
                  <a:srgbClr val="E8F2EA"/>
                </a:solidFill>
                <a:latin typeface="Arial"/>
              </a:rPr>
              <a:t>Monte Carlo: no bias over 40 seeds; error bars the right size.</a:t>
            </a:r>
          </a:p>
        </p:txBody>
      </p:sp>
      <p:sp>
        <p:nvSpPr>
          <p:cNvPr id="17" name="Rectangle 16"/>
          <p:cNvSpPr/>
          <p:nvPr/>
        </p:nvSpPr>
        <p:spPr>
          <a:xfrm>
            <a:off x="4754880" y="2240280"/>
            <a:ext cx="3977639" cy="1965960"/>
          </a:xfrm>
          <a:prstGeom prst="rect">
            <a:avLst/>
          </a:prstGeom>
          <a:solidFill>
            <a:srgbClr val="111813"/>
          </a:solidFill>
          <a:ln w="952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92040" y="2322576"/>
            <a:ext cx="3657600" cy="182880"/>
          </a:xfrm>
          <a:prstGeom prst="rect">
            <a:avLst/>
          </a:prstGeom>
          <a:noFill/>
        </p:spPr>
        <p:txBody>
          <a:bodyPr wrap="square" lIns="0" tIns="0" rIns="0" bIns="0" anchor="t">
            <a:spAutoFit/>
          </a:bodyPr>
          <a:lstStyle/>
          <a:p>
            <a:pPr algn="l"/>
            <a:r>
              <a:rPr sz="850" b="1" i="0">
                <a:solidFill>
                  <a:srgbClr val="FFB020"/>
                </a:solidFill>
                <a:latin typeface="Consolas"/>
              </a:rPr>
              <a:t>OPEN ISSUES FOUND</a:t>
            </a:r>
          </a:p>
        </p:txBody>
      </p:sp>
      <p:sp>
        <p:nvSpPr>
          <p:cNvPr id="19" name="TextBox 18"/>
          <p:cNvSpPr txBox="1"/>
          <p:nvPr/>
        </p:nvSpPr>
        <p:spPr>
          <a:xfrm>
            <a:off x="4892040" y="2578608"/>
            <a:ext cx="3703320" cy="1554480"/>
          </a:xfrm>
          <a:prstGeom prst="rect">
            <a:avLst/>
          </a:prstGeom>
          <a:noFill/>
        </p:spPr>
        <p:txBody>
          <a:bodyPr wrap="square" lIns="0" tIns="0" rIns="0" bIns="0" anchor="t">
            <a:spAutoFit/>
          </a:bodyPr>
          <a:lstStyle/>
          <a:p>
            <a:pPr marL="155448" indent="-155448" algn="l">
              <a:spcAft>
                <a:spcPts val="500"/>
              </a:spcAft>
              <a:buClr>
                <a:srgbClr val="3DDC84"/>
              </a:buClr>
              <a:buFont typeface="Arial"/>
              <a:buChar char="▪"/>
            </a:pPr>
            <a:r>
              <a:rPr sz="1000" b="0" i="0">
                <a:solidFill>
                  <a:srgbClr val="E8F2EA"/>
                </a:solidFill>
                <a:latin typeface="Arial"/>
              </a:rPr>
              <a:t>Barrier gamma close to the barrier: +0.154 where the true value is −0.0035.</a:t>
            </a:r>
          </a:p>
          <a:p>
            <a:pPr marL="155448" indent="-155448" algn="l">
              <a:spcAft>
                <a:spcPts val="500"/>
              </a:spcAft>
              <a:buClr>
                <a:srgbClr val="3DDC84"/>
              </a:buClr>
              <a:buFont typeface="Arial"/>
              <a:buChar char="▪"/>
            </a:pPr>
            <a:r>
              <a:rPr sz="1000" b="0" i="0">
                <a:solidFill>
                  <a:srgbClr val="E8F2EA"/>
                </a:solidFill>
                <a:latin typeface="Arial"/>
              </a:rPr>
              <a:t>Lookback 0.3–0.4% high at 62 steps; gone at 252.</a:t>
            </a:r>
          </a:p>
          <a:p>
            <a:pPr marL="155448" indent="-155448" algn="l">
              <a:spcAft>
                <a:spcPts val="500"/>
              </a:spcAft>
              <a:buClr>
                <a:srgbClr val="3DDC84"/>
              </a:buClr>
              <a:buFont typeface="Arial"/>
              <a:buChar char="▪"/>
            </a:pPr>
            <a:r>
              <a:rPr sz="1000" b="0" i="0">
                <a:solidFill>
                  <a:srgbClr val="E8F2EA"/>
                </a:solidFill>
                <a:latin typeface="Arial"/>
              </a:rPr>
              <a:t>Very small knock-in prices inherit the knock-out grid error.</a:t>
            </a:r>
          </a:p>
          <a:p>
            <a:pPr marL="155448" indent="-155448" algn="l">
              <a:spcAft>
                <a:spcPts val="500"/>
              </a:spcAft>
              <a:buClr>
                <a:srgbClr val="3DDC84"/>
              </a:buClr>
              <a:buFont typeface="Arial"/>
              <a:buChar char="▪"/>
            </a:pPr>
            <a:r>
              <a:rPr sz="1000" b="0" i="0">
                <a:solidFill>
                  <a:srgbClr val="E8F2EA"/>
                </a:solidFill>
                <a:latin typeface="Arial"/>
              </a:rPr>
              <a:t>A fixed seed leaves the plain Asian estimate 2.5 standard errors low; the control variate is right.</a:t>
            </a:r>
          </a:p>
        </p:txBody>
      </p:sp>
      <p:sp>
        <p:nvSpPr>
          <p:cNvPr id="20" name="TextBox 19"/>
          <p:cNvSpPr txBox="1"/>
          <p:nvPr/>
        </p:nvSpPr>
        <p:spPr>
          <a:xfrm>
            <a:off x="566928" y="4370832"/>
            <a:ext cx="8138160" cy="274320"/>
          </a:xfrm>
          <a:prstGeom prst="rect">
            <a:avLst/>
          </a:prstGeom>
          <a:noFill/>
        </p:spPr>
        <p:txBody>
          <a:bodyPr wrap="square" lIns="0" tIns="0" rIns="0" bIns="0" anchor="t">
            <a:spAutoFit/>
          </a:bodyPr>
          <a:lstStyle/>
          <a:p>
            <a:pPr algn="l"/>
            <a:r>
              <a:rPr sz="1000" b="0" i="0">
                <a:solidFill>
                  <a:srgbClr val="93A79A"/>
                </a:solidFill>
                <a:latin typeface="Arial"/>
              </a:rPr>
              <a:t>Knowing where a model fails is part of validating it: each open issue has a reproducible case and a planned fix.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20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PHASE 12 / DASHBOARD</a:t>
            </a:r>
          </a:p>
        </p:txBody>
      </p:sp>
      <p:sp>
        <p:nvSpPr>
          <p:cNvPr id="7" name="Title"/>
          <p:cNvSpPr txBox="1"/>
          <p:nvPr/>
        </p:nvSpPr>
        <p:spPr>
          <a:xfrm>
            <a:off x="566928" y="530352"/>
            <a:ext cx="3108960" cy="914400"/>
          </a:xfrm>
          <a:prstGeom prst="rect">
            <a:avLst/>
          </a:prstGeom>
          <a:noFill/>
        </p:spPr>
        <p:txBody>
          <a:bodyPr wrap="square" lIns="0" tIns="0" rIns="0" bIns="0" anchor="t">
            <a:spAutoFit/>
          </a:bodyPr>
          <a:lstStyle/>
          <a:p>
            <a:pPr algn="l">
              <a:lnSpc>
                <a:spcPct val="92000"/>
              </a:lnSpc>
            </a:pPr>
            <a:r>
              <a:rPr sz="2600" b="1" i="0">
                <a:solidFill>
                  <a:srgbClr val="E8F2EA"/>
                </a:solidFill>
                <a:latin typeface="Arial"/>
              </a:rPr>
              <a:t>Live demo.</a:t>
            </a:r>
          </a:p>
        </p:txBody>
      </p:sp>
      <p:sp>
        <p:nvSpPr>
          <p:cNvPr id="8" name="TextBox 7"/>
          <p:cNvSpPr txBox="1"/>
          <p:nvPr/>
        </p:nvSpPr>
        <p:spPr>
          <a:xfrm>
            <a:off x="566928" y="1371600"/>
            <a:ext cx="365760" cy="274320"/>
          </a:xfrm>
          <a:prstGeom prst="rect">
            <a:avLst/>
          </a:prstGeom>
          <a:noFill/>
        </p:spPr>
        <p:txBody>
          <a:bodyPr wrap="square" lIns="0" tIns="0" rIns="0" bIns="0" anchor="ctr">
            <a:spAutoFit/>
          </a:bodyPr>
          <a:lstStyle/>
          <a:p>
            <a:pPr algn="l"/>
            <a:r>
              <a:rPr sz="1100" b="1" i="0">
                <a:solidFill>
                  <a:srgbClr val="3DDC84"/>
                </a:solidFill>
                <a:latin typeface="Consolas"/>
              </a:rPr>
              <a:t>01</a:t>
            </a:r>
          </a:p>
        </p:txBody>
      </p:sp>
      <p:sp>
        <p:nvSpPr>
          <p:cNvPr id="9" name="TextBox 8"/>
          <p:cNvSpPr txBox="1"/>
          <p:nvPr/>
        </p:nvSpPr>
        <p:spPr>
          <a:xfrm>
            <a:off x="960120" y="1371600"/>
            <a:ext cx="2514600" cy="274320"/>
          </a:xfrm>
          <a:prstGeom prst="rect">
            <a:avLst/>
          </a:prstGeom>
          <a:noFill/>
        </p:spPr>
        <p:txBody>
          <a:bodyPr wrap="square" lIns="0" tIns="0" rIns="0" bIns="0" anchor="ctr">
            <a:spAutoFit/>
          </a:bodyPr>
          <a:lstStyle/>
          <a:p>
            <a:pPr algn="l"/>
            <a:r>
              <a:rPr sz="1050" b="0" i="0">
                <a:solidFill>
                  <a:srgbClr val="E8F2EA"/>
                </a:solidFill>
                <a:latin typeface="Arial"/>
              </a:rPr>
              <a:t>Pick option type, product and model</a:t>
            </a:r>
          </a:p>
        </p:txBody>
      </p:sp>
      <p:sp>
        <p:nvSpPr>
          <p:cNvPr id="10" name="Rectangle 9"/>
          <p:cNvSpPr/>
          <p:nvPr/>
        </p:nvSpPr>
        <p:spPr>
          <a:xfrm>
            <a:off x="566928" y="1737360"/>
            <a:ext cx="292608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828800"/>
            <a:ext cx="365760" cy="274320"/>
          </a:xfrm>
          <a:prstGeom prst="rect">
            <a:avLst/>
          </a:prstGeom>
          <a:noFill/>
        </p:spPr>
        <p:txBody>
          <a:bodyPr wrap="square" lIns="0" tIns="0" rIns="0" bIns="0" anchor="ctr">
            <a:spAutoFit/>
          </a:bodyPr>
          <a:lstStyle/>
          <a:p>
            <a:pPr algn="l"/>
            <a:r>
              <a:rPr sz="1100" b="1" i="0">
                <a:solidFill>
                  <a:srgbClr val="3DDC84"/>
                </a:solidFill>
                <a:latin typeface="Consolas"/>
              </a:rPr>
              <a:t>02</a:t>
            </a:r>
          </a:p>
        </p:txBody>
      </p:sp>
      <p:sp>
        <p:nvSpPr>
          <p:cNvPr id="12" name="TextBox 11"/>
          <p:cNvSpPr txBox="1"/>
          <p:nvPr/>
        </p:nvSpPr>
        <p:spPr>
          <a:xfrm>
            <a:off x="960120" y="1828800"/>
            <a:ext cx="2514600" cy="274320"/>
          </a:xfrm>
          <a:prstGeom prst="rect">
            <a:avLst/>
          </a:prstGeom>
          <a:noFill/>
        </p:spPr>
        <p:txBody>
          <a:bodyPr wrap="square" lIns="0" tIns="0" rIns="0" bIns="0" anchor="ctr">
            <a:spAutoFit/>
          </a:bodyPr>
          <a:lstStyle/>
          <a:p>
            <a:pPr algn="l"/>
            <a:r>
              <a:rPr sz="1050" b="0" i="0">
                <a:solidFill>
                  <a:srgbClr val="E8F2EA"/>
                </a:solidFill>
                <a:latin typeface="Arial"/>
              </a:rPr>
              <a:t>Enter market data, press Price</a:t>
            </a:r>
          </a:p>
        </p:txBody>
      </p:sp>
      <p:sp>
        <p:nvSpPr>
          <p:cNvPr id="13" name="Rectangle 12"/>
          <p:cNvSpPr/>
          <p:nvPr/>
        </p:nvSpPr>
        <p:spPr>
          <a:xfrm>
            <a:off x="566928" y="2194560"/>
            <a:ext cx="292608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2286000"/>
            <a:ext cx="365760" cy="274320"/>
          </a:xfrm>
          <a:prstGeom prst="rect">
            <a:avLst/>
          </a:prstGeom>
          <a:noFill/>
        </p:spPr>
        <p:txBody>
          <a:bodyPr wrap="square" lIns="0" tIns="0" rIns="0" bIns="0" anchor="ctr">
            <a:spAutoFit/>
          </a:bodyPr>
          <a:lstStyle/>
          <a:p>
            <a:pPr algn="l"/>
            <a:r>
              <a:rPr sz="1100" b="1" i="0">
                <a:solidFill>
                  <a:srgbClr val="3DDC84"/>
                </a:solidFill>
                <a:latin typeface="Consolas"/>
              </a:rPr>
              <a:t>03</a:t>
            </a:r>
          </a:p>
        </p:txBody>
      </p:sp>
      <p:sp>
        <p:nvSpPr>
          <p:cNvPr id="15" name="TextBox 14"/>
          <p:cNvSpPr txBox="1"/>
          <p:nvPr/>
        </p:nvSpPr>
        <p:spPr>
          <a:xfrm>
            <a:off x="960120" y="2286000"/>
            <a:ext cx="2514600" cy="274320"/>
          </a:xfrm>
          <a:prstGeom prst="rect">
            <a:avLst/>
          </a:prstGeom>
          <a:noFill/>
        </p:spPr>
        <p:txBody>
          <a:bodyPr wrap="square" lIns="0" tIns="0" rIns="0" bIns="0" anchor="ctr">
            <a:spAutoFit/>
          </a:bodyPr>
          <a:lstStyle/>
          <a:p>
            <a:pPr algn="l"/>
            <a:r>
              <a:rPr sz="1050" b="0" i="0">
                <a:solidFill>
                  <a:srgbClr val="E8F2EA"/>
                </a:solidFill>
                <a:latin typeface="Arial"/>
              </a:rPr>
              <a:t>Price, Greeks and every engine side by side</a:t>
            </a:r>
          </a:p>
        </p:txBody>
      </p:sp>
      <p:sp>
        <p:nvSpPr>
          <p:cNvPr id="16" name="Rectangle 15"/>
          <p:cNvSpPr/>
          <p:nvPr/>
        </p:nvSpPr>
        <p:spPr>
          <a:xfrm>
            <a:off x="566928" y="2651760"/>
            <a:ext cx="292608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743200"/>
            <a:ext cx="365760" cy="274320"/>
          </a:xfrm>
          <a:prstGeom prst="rect">
            <a:avLst/>
          </a:prstGeom>
          <a:noFill/>
        </p:spPr>
        <p:txBody>
          <a:bodyPr wrap="square" lIns="0" tIns="0" rIns="0" bIns="0" anchor="ctr">
            <a:spAutoFit/>
          </a:bodyPr>
          <a:lstStyle/>
          <a:p>
            <a:pPr algn="l"/>
            <a:r>
              <a:rPr sz="1100" b="1" i="0">
                <a:solidFill>
                  <a:srgbClr val="3DDC84"/>
                </a:solidFill>
                <a:latin typeface="Consolas"/>
              </a:rPr>
              <a:t>04</a:t>
            </a:r>
          </a:p>
        </p:txBody>
      </p:sp>
      <p:sp>
        <p:nvSpPr>
          <p:cNvPr id="18" name="TextBox 17"/>
          <p:cNvSpPr txBox="1"/>
          <p:nvPr/>
        </p:nvSpPr>
        <p:spPr>
          <a:xfrm>
            <a:off x="960120" y="2743200"/>
            <a:ext cx="2514600" cy="274320"/>
          </a:xfrm>
          <a:prstGeom prst="rect">
            <a:avLst/>
          </a:prstGeom>
          <a:noFill/>
        </p:spPr>
        <p:txBody>
          <a:bodyPr wrap="square" lIns="0" tIns="0" rIns="0" bIns="0" anchor="ctr">
            <a:spAutoFit/>
          </a:bodyPr>
          <a:lstStyle/>
          <a:p>
            <a:pPr algn="l"/>
            <a:r>
              <a:rPr sz="1050" b="0" i="0">
                <a:solidFill>
                  <a:srgbClr val="E8F2EA"/>
                </a:solidFill>
                <a:latin typeface="Arial"/>
              </a:rPr>
              <a:t>Scenarios: spot × vol grid, shock ranking</a:t>
            </a:r>
          </a:p>
        </p:txBody>
      </p:sp>
      <p:sp>
        <p:nvSpPr>
          <p:cNvPr id="19" name="Rectangle 18"/>
          <p:cNvSpPr/>
          <p:nvPr/>
        </p:nvSpPr>
        <p:spPr>
          <a:xfrm>
            <a:off x="566928" y="3108960"/>
            <a:ext cx="292608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3200400"/>
            <a:ext cx="365760" cy="274320"/>
          </a:xfrm>
          <a:prstGeom prst="rect">
            <a:avLst/>
          </a:prstGeom>
          <a:noFill/>
        </p:spPr>
        <p:txBody>
          <a:bodyPr wrap="square" lIns="0" tIns="0" rIns="0" bIns="0" anchor="ctr">
            <a:spAutoFit/>
          </a:bodyPr>
          <a:lstStyle/>
          <a:p>
            <a:pPr algn="l"/>
            <a:r>
              <a:rPr sz="1100" b="1" i="0">
                <a:solidFill>
                  <a:srgbClr val="3DDC84"/>
                </a:solidFill>
                <a:latin typeface="Consolas"/>
              </a:rPr>
              <a:t>05</a:t>
            </a:r>
          </a:p>
        </p:txBody>
      </p:sp>
      <p:sp>
        <p:nvSpPr>
          <p:cNvPr id="21" name="TextBox 20"/>
          <p:cNvSpPr txBox="1"/>
          <p:nvPr/>
        </p:nvSpPr>
        <p:spPr>
          <a:xfrm>
            <a:off x="960120" y="3200400"/>
            <a:ext cx="2514600" cy="274320"/>
          </a:xfrm>
          <a:prstGeom prst="rect">
            <a:avLst/>
          </a:prstGeom>
          <a:noFill/>
        </p:spPr>
        <p:txBody>
          <a:bodyPr wrap="square" lIns="0" tIns="0" rIns="0" bIns="0" anchor="ctr">
            <a:spAutoFit/>
          </a:bodyPr>
          <a:lstStyle/>
          <a:p>
            <a:pPr algn="l"/>
            <a:r>
              <a:rPr sz="1050" b="0" i="0">
                <a:solidFill>
                  <a:srgbClr val="E8F2EA"/>
                </a:solidFill>
                <a:latin typeface="Arial"/>
              </a:rPr>
              <a:t>Trees and Monte Carlo: convergence, American</a:t>
            </a:r>
          </a:p>
        </p:txBody>
      </p:sp>
      <p:sp>
        <p:nvSpPr>
          <p:cNvPr id="22" name="Rectangle 21"/>
          <p:cNvSpPr/>
          <p:nvPr/>
        </p:nvSpPr>
        <p:spPr>
          <a:xfrm>
            <a:off x="566928" y="3566160"/>
            <a:ext cx="292608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3657600"/>
            <a:ext cx="365760" cy="274320"/>
          </a:xfrm>
          <a:prstGeom prst="rect">
            <a:avLst/>
          </a:prstGeom>
          <a:noFill/>
        </p:spPr>
        <p:txBody>
          <a:bodyPr wrap="square" lIns="0" tIns="0" rIns="0" bIns="0" anchor="ctr">
            <a:spAutoFit/>
          </a:bodyPr>
          <a:lstStyle/>
          <a:p>
            <a:pPr algn="l"/>
            <a:r>
              <a:rPr sz="1100" b="1" i="0">
                <a:solidFill>
                  <a:srgbClr val="3DDC84"/>
                </a:solidFill>
                <a:latin typeface="Consolas"/>
              </a:rPr>
              <a:t>06</a:t>
            </a:r>
          </a:p>
        </p:txBody>
      </p:sp>
      <p:sp>
        <p:nvSpPr>
          <p:cNvPr id="24" name="TextBox 23"/>
          <p:cNvSpPr txBox="1"/>
          <p:nvPr/>
        </p:nvSpPr>
        <p:spPr>
          <a:xfrm>
            <a:off x="960120" y="3657600"/>
            <a:ext cx="2514600" cy="274320"/>
          </a:xfrm>
          <a:prstGeom prst="rect">
            <a:avLst/>
          </a:prstGeom>
          <a:noFill/>
        </p:spPr>
        <p:txBody>
          <a:bodyPr wrap="square" lIns="0" tIns="0" rIns="0" bIns="0" anchor="ctr">
            <a:spAutoFit/>
          </a:bodyPr>
          <a:lstStyle/>
          <a:p>
            <a:pPr algn="l"/>
            <a:r>
              <a:rPr sz="1050" b="0" i="0">
                <a:solidFill>
                  <a:srgbClr val="E8F2EA"/>
                </a:solidFill>
                <a:latin typeface="Arial"/>
              </a:rPr>
              <a:t>Validation: the 35 checks, live</a:t>
            </a:r>
          </a:p>
        </p:txBody>
      </p:sp>
      <p:sp>
        <p:nvSpPr>
          <p:cNvPr id="25" name="Rectangle 24"/>
          <p:cNvSpPr/>
          <p:nvPr/>
        </p:nvSpPr>
        <p:spPr>
          <a:xfrm>
            <a:off x="566928" y="4023360"/>
            <a:ext cx="292608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4224528"/>
            <a:ext cx="3017520" cy="457200"/>
          </a:xfrm>
          <a:prstGeom prst="rect">
            <a:avLst/>
          </a:prstGeom>
          <a:noFill/>
        </p:spPr>
        <p:txBody>
          <a:bodyPr wrap="square" lIns="0" tIns="0" rIns="0" bIns="0" anchor="t">
            <a:spAutoFit/>
          </a:bodyPr>
          <a:lstStyle/>
          <a:p>
            <a:pPr algn="l">
              <a:spcAft>
                <a:spcPts val="300"/>
              </a:spcAft>
            </a:pPr>
            <a:r>
              <a:rPr sz="1000" b="1" i="0">
                <a:solidFill>
                  <a:srgbClr val="3DDC84"/>
                </a:solidFill>
                <a:latin typeface="Consolas"/>
              </a:rPr>
              <a:t>http://localhost:3000</a:t>
            </a:r>
          </a:p>
          <a:p>
            <a:pPr algn="l">
              <a:spcAft>
                <a:spcPts val="300"/>
              </a:spcAft>
            </a:pPr>
            <a:r>
              <a:rPr sz="900" b="0" i="0">
                <a:solidFill>
                  <a:srgbClr val="93A79A"/>
                </a:solidFill>
                <a:latin typeface="Arial"/>
              </a:rPr>
              <a:t>Next.js + FastAPI · 9 pages · 14 endpoints</a:t>
            </a:r>
          </a:p>
        </p:txBody>
      </p:sp>
      <p:sp>
        <p:nvSpPr>
          <p:cNvPr id="27" name="Rectangle 26"/>
          <p:cNvSpPr/>
          <p:nvPr/>
        </p:nvSpPr>
        <p:spPr>
          <a:xfrm>
            <a:off x="3703320" y="457200"/>
            <a:ext cx="5029200" cy="420624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hot_pricer.png"/>
          <p:cNvPicPr>
            <a:picLocks noChangeAspect="1"/>
          </p:cNvPicPr>
          <p:nvPr/>
        </p:nvPicPr>
        <p:blipFill>
          <a:blip r:embed="rId3"/>
          <a:stretch>
            <a:fillRect/>
          </a:stretch>
        </p:blipFill>
        <p:spPr>
          <a:xfrm>
            <a:off x="3758184" y="512064"/>
            <a:ext cx="4919472" cy="3781844"/>
          </a:xfrm>
          <a:prstGeom prst="rect">
            <a:avLst/>
          </a:prstGeom>
        </p:spPr>
      </p:pic>
      <p:sp>
        <p:nvSpPr>
          <p:cNvPr id="29" name="TextBox 28"/>
          <p:cNvSpPr txBox="1"/>
          <p:nvPr/>
        </p:nvSpPr>
        <p:spPr>
          <a:xfrm>
            <a:off x="3794760" y="4315968"/>
            <a:ext cx="4846320" cy="274320"/>
          </a:xfrm>
          <a:prstGeom prst="rect">
            <a:avLst/>
          </a:prstGeom>
          <a:noFill/>
        </p:spPr>
        <p:txBody>
          <a:bodyPr wrap="square" lIns="0" tIns="0" rIns="0" bIns="0" anchor="t">
            <a:spAutoFit/>
          </a:bodyPr>
          <a:lstStyle/>
          <a:p>
            <a:pPr algn="l"/>
            <a:r>
              <a:rPr sz="900" b="0" i="0">
                <a:solidFill>
                  <a:srgbClr val="93A79A"/>
                </a:solidFill>
                <a:latin typeface="Arial"/>
              </a:rPr>
              <a:t>Pricer page: price and Greeks strip, Greeks by engine, risk metrics, P&amp;L against payoff.</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21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1 / BLACK_SCHOLES_MERTON</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Black-Scholes: one formula, six numbers.</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one fixed volatility; no early exercise.</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A closed-form price for a European option, which can be exercised only at expiry. It assumes a constant volatility and averages the discounted payoff. Use it for plain calls and puts, and as the yardstick for every other engine.</a:t>
            </a:r>
          </a:p>
        </p:txBody>
      </p:sp>
      <p:sp>
        <p:nvSpPr>
          <p:cNvPr id="10" name="Rectangle 9"/>
          <p:cNvSpPr/>
          <p:nvPr/>
        </p:nvSpPr>
        <p:spPr>
          <a:xfrm>
            <a:off x="566928" y="1344168"/>
            <a:ext cx="2971800" cy="123444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Option type</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0" i="0">
                <a:solidFill>
                  <a:srgbClr val="E8F2EA"/>
                </a:solidFill>
                <a:latin typeface="Consolas"/>
              </a:rPr>
              <a:t>Call</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Product</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0" i="0">
                <a:solidFill>
                  <a:srgbClr val="E8F2EA"/>
                </a:solidFill>
                <a:latin typeface="Consolas"/>
              </a:rPr>
              <a:t>Vanilla</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Exercise</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0" i="0">
                <a:solidFill>
                  <a:srgbClr val="E8F2EA"/>
                </a:solidFill>
                <a:latin typeface="Consolas"/>
              </a:rPr>
              <a:t>European</a:t>
            </a:r>
          </a:p>
        </p:txBody>
      </p:sp>
      <p:sp>
        <p:nvSpPr>
          <p:cNvPr id="18" name="TextBox 17"/>
          <p:cNvSpPr txBox="1"/>
          <p:nvPr/>
        </p:nvSpPr>
        <p:spPr>
          <a:xfrm>
            <a:off x="676656" y="213969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9" name="TextBox 18"/>
          <p:cNvSpPr txBox="1"/>
          <p:nvPr/>
        </p:nvSpPr>
        <p:spPr>
          <a:xfrm>
            <a:off x="1783080" y="2139696"/>
            <a:ext cx="1719072" cy="173736"/>
          </a:xfrm>
          <a:prstGeom prst="rect">
            <a:avLst/>
          </a:prstGeom>
          <a:noFill/>
        </p:spPr>
        <p:txBody>
          <a:bodyPr wrap="square" lIns="0" tIns="0" rIns="0" bIns="0" anchor="ctr">
            <a:spAutoFit/>
          </a:bodyPr>
          <a:lstStyle/>
          <a:p>
            <a:pPr algn="l"/>
            <a:r>
              <a:rPr sz="850" b="1" i="0">
                <a:solidFill>
                  <a:srgbClr val="FFB020"/>
                </a:solidFill>
                <a:latin typeface="Consolas"/>
              </a:rPr>
              <a:t>Black-Scholes-Merton</a:t>
            </a:r>
          </a:p>
        </p:txBody>
      </p:sp>
      <p:sp>
        <p:nvSpPr>
          <p:cNvPr id="20" name="Rectangle 19"/>
          <p:cNvSpPr/>
          <p:nvPr/>
        </p:nvSpPr>
        <p:spPr>
          <a:xfrm>
            <a:off x="676656" y="2350008"/>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2377439"/>
            <a:ext cx="2788920" cy="164592"/>
          </a:xfrm>
          <a:prstGeom prst="rect">
            <a:avLst/>
          </a:prstGeom>
          <a:noFill/>
        </p:spPr>
        <p:txBody>
          <a:bodyPr wrap="square" lIns="0" tIns="0" rIns="0" bIns="0" anchor="ctr">
            <a:spAutoFit/>
          </a:bodyPr>
          <a:lstStyle/>
          <a:p>
            <a:pPr algn="l"/>
            <a:r>
              <a:rPr sz="750" b="0" i="0">
                <a:solidFill>
                  <a:srgbClr val="93A79A"/>
                </a:solidFill>
                <a:latin typeface="Consolas"/>
              </a:rPr>
              <a:t>S 100 · K 100 · 365 d · σ 20% · r 5% · q 0%</a:t>
            </a:r>
          </a:p>
        </p:txBody>
      </p:sp>
      <p:sp>
        <p:nvSpPr>
          <p:cNvPr id="22" name="TextBox 21"/>
          <p:cNvSpPr txBox="1"/>
          <p:nvPr/>
        </p:nvSpPr>
        <p:spPr>
          <a:xfrm>
            <a:off x="566928" y="267004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3" name="Rectangle 22"/>
          <p:cNvSpPr/>
          <p:nvPr/>
        </p:nvSpPr>
        <p:spPr>
          <a:xfrm>
            <a:off x="566928" y="285292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288493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a:t>
            </a:r>
          </a:p>
        </p:txBody>
      </p:sp>
      <p:sp>
        <p:nvSpPr>
          <p:cNvPr id="25" name="TextBox 24"/>
          <p:cNvSpPr txBox="1"/>
          <p:nvPr/>
        </p:nvSpPr>
        <p:spPr>
          <a:xfrm>
            <a:off x="566928" y="3017520"/>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Price 10.4506. Delta 0.6368, gamma 0.0188, vega 0.3752, theta −0.0176 per day, rho 0.5323.</a:t>
            </a:r>
          </a:p>
        </p:txBody>
      </p:sp>
      <p:sp>
        <p:nvSpPr>
          <p:cNvPr id="26" name="Rectangle 25"/>
          <p:cNvSpPr/>
          <p:nvPr/>
        </p:nvSpPr>
        <p:spPr>
          <a:xfrm>
            <a:off x="566928" y="3328416"/>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 y="3360420"/>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Payoff &amp; value</a:t>
            </a:r>
          </a:p>
        </p:txBody>
      </p:sp>
      <p:sp>
        <p:nvSpPr>
          <p:cNvPr id="28" name="TextBox 27"/>
          <p:cNvSpPr txBox="1"/>
          <p:nvPr/>
        </p:nvSpPr>
        <p:spPr>
          <a:xfrm>
            <a:off x="566928" y="3493008"/>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Break-even 110.45; the most a buyer can lose is the 10.45 premium.</a:t>
            </a:r>
          </a:p>
        </p:txBody>
      </p:sp>
      <p:sp>
        <p:nvSpPr>
          <p:cNvPr id="29" name="Rectangle 28"/>
          <p:cNvSpPr/>
          <p:nvPr/>
        </p:nvSpPr>
        <p:spPr>
          <a:xfrm>
            <a:off x="566928" y="3803904"/>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3835908"/>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Same contract, every engine</a:t>
            </a:r>
          </a:p>
        </p:txBody>
      </p:sp>
      <p:sp>
        <p:nvSpPr>
          <p:cNvPr id="31" name="TextBox 30"/>
          <p:cNvSpPr txBox="1"/>
          <p:nvPr/>
        </p:nvSpPr>
        <p:spPr>
          <a:xfrm>
            <a:off x="566928" y="3968496"/>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CRR 10.4593, Leisen-Reimer 10.4506, Monte Carlo 10.4549 ± 0.047.</a:t>
            </a:r>
          </a:p>
        </p:txBody>
      </p:sp>
      <p:sp>
        <p:nvSpPr>
          <p:cNvPr id="32" name="Rectangle 31"/>
          <p:cNvSpPr/>
          <p:nvPr/>
        </p:nvSpPr>
        <p:spPr>
          <a:xfrm>
            <a:off x="566928" y="4279392"/>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 y="4311396"/>
            <a:ext cx="2971800" cy="128016"/>
          </a:xfrm>
          <a:prstGeom prst="rect">
            <a:avLst/>
          </a:prstGeom>
          <a:noFill/>
        </p:spPr>
        <p:txBody>
          <a:bodyPr wrap="square" lIns="0" tIns="0" rIns="0" bIns="0" anchor="t">
            <a:spAutoFit/>
          </a:bodyPr>
          <a:lstStyle/>
          <a:p>
            <a:pPr algn="l"/>
            <a:r>
              <a:rPr sz="750" b="1" i="0">
                <a:solidFill>
                  <a:srgbClr val="5BC8F5"/>
                </a:solidFill>
                <a:latin typeface="Consolas"/>
              </a:rPr>
              <a:t>SIDEBAR</a:t>
            </a:r>
            <a:r>
              <a:rPr sz="750" b="0" i="0">
                <a:solidFill>
                  <a:srgbClr val="93A79A"/>
                </a:solidFill>
                <a:latin typeface="Consolas"/>
              </a:rPr>
              <a:t>  ›  Option type → Put</a:t>
            </a:r>
          </a:p>
        </p:txBody>
      </p:sp>
      <p:sp>
        <p:nvSpPr>
          <p:cNvPr id="34" name="TextBox 33"/>
          <p:cNvSpPr txBox="1"/>
          <p:nvPr/>
        </p:nvSpPr>
        <p:spPr>
          <a:xfrm>
            <a:off x="566928" y="4443984"/>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Price becomes 5.5735; put-call parity residual stays 0.</a:t>
            </a:r>
          </a:p>
        </p:txBody>
      </p:sp>
      <p:sp>
        <p:nvSpPr>
          <p:cNvPr id="35" name="TextBox 34"/>
          <p:cNvSpPr txBox="1"/>
          <p:nvPr/>
        </p:nvSpPr>
        <p:spPr>
          <a:xfrm>
            <a:off x="3703320" y="1344168"/>
            <a:ext cx="5029200"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price strip</a:t>
            </a:r>
          </a:p>
        </p:txBody>
      </p:sp>
      <p:pic>
        <p:nvPicPr>
          <p:cNvPr id="36" name="Picture 35" descr="bsm_strip.png"/>
          <p:cNvPicPr>
            <a:picLocks noChangeAspect="1"/>
          </p:cNvPicPr>
          <p:nvPr/>
        </p:nvPicPr>
        <p:blipFill>
          <a:blip r:embed="rId3"/>
          <a:stretch>
            <a:fillRect/>
          </a:stretch>
        </p:blipFill>
        <p:spPr>
          <a:xfrm>
            <a:off x="3703320" y="1517904"/>
            <a:ext cx="5029200" cy="751489"/>
          </a:xfrm>
          <a:prstGeom prst="rect">
            <a:avLst/>
          </a:prstGeom>
        </p:spPr>
      </p:pic>
      <p:sp>
        <p:nvSpPr>
          <p:cNvPr id="37" name="Rectangle 36"/>
          <p:cNvSpPr/>
          <p:nvPr/>
        </p:nvSpPr>
        <p:spPr>
          <a:xfrm>
            <a:off x="3703320" y="1517904"/>
            <a:ext cx="5029200" cy="751489"/>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03320" y="2331720"/>
            <a:ext cx="5029200"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Payoff &amp; value</a:t>
            </a:r>
          </a:p>
        </p:txBody>
      </p:sp>
      <p:pic>
        <p:nvPicPr>
          <p:cNvPr id="39" name="Picture 38" descr="bsm_payoff.png"/>
          <p:cNvPicPr>
            <a:picLocks noChangeAspect="1"/>
          </p:cNvPicPr>
          <p:nvPr/>
        </p:nvPicPr>
        <p:blipFill>
          <a:blip r:embed="rId4"/>
          <a:stretch>
            <a:fillRect/>
          </a:stretch>
        </p:blipFill>
        <p:spPr>
          <a:xfrm>
            <a:off x="3703320" y="2505456"/>
            <a:ext cx="4679208" cy="2276856"/>
          </a:xfrm>
          <a:prstGeom prst="rect">
            <a:avLst/>
          </a:prstGeom>
        </p:spPr>
      </p:pic>
      <p:sp>
        <p:nvSpPr>
          <p:cNvPr id="40" name="Rectangle 39"/>
          <p:cNvSpPr/>
          <p:nvPr/>
        </p:nvSpPr>
        <p:spPr>
          <a:xfrm>
            <a:off x="3703320" y="2505456"/>
            <a:ext cx="4679208" cy="2276856"/>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22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2 / BLACK_76</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Black-76: the same formula, written on a futures price.</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European only; same fixed-volatility assumption.</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A futures price already contains interest and dividends, so the model takes it as given and only discounts the payoff. Use it for options on index, commodity and rate futures. European exercise only.</a:t>
            </a:r>
          </a:p>
        </p:txBody>
      </p:sp>
      <p:sp>
        <p:nvSpPr>
          <p:cNvPr id="10" name="Rectangle 9"/>
          <p:cNvSpPr/>
          <p:nvPr/>
        </p:nvSpPr>
        <p:spPr>
          <a:xfrm>
            <a:off x="566928" y="1344168"/>
            <a:ext cx="2971800" cy="141732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1" i="0">
                <a:solidFill>
                  <a:srgbClr val="FFB020"/>
                </a:solidFill>
                <a:latin typeface="Consolas"/>
              </a:rPr>
              <a:t>Black-76</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Black-76 underlying</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1" i="0">
                <a:solidFill>
                  <a:srgbClr val="FFB020"/>
                </a:solidFill>
                <a:latin typeface="Consolas"/>
              </a:rPr>
              <a:t>Commodity</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Contract</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1" i="0">
                <a:solidFill>
                  <a:srgbClr val="FFB020"/>
                </a:solidFill>
                <a:latin typeface="Consolas"/>
              </a:rPr>
              <a:t>WTI crude · CL</a:t>
            </a:r>
          </a:p>
        </p:txBody>
      </p:sp>
      <p:sp>
        <p:nvSpPr>
          <p:cNvPr id="18" name="TextBox 17"/>
          <p:cNvSpPr txBox="1"/>
          <p:nvPr/>
        </p:nvSpPr>
        <p:spPr>
          <a:xfrm>
            <a:off x="676656" y="2139696"/>
            <a:ext cx="1143000" cy="173736"/>
          </a:xfrm>
          <a:prstGeom prst="rect">
            <a:avLst/>
          </a:prstGeom>
          <a:noFill/>
        </p:spPr>
        <p:txBody>
          <a:bodyPr wrap="square" lIns="0" tIns="0" rIns="0" bIns="0" anchor="ctr">
            <a:spAutoFit/>
          </a:bodyPr>
          <a:lstStyle/>
          <a:p>
            <a:pPr algn="l"/>
            <a:r>
              <a:rPr sz="850" b="0" i="0">
                <a:solidFill>
                  <a:srgbClr val="93A79A"/>
                </a:solidFill>
                <a:latin typeface="Arial"/>
              </a:rPr>
              <a:t>Futures F</a:t>
            </a:r>
          </a:p>
        </p:txBody>
      </p:sp>
      <p:sp>
        <p:nvSpPr>
          <p:cNvPr id="19" name="TextBox 18"/>
          <p:cNvSpPr txBox="1"/>
          <p:nvPr/>
        </p:nvSpPr>
        <p:spPr>
          <a:xfrm>
            <a:off x="1783080" y="2139696"/>
            <a:ext cx="1719072" cy="173736"/>
          </a:xfrm>
          <a:prstGeom prst="rect">
            <a:avLst/>
          </a:prstGeom>
          <a:noFill/>
        </p:spPr>
        <p:txBody>
          <a:bodyPr wrap="square" lIns="0" tIns="0" rIns="0" bIns="0" anchor="ctr">
            <a:spAutoFit/>
          </a:bodyPr>
          <a:lstStyle/>
          <a:p>
            <a:pPr algn="l"/>
            <a:r>
              <a:rPr sz="850" b="1" i="0">
                <a:solidFill>
                  <a:srgbClr val="FFB020"/>
                </a:solidFill>
                <a:latin typeface="Consolas"/>
              </a:rPr>
              <a:t>100.00  (replaces Spot S)</a:t>
            </a:r>
          </a:p>
        </p:txBody>
      </p:sp>
      <p:sp>
        <p:nvSpPr>
          <p:cNvPr id="20" name="TextBox 19"/>
          <p:cNvSpPr txBox="1"/>
          <p:nvPr/>
        </p:nvSpPr>
        <p:spPr>
          <a:xfrm>
            <a:off x="676656" y="2322576"/>
            <a:ext cx="1143000" cy="173736"/>
          </a:xfrm>
          <a:prstGeom prst="rect">
            <a:avLst/>
          </a:prstGeom>
          <a:noFill/>
        </p:spPr>
        <p:txBody>
          <a:bodyPr wrap="square" lIns="0" tIns="0" rIns="0" bIns="0" anchor="ctr">
            <a:spAutoFit/>
          </a:bodyPr>
          <a:lstStyle/>
          <a:p>
            <a:pPr algn="l"/>
            <a:r>
              <a:rPr sz="850" b="0" i="0">
                <a:solidFill>
                  <a:srgbClr val="93A79A"/>
                </a:solidFill>
                <a:latin typeface="Arial"/>
              </a:rPr>
              <a:t>Multiplier</a:t>
            </a:r>
          </a:p>
        </p:txBody>
      </p:sp>
      <p:sp>
        <p:nvSpPr>
          <p:cNvPr id="21" name="TextBox 20"/>
          <p:cNvSpPr txBox="1"/>
          <p:nvPr/>
        </p:nvSpPr>
        <p:spPr>
          <a:xfrm>
            <a:off x="1783080" y="2322576"/>
            <a:ext cx="1719072" cy="173736"/>
          </a:xfrm>
          <a:prstGeom prst="rect">
            <a:avLst/>
          </a:prstGeom>
          <a:noFill/>
        </p:spPr>
        <p:txBody>
          <a:bodyPr wrap="square" lIns="0" tIns="0" rIns="0" bIns="0" anchor="ctr">
            <a:spAutoFit/>
          </a:bodyPr>
          <a:lstStyle/>
          <a:p>
            <a:pPr algn="l"/>
            <a:r>
              <a:rPr sz="850" b="0" i="0">
                <a:solidFill>
                  <a:srgbClr val="E8F2EA"/>
                </a:solidFill>
                <a:latin typeface="Consolas"/>
              </a:rPr>
              <a:t>1,000  (replaces Div q)</a:t>
            </a:r>
          </a:p>
        </p:txBody>
      </p:sp>
      <p:sp>
        <p:nvSpPr>
          <p:cNvPr id="22" name="Rectangle 21"/>
          <p:cNvSpPr/>
          <p:nvPr/>
        </p:nvSpPr>
        <p:spPr>
          <a:xfrm>
            <a:off x="676656" y="2532888"/>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 y="2560320"/>
            <a:ext cx="2788920" cy="164592"/>
          </a:xfrm>
          <a:prstGeom prst="rect">
            <a:avLst/>
          </a:prstGeom>
          <a:noFill/>
        </p:spPr>
        <p:txBody>
          <a:bodyPr wrap="square" lIns="0" tIns="0" rIns="0" bIns="0" anchor="ctr">
            <a:spAutoFit/>
          </a:bodyPr>
          <a:lstStyle/>
          <a:p>
            <a:pPr algn="l"/>
            <a:r>
              <a:rPr sz="750" b="0" i="0">
                <a:solidFill>
                  <a:srgbClr val="93A79A"/>
                </a:solidFill>
                <a:latin typeface="Consolas"/>
              </a:rPr>
              <a:t>K 100 · 365 d · σ 20% · r 5%</a:t>
            </a:r>
          </a:p>
        </p:txBody>
      </p:sp>
      <p:sp>
        <p:nvSpPr>
          <p:cNvPr id="24" name="TextBox 23"/>
          <p:cNvSpPr txBox="1"/>
          <p:nvPr/>
        </p:nvSpPr>
        <p:spPr>
          <a:xfrm>
            <a:off x="566928" y="285292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5" name="Rectangle 24"/>
          <p:cNvSpPr/>
          <p:nvPr/>
        </p:nvSpPr>
        <p:spPr>
          <a:xfrm>
            <a:off x="566928" y="303580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306781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a:t>
            </a:r>
          </a:p>
        </p:txBody>
      </p:sp>
      <p:sp>
        <p:nvSpPr>
          <p:cNvPr id="27" name="TextBox 26"/>
          <p:cNvSpPr txBox="1"/>
          <p:nvPr/>
        </p:nvSpPr>
        <p:spPr>
          <a:xfrm>
            <a:off x="566928" y="320040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7.5771 per barrel, × 1,000 = 7,577 per contract. Delta dV/dF 0.5135.</a:t>
            </a:r>
          </a:p>
        </p:txBody>
      </p:sp>
      <p:sp>
        <p:nvSpPr>
          <p:cNvPr id="28" name="Rectangle 27"/>
          <p:cNvSpPr/>
          <p:nvPr/>
        </p:nvSpPr>
        <p:spPr>
          <a:xfrm>
            <a:off x="566928" y="347014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350215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 Rho</a:t>
            </a:r>
          </a:p>
        </p:txBody>
      </p:sp>
      <p:sp>
        <p:nvSpPr>
          <p:cNvPr id="30" name="TextBox 29"/>
          <p:cNvSpPr txBox="1"/>
          <p:nvPr/>
        </p:nvSpPr>
        <p:spPr>
          <a:xfrm>
            <a:off x="566928" y="363474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−0.0758: negative, because a higher rate only discounts the payoff more.</a:t>
            </a:r>
          </a:p>
        </p:txBody>
      </p:sp>
      <p:sp>
        <p:nvSpPr>
          <p:cNvPr id="31" name="Rectangle 30"/>
          <p:cNvSpPr/>
          <p:nvPr/>
        </p:nvSpPr>
        <p:spPr>
          <a:xfrm>
            <a:off x="566928" y="3904487"/>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3936491"/>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Risk metrics</a:t>
            </a:r>
          </a:p>
        </p:txBody>
      </p:sp>
      <p:sp>
        <p:nvSpPr>
          <p:cNvPr id="33" name="TextBox 32"/>
          <p:cNvSpPr txBox="1"/>
          <p:nvPr/>
        </p:nvSpPr>
        <p:spPr>
          <a:xfrm>
            <a:off x="566928" y="4069079"/>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Futures put-call parity 0; Rho = −T·V passes; BSM with S = F, q = r gives the same 7.5771.</a:t>
            </a:r>
          </a:p>
        </p:txBody>
      </p:sp>
      <p:sp>
        <p:nvSpPr>
          <p:cNvPr id="34" name="Rectangle 33"/>
          <p:cNvSpPr/>
          <p:nvPr/>
        </p:nvSpPr>
        <p:spPr>
          <a:xfrm>
            <a:off x="566928" y="433882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4370832"/>
            <a:ext cx="2971800" cy="128016"/>
          </a:xfrm>
          <a:prstGeom prst="rect">
            <a:avLst/>
          </a:prstGeom>
          <a:noFill/>
        </p:spPr>
        <p:txBody>
          <a:bodyPr wrap="square" lIns="0" tIns="0" rIns="0" bIns="0" anchor="t">
            <a:spAutoFit/>
          </a:bodyPr>
          <a:lstStyle/>
          <a:p>
            <a:pPr algn="l"/>
            <a:r>
              <a:rPr sz="750" b="1" i="0">
                <a:solidFill>
                  <a:srgbClr val="5BC8F5"/>
                </a:solidFill>
                <a:latin typeface="Consolas"/>
              </a:rPr>
              <a:t>SIDEBAR</a:t>
            </a:r>
            <a:r>
              <a:rPr sz="750" b="0" i="0">
                <a:solidFill>
                  <a:srgbClr val="93A79A"/>
                </a:solidFill>
                <a:latin typeface="Consolas"/>
              </a:rPr>
              <a:t>  ›  Underlying → Stock</a:t>
            </a:r>
          </a:p>
        </p:txBody>
      </p:sp>
      <p:sp>
        <p:nvSpPr>
          <p:cNvPr id="36" name="TextBox 35"/>
          <p:cNvSpPr txBox="1"/>
          <p:nvPr/>
        </p:nvSpPr>
        <p:spPr>
          <a:xfrm>
            <a:off x="566928" y="450342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Forward is derived from spot and the price returns to 10.4506, equal to Black-Scholes.</a:t>
            </a:r>
          </a:p>
        </p:txBody>
      </p:sp>
      <p:sp>
        <p:nvSpPr>
          <p:cNvPr id="37" name="TextBox 36"/>
          <p:cNvSpPr txBox="1"/>
          <p:nvPr/>
        </p:nvSpPr>
        <p:spPr>
          <a:xfrm>
            <a:off x="3703320" y="1344168"/>
            <a:ext cx="5029200"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price strip</a:t>
            </a:r>
          </a:p>
        </p:txBody>
      </p:sp>
      <p:pic>
        <p:nvPicPr>
          <p:cNvPr id="38" name="Picture 37" descr="b76_strip.png"/>
          <p:cNvPicPr>
            <a:picLocks noChangeAspect="1"/>
          </p:cNvPicPr>
          <p:nvPr/>
        </p:nvPicPr>
        <p:blipFill>
          <a:blip r:embed="rId3"/>
          <a:stretch>
            <a:fillRect/>
          </a:stretch>
        </p:blipFill>
        <p:spPr>
          <a:xfrm>
            <a:off x="3703320" y="1517904"/>
            <a:ext cx="5029200" cy="834988"/>
          </a:xfrm>
          <a:prstGeom prst="rect">
            <a:avLst/>
          </a:prstGeom>
        </p:spPr>
      </p:pic>
      <p:sp>
        <p:nvSpPr>
          <p:cNvPr id="39" name="Rectangle 38"/>
          <p:cNvSpPr/>
          <p:nvPr/>
        </p:nvSpPr>
        <p:spPr>
          <a:xfrm>
            <a:off x="3703320" y="1517904"/>
            <a:ext cx="5029200" cy="834988"/>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03320" y="2432304"/>
            <a:ext cx="2103120"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Risk metrics</a:t>
            </a:r>
          </a:p>
        </p:txBody>
      </p:sp>
      <p:pic>
        <p:nvPicPr>
          <p:cNvPr id="41" name="Picture 40" descr="b76_risk.png"/>
          <p:cNvPicPr>
            <a:picLocks noChangeAspect="1"/>
          </p:cNvPicPr>
          <p:nvPr/>
        </p:nvPicPr>
        <p:blipFill>
          <a:blip r:embed="rId4"/>
          <a:stretch>
            <a:fillRect/>
          </a:stretch>
        </p:blipFill>
        <p:spPr>
          <a:xfrm>
            <a:off x="3703320" y="2606040"/>
            <a:ext cx="1960548" cy="2176272"/>
          </a:xfrm>
          <a:prstGeom prst="rect">
            <a:avLst/>
          </a:prstGeom>
        </p:spPr>
      </p:pic>
      <p:sp>
        <p:nvSpPr>
          <p:cNvPr id="42" name="Rectangle 41"/>
          <p:cNvSpPr/>
          <p:nvPr/>
        </p:nvSpPr>
        <p:spPr>
          <a:xfrm>
            <a:off x="3703320" y="2606040"/>
            <a:ext cx="1960548" cy="2176272"/>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16168" y="2432304"/>
            <a:ext cx="2816352"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Greeks</a:t>
            </a:r>
          </a:p>
        </p:txBody>
      </p:sp>
      <p:pic>
        <p:nvPicPr>
          <p:cNvPr id="44" name="Picture 43" descr="b76_greeks.png"/>
          <p:cNvPicPr>
            <a:picLocks noChangeAspect="1"/>
          </p:cNvPicPr>
          <p:nvPr/>
        </p:nvPicPr>
        <p:blipFill>
          <a:blip r:embed="rId5"/>
          <a:stretch>
            <a:fillRect/>
          </a:stretch>
        </p:blipFill>
        <p:spPr>
          <a:xfrm>
            <a:off x="5916168" y="2606040"/>
            <a:ext cx="2816352" cy="2084161"/>
          </a:xfrm>
          <a:prstGeom prst="rect">
            <a:avLst/>
          </a:prstGeom>
        </p:spPr>
      </p:pic>
      <p:sp>
        <p:nvSpPr>
          <p:cNvPr id="45" name="Rectangle 44"/>
          <p:cNvSpPr/>
          <p:nvPr/>
        </p:nvSpPr>
        <p:spPr>
          <a:xfrm>
            <a:off x="5916168" y="2606040"/>
            <a:ext cx="2816352" cy="2084161"/>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23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3 / CRR_BINOMIAL_TREE</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CRR tree: the price of being allowed to exercise early.</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slow, uneven convergence: still 0.007 off at 201 steps.</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dirty="0">
                <a:solidFill>
                  <a:srgbClr val="93A79A"/>
                </a:solidFill>
                <a:latin typeface="Arial"/>
              </a:rPr>
              <a:t>At each step the stock moves up or down by a fixed proportion. The tree is solved backwards from expiry, and at every node it checks whether exercising now is worth more than waiting. Use it for American options.</a:t>
            </a:r>
          </a:p>
        </p:txBody>
      </p:sp>
      <p:sp>
        <p:nvSpPr>
          <p:cNvPr id="10" name="Rectangle 9"/>
          <p:cNvSpPr/>
          <p:nvPr/>
        </p:nvSpPr>
        <p:spPr>
          <a:xfrm>
            <a:off x="566928" y="1344168"/>
            <a:ext cx="2971800" cy="141732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Option type</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1" i="0">
                <a:solidFill>
                  <a:srgbClr val="FFB020"/>
                </a:solidFill>
                <a:latin typeface="Consolas"/>
              </a:rPr>
              <a:t>Put</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Product</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0" i="0">
                <a:solidFill>
                  <a:srgbClr val="E8F2EA"/>
                </a:solidFill>
                <a:latin typeface="Consolas"/>
              </a:rPr>
              <a:t>Vanilla</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Exercise</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1" i="0">
                <a:solidFill>
                  <a:srgbClr val="FFB020"/>
                </a:solidFill>
                <a:latin typeface="Consolas"/>
              </a:rPr>
              <a:t>American</a:t>
            </a:r>
          </a:p>
        </p:txBody>
      </p:sp>
      <p:sp>
        <p:nvSpPr>
          <p:cNvPr id="18" name="TextBox 17"/>
          <p:cNvSpPr txBox="1"/>
          <p:nvPr/>
        </p:nvSpPr>
        <p:spPr>
          <a:xfrm>
            <a:off x="676656" y="213969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9" name="TextBox 18"/>
          <p:cNvSpPr txBox="1"/>
          <p:nvPr/>
        </p:nvSpPr>
        <p:spPr>
          <a:xfrm>
            <a:off x="1783080" y="2139696"/>
            <a:ext cx="1719072" cy="173736"/>
          </a:xfrm>
          <a:prstGeom prst="rect">
            <a:avLst/>
          </a:prstGeom>
          <a:noFill/>
        </p:spPr>
        <p:txBody>
          <a:bodyPr wrap="square" lIns="0" tIns="0" rIns="0" bIns="0" anchor="ctr">
            <a:spAutoFit/>
          </a:bodyPr>
          <a:lstStyle/>
          <a:p>
            <a:pPr algn="l"/>
            <a:r>
              <a:rPr sz="850" b="1" i="0">
                <a:solidFill>
                  <a:srgbClr val="FFB020"/>
                </a:solidFill>
                <a:latin typeface="Consolas"/>
              </a:rPr>
              <a:t>CRR binomial</a:t>
            </a:r>
          </a:p>
        </p:txBody>
      </p:sp>
      <p:sp>
        <p:nvSpPr>
          <p:cNvPr id="20" name="TextBox 19"/>
          <p:cNvSpPr txBox="1"/>
          <p:nvPr/>
        </p:nvSpPr>
        <p:spPr>
          <a:xfrm>
            <a:off x="676656" y="2322576"/>
            <a:ext cx="1143000" cy="173736"/>
          </a:xfrm>
          <a:prstGeom prst="rect">
            <a:avLst/>
          </a:prstGeom>
          <a:noFill/>
        </p:spPr>
        <p:txBody>
          <a:bodyPr wrap="square" lIns="0" tIns="0" rIns="0" bIns="0" anchor="ctr">
            <a:spAutoFit/>
          </a:bodyPr>
          <a:lstStyle/>
          <a:p>
            <a:pPr algn="l"/>
            <a:r>
              <a:rPr sz="850" b="0" i="0">
                <a:solidFill>
                  <a:srgbClr val="93A79A"/>
                </a:solidFill>
                <a:latin typeface="Arial"/>
              </a:rPr>
              <a:t>Tree steps</a:t>
            </a:r>
          </a:p>
        </p:txBody>
      </p:sp>
      <p:sp>
        <p:nvSpPr>
          <p:cNvPr id="21" name="TextBox 20"/>
          <p:cNvSpPr txBox="1"/>
          <p:nvPr/>
        </p:nvSpPr>
        <p:spPr>
          <a:xfrm>
            <a:off x="1783080" y="2322576"/>
            <a:ext cx="1719072" cy="173736"/>
          </a:xfrm>
          <a:prstGeom prst="rect">
            <a:avLst/>
          </a:prstGeom>
          <a:noFill/>
        </p:spPr>
        <p:txBody>
          <a:bodyPr wrap="square" lIns="0" tIns="0" rIns="0" bIns="0" anchor="ctr">
            <a:spAutoFit/>
          </a:bodyPr>
          <a:lstStyle/>
          <a:p>
            <a:pPr algn="l"/>
            <a:r>
              <a:rPr sz="850" b="0" i="0">
                <a:solidFill>
                  <a:srgbClr val="E8F2EA"/>
                </a:solidFill>
                <a:latin typeface="Consolas"/>
              </a:rPr>
              <a:t>201</a:t>
            </a:r>
          </a:p>
        </p:txBody>
      </p:sp>
      <p:sp>
        <p:nvSpPr>
          <p:cNvPr id="22" name="Rectangle 21"/>
          <p:cNvSpPr/>
          <p:nvPr/>
        </p:nvSpPr>
        <p:spPr>
          <a:xfrm>
            <a:off x="676656" y="2532888"/>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 y="2560320"/>
            <a:ext cx="2788920" cy="164592"/>
          </a:xfrm>
          <a:prstGeom prst="rect">
            <a:avLst/>
          </a:prstGeom>
          <a:noFill/>
        </p:spPr>
        <p:txBody>
          <a:bodyPr wrap="square" lIns="0" tIns="0" rIns="0" bIns="0" anchor="ctr">
            <a:spAutoFit/>
          </a:bodyPr>
          <a:lstStyle/>
          <a:p>
            <a:pPr algn="l"/>
            <a:r>
              <a:rPr sz="750" b="0" i="0">
                <a:solidFill>
                  <a:srgbClr val="93A79A"/>
                </a:solidFill>
                <a:latin typeface="Consolas"/>
              </a:rPr>
              <a:t>S 100 · K 100 · 365 d · σ 20% · r 5% · q 0%</a:t>
            </a:r>
          </a:p>
        </p:txBody>
      </p:sp>
      <p:sp>
        <p:nvSpPr>
          <p:cNvPr id="24" name="TextBox 23"/>
          <p:cNvSpPr txBox="1"/>
          <p:nvPr/>
        </p:nvSpPr>
        <p:spPr>
          <a:xfrm>
            <a:off x="566928" y="285292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5" name="Rectangle 24"/>
          <p:cNvSpPr/>
          <p:nvPr/>
        </p:nvSpPr>
        <p:spPr>
          <a:xfrm>
            <a:off x="566928" y="303580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3067812"/>
            <a:ext cx="2971800" cy="128016"/>
          </a:xfrm>
          <a:prstGeom prst="rect">
            <a:avLst/>
          </a:prstGeom>
          <a:noFill/>
        </p:spPr>
        <p:txBody>
          <a:bodyPr wrap="square" lIns="0" tIns="0" rIns="0" bIns="0" anchor="t">
            <a:spAutoFit/>
          </a:bodyPr>
          <a:lstStyle/>
          <a:p>
            <a:pPr algn="l"/>
            <a:r>
              <a:rPr sz="750" b="1" i="0">
                <a:solidFill>
                  <a:srgbClr val="5BC8F5"/>
                </a:solidFill>
                <a:latin typeface="Consolas"/>
              </a:rPr>
              <a:t>SIDEBAR</a:t>
            </a:r>
            <a:r>
              <a:rPr sz="750" b="0" i="0">
                <a:solidFill>
                  <a:srgbClr val="93A79A"/>
                </a:solidFill>
                <a:latin typeface="Consolas"/>
              </a:rPr>
              <a:t>  ›  Pricing model</a:t>
            </a:r>
          </a:p>
        </p:txBody>
      </p:sp>
      <p:sp>
        <p:nvSpPr>
          <p:cNvPr id="27" name="TextBox 26"/>
          <p:cNvSpPr txBox="1"/>
          <p:nvPr/>
        </p:nvSpPr>
        <p:spPr>
          <a:xfrm>
            <a:off x="566928" y="320040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Black-Scholes and Black-76 switch off: a formula cannot decide when to exercise.</a:t>
            </a:r>
          </a:p>
        </p:txBody>
      </p:sp>
      <p:sp>
        <p:nvSpPr>
          <p:cNvPr id="28" name="Rectangle 27"/>
          <p:cNvSpPr/>
          <p:nvPr/>
        </p:nvSpPr>
        <p:spPr>
          <a:xfrm>
            <a:off x="566928" y="347014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350215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a:t>
            </a:r>
          </a:p>
        </p:txBody>
      </p:sp>
      <p:sp>
        <p:nvSpPr>
          <p:cNvPr id="30" name="TextBox 29"/>
          <p:cNvSpPr txBox="1"/>
          <p:nvPr/>
        </p:nvSpPr>
        <p:spPr>
          <a:xfrm>
            <a:off x="566928" y="363474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6.0975, lattice · 201 steps · American. Delta −0.4112.</a:t>
            </a:r>
          </a:p>
        </p:txBody>
      </p:sp>
      <p:sp>
        <p:nvSpPr>
          <p:cNvPr id="31" name="Rectangle 30"/>
          <p:cNvSpPr/>
          <p:nvPr/>
        </p:nvSpPr>
        <p:spPr>
          <a:xfrm>
            <a:off x="566928" y="3904487"/>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3936491"/>
            <a:ext cx="2971800" cy="128016"/>
          </a:xfrm>
          <a:prstGeom prst="rect">
            <a:avLst/>
          </a:prstGeom>
          <a:noFill/>
        </p:spPr>
        <p:txBody>
          <a:bodyPr wrap="square" lIns="0" tIns="0" rIns="0" bIns="0" anchor="t">
            <a:spAutoFit/>
          </a:bodyPr>
          <a:lstStyle/>
          <a:p>
            <a:pPr algn="l"/>
            <a:r>
              <a:rPr sz="750" b="1" i="0">
                <a:solidFill>
                  <a:srgbClr val="5BC8F5"/>
                </a:solidFill>
                <a:latin typeface="Consolas"/>
              </a:rPr>
              <a:t>TREES</a:t>
            </a:r>
            <a:r>
              <a:rPr sz="750" b="0" i="0">
                <a:solidFill>
                  <a:srgbClr val="93A79A"/>
                </a:solidFill>
                <a:latin typeface="Consolas"/>
              </a:rPr>
              <a:t>  ›  American vs European price</a:t>
            </a:r>
          </a:p>
        </p:txBody>
      </p:sp>
      <p:sp>
        <p:nvSpPr>
          <p:cNvPr id="33" name="TextBox 32"/>
          <p:cNvSpPr txBox="1"/>
          <p:nvPr/>
        </p:nvSpPr>
        <p:spPr>
          <a:xfrm>
            <a:off x="566928" y="4069079"/>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European put 5.5735. Early-exercise premium at spot +0.5153.</a:t>
            </a:r>
          </a:p>
        </p:txBody>
      </p:sp>
      <p:sp>
        <p:nvSpPr>
          <p:cNvPr id="34" name="Rectangle 33"/>
          <p:cNvSpPr/>
          <p:nvPr/>
        </p:nvSpPr>
        <p:spPr>
          <a:xfrm>
            <a:off x="566928" y="433882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4370832"/>
            <a:ext cx="2971800" cy="128016"/>
          </a:xfrm>
          <a:prstGeom prst="rect">
            <a:avLst/>
          </a:prstGeom>
          <a:noFill/>
        </p:spPr>
        <p:txBody>
          <a:bodyPr wrap="square" lIns="0" tIns="0" rIns="0" bIns="0" anchor="t">
            <a:spAutoFit/>
          </a:bodyPr>
          <a:lstStyle/>
          <a:p>
            <a:pPr algn="l"/>
            <a:r>
              <a:rPr sz="750" b="1" i="0">
                <a:solidFill>
                  <a:srgbClr val="5BC8F5"/>
                </a:solidFill>
                <a:latin typeface="Consolas"/>
              </a:rPr>
              <a:t>TREES</a:t>
            </a:r>
            <a:r>
              <a:rPr sz="750" b="0" i="0">
                <a:solidFill>
                  <a:srgbClr val="93A79A"/>
                </a:solidFill>
                <a:latin typeface="Consolas"/>
              </a:rPr>
              <a:t>  ›  Early-exercise boundary</a:t>
            </a:r>
          </a:p>
        </p:txBody>
      </p:sp>
      <p:sp>
        <p:nvSpPr>
          <p:cNvPr id="36" name="TextBox 35"/>
          <p:cNvSpPr txBox="1"/>
          <p:nvPr/>
        </p:nvSpPr>
        <p:spPr>
          <a:xfrm>
            <a:off x="566928" y="450342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With a year left, exercise below about 80.9. Long-run floor 71.43.</a:t>
            </a:r>
          </a:p>
        </p:txBody>
      </p:sp>
      <p:sp>
        <p:nvSpPr>
          <p:cNvPr id="37" name="TextBox 36"/>
          <p:cNvSpPr txBox="1"/>
          <p:nvPr/>
        </p:nvSpPr>
        <p:spPr>
          <a:xfrm>
            <a:off x="3703320" y="1344168"/>
            <a:ext cx="5029200"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price strip</a:t>
            </a:r>
          </a:p>
        </p:txBody>
      </p:sp>
      <p:pic>
        <p:nvPicPr>
          <p:cNvPr id="38" name="Picture 37" descr="crr_strip.png"/>
          <p:cNvPicPr>
            <a:picLocks noChangeAspect="1"/>
          </p:cNvPicPr>
          <p:nvPr/>
        </p:nvPicPr>
        <p:blipFill>
          <a:blip r:embed="rId3"/>
          <a:stretch>
            <a:fillRect/>
          </a:stretch>
        </p:blipFill>
        <p:spPr>
          <a:xfrm>
            <a:off x="3703320" y="1517904"/>
            <a:ext cx="5029200" cy="834988"/>
          </a:xfrm>
          <a:prstGeom prst="rect">
            <a:avLst/>
          </a:prstGeom>
        </p:spPr>
      </p:pic>
      <p:sp>
        <p:nvSpPr>
          <p:cNvPr id="39" name="Rectangle 38"/>
          <p:cNvSpPr/>
          <p:nvPr/>
        </p:nvSpPr>
        <p:spPr>
          <a:xfrm>
            <a:off x="3703320" y="1517904"/>
            <a:ext cx="5029200" cy="834988"/>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03320" y="2432304"/>
            <a:ext cx="2468880" cy="146304"/>
          </a:xfrm>
          <a:prstGeom prst="rect">
            <a:avLst/>
          </a:prstGeom>
          <a:noFill/>
        </p:spPr>
        <p:txBody>
          <a:bodyPr wrap="square" lIns="0" tIns="0" rIns="0" bIns="0" anchor="t">
            <a:spAutoFit/>
          </a:bodyPr>
          <a:lstStyle/>
          <a:p>
            <a:pPr algn="l"/>
            <a:r>
              <a:rPr sz="750" b="1" i="0">
                <a:solidFill>
                  <a:srgbClr val="3DDC84"/>
                </a:solidFill>
                <a:latin typeface="Consolas"/>
              </a:rPr>
              <a:t>TREES</a:t>
            </a:r>
            <a:r>
              <a:rPr sz="750" b="0" i="0">
                <a:solidFill>
                  <a:srgbClr val="93A79A"/>
                </a:solidFill>
                <a:latin typeface="Consolas"/>
              </a:rPr>
              <a:t>  ›  American vs European price</a:t>
            </a:r>
          </a:p>
        </p:txBody>
      </p:sp>
      <p:pic>
        <p:nvPicPr>
          <p:cNvPr id="41" name="Picture 40" descr="crr_trees_premium.png"/>
          <p:cNvPicPr>
            <a:picLocks noChangeAspect="1"/>
          </p:cNvPicPr>
          <p:nvPr/>
        </p:nvPicPr>
        <p:blipFill>
          <a:blip r:embed="rId4"/>
          <a:stretch>
            <a:fillRect/>
          </a:stretch>
        </p:blipFill>
        <p:spPr>
          <a:xfrm>
            <a:off x="3703320" y="2606040"/>
            <a:ext cx="2468880" cy="1849264"/>
          </a:xfrm>
          <a:prstGeom prst="rect">
            <a:avLst/>
          </a:prstGeom>
        </p:spPr>
      </p:pic>
      <p:sp>
        <p:nvSpPr>
          <p:cNvPr id="42" name="Rectangle 41"/>
          <p:cNvSpPr/>
          <p:nvPr/>
        </p:nvSpPr>
        <p:spPr>
          <a:xfrm>
            <a:off x="3703320" y="2606040"/>
            <a:ext cx="2468880" cy="1849264"/>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63640" y="2432304"/>
            <a:ext cx="2468880" cy="146304"/>
          </a:xfrm>
          <a:prstGeom prst="rect">
            <a:avLst/>
          </a:prstGeom>
          <a:noFill/>
        </p:spPr>
        <p:txBody>
          <a:bodyPr wrap="square" lIns="0" tIns="0" rIns="0" bIns="0" anchor="t">
            <a:spAutoFit/>
          </a:bodyPr>
          <a:lstStyle/>
          <a:p>
            <a:pPr algn="l"/>
            <a:r>
              <a:rPr sz="750" b="1" i="0">
                <a:solidFill>
                  <a:srgbClr val="3DDC84"/>
                </a:solidFill>
                <a:latin typeface="Consolas"/>
              </a:rPr>
              <a:t>TREES</a:t>
            </a:r>
            <a:r>
              <a:rPr sz="750" b="0" i="0">
                <a:solidFill>
                  <a:srgbClr val="93A79A"/>
                </a:solidFill>
                <a:latin typeface="Consolas"/>
              </a:rPr>
              <a:t>  ›  Early-exercise boundary</a:t>
            </a:r>
          </a:p>
        </p:txBody>
      </p:sp>
      <p:pic>
        <p:nvPicPr>
          <p:cNvPr id="44" name="Picture 43" descr="crr_trees_boundary.png"/>
          <p:cNvPicPr>
            <a:picLocks noChangeAspect="1"/>
          </p:cNvPicPr>
          <p:nvPr/>
        </p:nvPicPr>
        <p:blipFill>
          <a:blip r:embed="rId5"/>
          <a:stretch>
            <a:fillRect/>
          </a:stretch>
        </p:blipFill>
        <p:spPr>
          <a:xfrm>
            <a:off x="6263640" y="2606040"/>
            <a:ext cx="2468880" cy="1849264"/>
          </a:xfrm>
          <a:prstGeom prst="rect">
            <a:avLst/>
          </a:prstGeom>
        </p:spPr>
      </p:pic>
      <p:sp>
        <p:nvSpPr>
          <p:cNvPr id="45" name="Rectangle 44"/>
          <p:cNvSpPr/>
          <p:nvPr/>
        </p:nvSpPr>
        <p:spPr>
          <a:xfrm>
            <a:off x="6263640" y="2606040"/>
            <a:ext cx="2468880" cy="1849264"/>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24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4 / LEISEN_REIMER_TREE</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Leisen-Reimer: the same tree, far fewer steps.</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with American exercise the gain drops to about 5× at 201 steps.</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A binomial tree whose up and down moves are chosen to centre it on the strike. That removes the odd-even jumps of the CRR tree. Use it wherever CRR is used, when accuracy matters more than simplicity.</a:t>
            </a:r>
          </a:p>
        </p:txBody>
      </p:sp>
      <p:sp>
        <p:nvSpPr>
          <p:cNvPr id="10" name="Rectangle 9"/>
          <p:cNvSpPr/>
          <p:nvPr/>
        </p:nvSpPr>
        <p:spPr>
          <a:xfrm>
            <a:off x="566928" y="1344168"/>
            <a:ext cx="2971800" cy="123444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Option type</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0" i="0">
                <a:solidFill>
                  <a:srgbClr val="E8F2EA"/>
                </a:solidFill>
                <a:latin typeface="Consolas"/>
              </a:rPr>
              <a:t>Call</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Exercise</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0" i="0">
                <a:solidFill>
                  <a:srgbClr val="E8F2EA"/>
                </a:solidFill>
                <a:latin typeface="Consolas"/>
              </a:rPr>
              <a:t>European</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1" i="0">
                <a:solidFill>
                  <a:srgbClr val="FFB020"/>
                </a:solidFill>
                <a:latin typeface="Consolas"/>
              </a:rPr>
              <a:t>Leisen-Reimer</a:t>
            </a:r>
          </a:p>
        </p:txBody>
      </p:sp>
      <p:sp>
        <p:nvSpPr>
          <p:cNvPr id="18" name="TextBox 17"/>
          <p:cNvSpPr txBox="1"/>
          <p:nvPr/>
        </p:nvSpPr>
        <p:spPr>
          <a:xfrm>
            <a:off x="676656" y="2139696"/>
            <a:ext cx="1143000" cy="173736"/>
          </a:xfrm>
          <a:prstGeom prst="rect">
            <a:avLst/>
          </a:prstGeom>
          <a:noFill/>
        </p:spPr>
        <p:txBody>
          <a:bodyPr wrap="square" lIns="0" tIns="0" rIns="0" bIns="0" anchor="ctr">
            <a:spAutoFit/>
          </a:bodyPr>
          <a:lstStyle/>
          <a:p>
            <a:pPr algn="l"/>
            <a:r>
              <a:rPr sz="850" b="0" i="0">
                <a:solidFill>
                  <a:srgbClr val="93A79A"/>
                </a:solidFill>
                <a:latin typeface="Arial"/>
              </a:rPr>
              <a:t>Tree steps</a:t>
            </a:r>
          </a:p>
        </p:txBody>
      </p:sp>
      <p:sp>
        <p:nvSpPr>
          <p:cNvPr id="19" name="TextBox 18"/>
          <p:cNvSpPr txBox="1"/>
          <p:nvPr/>
        </p:nvSpPr>
        <p:spPr>
          <a:xfrm>
            <a:off x="1783080" y="2139696"/>
            <a:ext cx="1719072" cy="173736"/>
          </a:xfrm>
          <a:prstGeom prst="rect">
            <a:avLst/>
          </a:prstGeom>
          <a:noFill/>
        </p:spPr>
        <p:txBody>
          <a:bodyPr wrap="square" lIns="0" tIns="0" rIns="0" bIns="0" anchor="ctr">
            <a:spAutoFit/>
          </a:bodyPr>
          <a:lstStyle/>
          <a:p>
            <a:pPr algn="l"/>
            <a:r>
              <a:rPr sz="850" b="0" i="0">
                <a:solidFill>
                  <a:srgbClr val="E8F2EA"/>
                </a:solidFill>
                <a:latin typeface="Consolas"/>
              </a:rPr>
              <a:t>201</a:t>
            </a:r>
          </a:p>
        </p:txBody>
      </p:sp>
      <p:sp>
        <p:nvSpPr>
          <p:cNvPr id="20" name="Rectangle 19"/>
          <p:cNvSpPr/>
          <p:nvPr/>
        </p:nvSpPr>
        <p:spPr>
          <a:xfrm>
            <a:off x="676656" y="2350008"/>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2377439"/>
            <a:ext cx="2788920" cy="164592"/>
          </a:xfrm>
          <a:prstGeom prst="rect">
            <a:avLst/>
          </a:prstGeom>
          <a:noFill/>
        </p:spPr>
        <p:txBody>
          <a:bodyPr wrap="square" lIns="0" tIns="0" rIns="0" bIns="0" anchor="ctr">
            <a:spAutoFit/>
          </a:bodyPr>
          <a:lstStyle/>
          <a:p>
            <a:pPr algn="l"/>
            <a:r>
              <a:rPr sz="750" b="0" i="0">
                <a:solidFill>
                  <a:srgbClr val="93A79A"/>
                </a:solidFill>
                <a:latin typeface="Consolas"/>
              </a:rPr>
              <a:t>S 100 · K 100 · 365 d · σ 20% · r 5% · q 0%</a:t>
            </a:r>
          </a:p>
        </p:txBody>
      </p:sp>
      <p:sp>
        <p:nvSpPr>
          <p:cNvPr id="22" name="TextBox 21"/>
          <p:cNvSpPr txBox="1"/>
          <p:nvPr/>
        </p:nvSpPr>
        <p:spPr>
          <a:xfrm>
            <a:off x="566928" y="267004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3" name="Rectangle 22"/>
          <p:cNvSpPr/>
          <p:nvPr/>
        </p:nvSpPr>
        <p:spPr>
          <a:xfrm>
            <a:off x="566928" y="285292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288493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a:t>
            </a:r>
          </a:p>
        </p:txBody>
      </p:sp>
      <p:sp>
        <p:nvSpPr>
          <p:cNvPr id="25" name="TextBox 24"/>
          <p:cNvSpPr txBox="1"/>
          <p:nvPr/>
        </p:nvSpPr>
        <p:spPr>
          <a:xfrm>
            <a:off x="566928" y="3017520"/>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10.4506 at 201 steps: equal to Black-Scholes to four decimals.</a:t>
            </a:r>
          </a:p>
        </p:txBody>
      </p:sp>
      <p:sp>
        <p:nvSpPr>
          <p:cNvPr id="26" name="Rectangle 25"/>
          <p:cNvSpPr/>
          <p:nvPr/>
        </p:nvSpPr>
        <p:spPr>
          <a:xfrm>
            <a:off x="566928" y="3328416"/>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 y="3360420"/>
            <a:ext cx="2971800" cy="128016"/>
          </a:xfrm>
          <a:prstGeom prst="rect">
            <a:avLst/>
          </a:prstGeom>
          <a:noFill/>
        </p:spPr>
        <p:txBody>
          <a:bodyPr wrap="square" lIns="0" tIns="0" rIns="0" bIns="0" anchor="t">
            <a:spAutoFit/>
          </a:bodyPr>
          <a:lstStyle/>
          <a:p>
            <a:pPr algn="l"/>
            <a:r>
              <a:rPr sz="750" b="1" i="0">
                <a:solidFill>
                  <a:srgbClr val="5BC8F5"/>
                </a:solidFill>
                <a:latin typeface="Consolas"/>
              </a:rPr>
              <a:t>TREES</a:t>
            </a:r>
            <a:r>
              <a:rPr sz="750" b="0" i="0">
                <a:solidFill>
                  <a:srgbClr val="93A79A"/>
                </a:solidFill>
                <a:latin typeface="Consolas"/>
              </a:rPr>
              <a:t>  ›  Price convergence vs steps</a:t>
            </a:r>
          </a:p>
        </p:txBody>
      </p:sp>
      <p:sp>
        <p:nvSpPr>
          <p:cNvPr id="28" name="TextBox 27"/>
          <p:cNvSpPr txBox="1"/>
          <p:nvPr/>
        </p:nvSpPr>
        <p:spPr>
          <a:xfrm>
            <a:off x="566928" y="3493008"/>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CRR closes in slowly from above; Leisen-Reimer sits on the reference from 21 steps.</a:t>
            </a:r>
          </a:p>
        </p:txBody>
      </p:sp>
      <p:sp>
        <p:nvSpPr>
          <p:cNvPr id="29" name="Rectangle 28"/>
          <p:cNvSpPr/>
          <p:nvPr/>
        </p:nvSpPr>
        <p:spPr>
          <a:xfrm>
            <a:off x="566928" y="3803904"/>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3835908"/>
            <a:ext cx="2971800" cy="128016"/>
          </a:xfrm>
          <a:prstGeom prst="rect">
            <a:avLst/>
          </a:prstGeom>
          <a:noFill/>
        </p:spPr>
        <p:txBody>
          <a:bodyPr wrap="square" lIns="0" tIns="0" rIns="0" bIns="0" anchor="t">
            <a:spAutoFit/>
          </a:bodyPr>
          <a:lstStyle/>
          <a:p>
            <a:pPr algn="l"/>
            <a:r>
              <a:rPr sz="750" b="1" i="0">
                <a:solidFill>
                  <a:srgbClr val="5BC8F5"/>
                </a:solidFill>
                <a:latin typeface="Consolas"/>
              </a:rPr>
              <a:t>TREES</a:t>
            </a:r>
            <a:r>
              <a:rPr sz="750" b="0" i="0">
                <a:solidFill>
                  <a:srgbClr val="93A79A"/>
                </a:solidFill>
                <a:latin typeface="Consolas"/>
              </a:rPr>
              <a:t>  ›  Error on a log scale</a:t>
            </a:r>
          </a:p>
        </p:txBody>
      </p:sp>
      <p:sp>
        <p:nvSpPr>
          <p:cNvPr id="31" name="TextBox 30"/>
          <p:cNvSpPr txBox="1"/>
          <p:nvPr/>
        </p:nvSpPr>
        <p:spPr>
          <a:xfrm>
            <a:off x="566928" y="3968496"/>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Slope about −1 for CRR and −2 for Leisen-Reimer.</a:t>
            </a:r>
          </a:p>
        </p:txBody>
      </p:sp>
      <p:sp>
        <p:nvSpPr>
          <p:cNvPr id="32" name="Rectangle 31"/>
          <p:cNvSpPr/>
          <p:nvPr/>
        </p:nvSpPr>
        <p:spPr>
          <a:xfrm>
            <a:off x="566928" y="4279392"/>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 y="4311396"/>
            <a:ext cx="2971800" cy="128016"/>
          </a:xfrm>
          <a:prstGeom prst="rect">
            <a:avLst/>
          </a:prstGeom>
          <a:noFill/>
        </p:spPr>
        <p:txBody>
          <a:bodyPr wrap="square" lIns="0" tIns="0" rIns="0" bIns="0" anchor="t">
            <a:spAutoFit/>
          </a:bodyPr>
          <a:lstStyle/>
          <a:p>
            <a:pPr algn="l"/>
            <a:r>
              <a:rPr sz="750" b="1" i="0">
                <a:solidFill>
                  <a:srgbClr val="5BC8F5"/>
                </a:solidFill>
                <a:latin typeface="Consolas"/>
              </a:rPr>
              <a:t>TREES</a:t>
            </a:r>
            <a:r>
              <a:rPr sz="750" b="0" i="0">
                <a:solidFill>
                  <a:srgbClr val="93A79A"/>
                </a:solidFill>
                <a:latin typeface="Consolas"/>
              </a:rPr>
              <a:t>  ›  Convergence table · European</a:t>
            </a:r>
          </a:p>
        </p:txBody>
      </p:sp>
      <p:sp>
        <p:nvSpPr>
          <p:cNvPr id="34" name="TextBox 33"/>
          <p:cNvSpPr txBox="1"/>
          <p:nvPr/>
        </p:nvSpPr>
        <p:spPr>
          <a:xfrm>
            <a:off x="566928" y="4443984"/>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Error at 51 steps: CRR 0.034, LR 0.00013. At 201 steps: CRR 0.0087, LR 0.000009.</a:t>
            </a:r>
          </a:p>
        </p:txBody>
      </p:sp>
      <p:sp>
        <p:nvSpPr>
          <p:cNvPr id="35" name="TextBox 34"/>
          <p:cNvSpPr txBox="1"/>
          <p:nvPr/>
        </p:nvSpPr>
        <p:spPr>
          <a:xfrm>
            <a:off x="3703320" y="1344168"/>
            <a:ext cx="5029200" cy="146304"/>
          </a:xfrm>
          <a:prstGeom prst="rect">
            <a:avLst/>
          </a:prstGeom>
          <a:noFill/>
        </p:spPr>
        <p:txBody>
          <a:bodyPr wrap="square" lIns="0" tIns="0" rIns="0" bIns="0" anchor="t">
            <a:spAutoFit/>
          </a:bodyPr>
          <a:lstStyle/>
          <a:p>
            <a:pPr algn="l"/>
            <a:r>
              <a:rPr sz="750" b="1" i="0">
                <a:solidFill>
                  <a:srgbClr val="3DDC84"/>
                </a:solidFill>
                <a:latin typeface="Consolas"/>
              </a:rPr>
              <a:t>TREES</a:t>
            </a:r>
            <a:r>
              <a:rPr sz="750" b="0" i="0">
                <a:solidFill>
                  <a:srgbClr val="93A79A"/>
                </a:solidFill>
                <a:latin typeface="Consolas"/>
              </a:rPr>
              <a:t>  ›  Convergence table · European</a:t>
            </a:r>
          </a:p>
        </p:txBody>
      </p:sp>
      <p:pic>
        <p:nvPicPr>
          <p:cNvPr id="36" name="Picture 35" descr="lr_trees_table.png"/>
          <p:cNvPicPr>
            <a:picLocks noChangeAspect="1"/>
          </p:cNvPicPr>
          <p:nvPr/>
        </p:nvPicPr>
        <p:blipFill>
          <a:blip r:embed="rId3"/>
          <a:stretch>
            <a:fillRect/>
          </a:stretch>
        </p:blipFill>
        <p:spPr>
          <a:xfrm>
            <a:off x="3703320" y="1517904"/>
            <a:ext cx="3651473" cy="1399032"/>
          </a:xfrm>
          <a:prstGeom prst="rect">
            <a:avLst/>
          </a:prstGeom>
        </p:spPr>
      </p:pic>
      <p:sp>
        <p:nvSpPr>
          <p:cNvPr id="37" name="Rectangle 36"/>
          <p:cNvSpPr/>
          <p:nvPr/>
        </p:nvSpPr>
        <p:spPr>
          <a:xfrm>
            <a:off x="3703320" y="1517904"/>
            <a:ext cx="3651473" cy="1399032"/>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03320" y="2962656"/>
            <a:ext cx="2468880" cy="146304"/>
          </a:xfrm>
          <a:prstGeom prst="rect">
            <a:avLst/>
          </a:prstGeom>
          <a:noFill/>
        </p:spPr>
        <p:txBody>
          <a:bodyPr wrap="square" lIns="0" tIns="0" rIns="0" bIns="0" anchor="t">
            <a:spAutoFit/>
          </a:bodyPr>
          <a:lstStyle/>
          <a:p>
            <a:pPr algn="l"/>
            <a:r>
              <a:rPr sz="750" b="1" i="0">
                <a:solidFill>
                  <a:srgbClr val="3DDC84"/>
                </a:solidFill>
                <a:latin typeface="Consolas"/>
              </a:rPr>
              <a:t>TREES</a:t>
            </a:r>
            <a:r>
              <a:rPr sz="750" b="0" i="0">
                <a:solidFill>
                  <a:srgbClr val="93A79A"/>
                </a:solidFill>
                <a:latin typeface="Consolas"/>
              </a:rPr>
              <a:t>  ›  Price convergence vs steps</a:t>
            </a:r>
          </a:p>
        </p:txBody>
      </p:sp>
      <p:pic>
        <p:nvPicPr>
          <p:cNvPr id="39" name="Picture 38" descr="lr_trees_conv.png"/>
          <p:cNvPicPr>
            <a:picLocks noChangeAspect="1"/>
          </p:cNvPicPr>
          <p:nvPr/>
        </p:nvPicPr>
        <p:blipFill>
          <a:blip r:embed="rId4"/>
          <a:stretch>
            <a:fillRect/>
          </a:stretch>
        </p:blipFill>
        <p:spPr>
          <a:xfrm>
            <a:off x="3703320" y="3136392"/>
            <a:ext cx="2134725" cy="1645920"/>
          </a:xfrm>
          <a:prstGeom prst="rect">
            <a:avLst/>
          </a:prstGeom>
        </p:spPr>
      </p:pic>
      <p:sp>
        <p:nvSpPr>
          <p:cNvPr id="40" name="Rectangle 39"/>
          <p:cNvSpPr/>
          <p:nvPr/>
        </p:nvSpPr>
        <p:spPr>
          <a:xfrm>
            <a:off x="3703320" y="3136392"/>
            <a:ext cx="2134725" cy="1645920"/>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63640" y="2962656"/>
            <a:ext cx="2468880" cy="146304"/>
          </a:xfrm>
          <a:prstGeom prst="rect">
            <a:avLst/>
          </a:prstGeom>
          <a:noFill/>
        </p:spPr>
        <p:txBody>
          <a:bodyPr wrap="square" lIns="0" tIns="0" rIns="0" bIns="0" anchor="t">
            <a:spAutoFit/>
          </a:bodyPr>
          <a:lstStyle/>
          <a:p>
            <a:pPr algn="l"/>
            <a:r>
              <a:rPr sz="750" b="1" i="0">
                <a:solidFill>
                  <a:srgbClr val="3DDC84"/>
                </a:solidFill>
                <a:latin typeface="Consolas"/>
              </a:rPr>
              <a:t>TREES</a:t>
            </a:r>
            <a:r>
              <a:rPr sz="750" b="0" i="0">
                <a:solidFill>
                  <a:srgbClr val="93A79A"/>
                </a:solidFill>
                <a:latin typeface="Consolas"/>
              </a:rPr>
              <a:t>  ›  Error on a log scale</a:t>
            </a:r>
          </a:p>
        </p:txBody>
      </p:sp>
      <p:pic>
        <p:nvPicPr>
          <p:cNvPr id="42" name="Picture 41" descr="lr_trees_log.png"/>
          <p:cNvPicPr>
            <a:picLocks noChangeAspect="1"/>
          </p:cNvPicPr>
          <p:nvPr/>
        </p:nvPicPr>
        <p:blipFill>
          <a:blip r:embed="rId5"/>
          <a:stretch>
            <a:fillRect/>
          </a:stretch>
        </p:blipFill>
        <p:spPr>
          <a:xfrm>
            <a:off x="6263640" y="3136392"/>
            <a:ext cx="2373686" cy="1645920"/>
          </a:xfrm>
          <a:prstGeom prst="rect">
            <a:avLst/>
          </a:prstGeom>
        </p:spPr>
      </p:pic>
      <p:sp>
        <p:nvSpPr>
          <p:cNvPr id="43" name="Rectangle 42"/>
          <p:cNvSpPr/>
          <p:nvPr/>
        </p:nvSpPr>
        <p:spPr>
          <a:xfrm>
            <a:off x="6263640" y="3136392"/>
            <a:ext cx="2373686" cy="1645920"/>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25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5 / MONTE_CARLO</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Monte Carlo: a price that comes with an error bar.</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slow: seconds per price, where a formula takes a millisecond.</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Simulate many possible paths of the stock, compute the payoff on each, average and discount. Use it when the payoff depends on the whole path. The example is an Asian call, which pays on the average price over the year.</a:t>
            </a:r>
          </a:p>
        </p:txBody>
      </p:sp>
      <p:sp>
        <p:nvSpPr>
          <p:cNvPr id="10" name="Rectangle 9"/>
          <p:cNvSpPr/>
          <p:nvPr/>
        </p:nvSpPr>
        <p:spPr>
          <a:xfrm>
            <a:off x="566928" y="1344168"/>
            <a:ext cx="2971800" cy="141732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Product</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1" i="0">
                <a:solidFill>
                  <a:srgbClr val="FFB020"/>
                </a:solidFill>
                <a:latin typeface="Consolas"/>
              </a:rPr>
              <a:t>Asian (average price)</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0" i="0">
                <a:solidFill>
                  <a:srgbClr val="E8F2EA"/>
                </a:solidFill>
                <a:latin typeface="Consolas"/>
              </a:rPr>
              <a:t>Monte Carlo  (only choice)</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MC paths</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1" i="0">
                <a:solidFill>
                  <a:srgbClr val="FFB020"/>
                </a:solidFill>
                <a:latin typeface="Consolas"/>
              </a:rPr>
              <a:t>50,000</a:t>
            </a:r>
          </a:p>
        </p:txBody>
      </p:sp>
      <p:sp>
        <p:nvSpPr>
          <p:cNvPr id="18" name="TextBox 17"/>
          <p:cNvSpPr txBox="1"/>
          <p:nvPr/>
        </p:nvSpPr>
        <p:spPr>
          <a:xfrm>
            <a:off x="676656" y="2139696"/>
            <a:ext cx="1143000" cy="173736"/>
          </a:xfrm>
          <a:prstGeom prst="rect">
            <a:avLst/>
          </a:prstGeom>
          <a:noFill/>
        </p:spPr>
        <p:txBody>
          <a:bodyPr wrap="square" lIns="0" tIns="0" rIns="0" bIns="0" anchor="ctr">
            <a:spAutoFit/>
          </a:bodyPr>
          <a:lstStyle/>
          <a:p>
            <a:pPr algn="l"/>
            <a:r>
              <a:rPr sz="850" b="0" i="0">
                <a:solidFill>
                  <a:srgbClr val="93A79A"/>
                </a:solidFill>
                <a:latin typeface="Arial"/>
              </a:rPr>
              <a:t>Fixings</a:t>
            </a:r>
          </a:p>
        </p:txBody>
      </p:sp>
      <p:sp>
        <p:nvSpPr>
          <p:cNvPr id="19" name="TextBox 18"/>
          <p:cNvSpPr txBox="1"/>
          <p:nvPr/>
        </p:nvSpPr>
        <p:spPr>
          <a:xfrm>
            <a:off x="1783080" y="2139696"/>
            <a:ext cx="1719072" cy="173736"/>
          </a:xfrm>
          <a:prstGeom prst="rect">
            <a:avLst/>
          </a:prstGeom>
          <a:noFill/>
        </p:spPr>
        <p:txBody>
          <a:bodyPr wrap="square" lIns="0" tIns="0" rIns="0" bIns="0" anchor="ctr">
            <a:spAutoFit/>
          </a:bodyPr>
          <a:lstStyle/>
          <a:p>
            <a:pPr algn="l"/>
            <a:r>
              <a:rPr sz="850" b="1" i="0">
                <a:solidFill>
                  <a:srgbClr val="FFB020"/>
                </a:solidFill>
                <a:latin typeface="Consolas"/>
              </a:rPr>
              <a:t>252</a:t>
            </a:r>
          </a:p>
        </p:txBody>
      </p:sp>
      <p:sp>
        <p:nvSpPr>
          <p:cNvPr id="20" name="TextBox 19"/>
          <p:cNvSpPr txBox="1"/>
          <p:nvPr/>
        </p:nvSpPr>
        <p:spPr>
          <a:xfrm>
            <a:off x="676656" y="2322576"/>
            <a:ext cx="1143000" cy="173736"/>
          </a:xfrm>
          <a:prstGeom prst="rect">
            <a:avLst/>
          </a:prstGeom>
          <a:noFill/>
        </p:spPr>
        <p:txBody>
          <a:bodyPr wrap="square" lIns="0" tIns="0" rIns="0" bIns="0" anchor="ctr">
            <a:spAutoFit/>
          </a:bodyPr>
          <a:lstStyle/>
          <a:p>
            <a:pPr algn="l"/>
            <a:r>
              <a:rPr sz="850" b="0" i="0">
                <a:solidFill>
                  <a:srgbClr val="93A79A"/>
                </a:solidFill>
                <a:latin typeface="Arial"/>
              </a:rPr>
              <a:t>Antithetic variates</a:t>
            </a:r>
          </a:p>
        </p:txBody>
      </p:sp>
      <p:sp>
        <p:nvSpPr>
          <p:cNvPr id="21" name="TextBox 20"/>
          <p:cNvSpPr txBox="1"/>
          <p:nvPr/>
        </p:nvSpPr>
        <p:spPr>
          <a:xfrm>
            <a:off x="1783080" y="2322576"/>
            <a:ext cx="1719072" cy="173736"/>
          </a:xfrm>
          <a:prstGeom prst="rect">
            <a:avLst/>
          </a:prstGeom>
          <a:noFill/>
        </p:spPr>
        <p:txBody>
          <a:bodyPr wrap="square" lIns="0" tIns="0" rIns="0" bIns="0" anchor="ctr">
            <a:spAutoFit/>
          </a:bodyPr>
          <a:lstStyle/>
          <a:p>
            <a:pPr algn="l"/>
            <a:r>
              <a:rPr sz="850" b="0" i="0">
                <a:solidFill>
                  <a:srgbClr val="E8F2EA"/>
                </a:solidFill>
                <a:latin typeface="Consolas"/>
              </a:rPr>
              <a:t>ticked</a:t>
            </a:r>
          </a:p>
        </p:txBody>
      </p:sp>
      <p:sp>
        <p:nvSpPr>
          <p:cNvPr id="22" name="Rectangle 21"/>
          <p:cNvSpPr/>
          <p:nvPr/>
        </p:nvSpPr>
        <p:spPr>
          <a:xfrm>
            <a:off x="676656" y="2532888"/>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 y="2560320"/>
            <a:ext cx="2788920" cy="164592"/>
          </a:xfrm>
          <a:prstGeom prst="rect">
            <a:avLst/>
          </a:prstGeom>
          <a:noFill/>
        </p:spPr>
        <p:txBody>
          <a:bodyPr wrap="square" lIns="0" tIns="0" rIns="0" bIns="0" anchor="ctr">
            <a:spAutoFit/>
          </a:bodyPr>
          <a:lstStyle/>
          <a:p>
            <a:pPr algn="l"/>
            <a:r>
              <a:rPr sz="750" b="0" i="0">
                <a:solidFill>
                  <a:srgbClr val="93A79A"/>
                </a:solidFill>
                <a:latin typeface="Consolas"/>
              </a:rPr>
              <a:t>S 100 · K 100 · 365 d · σ 20% · r 5% · q 0%</a:t>
            </a:r>
          </a:p>
        </p:txBody>
      </p:sp>
      <p:sp>
        <p:nvSpPr>
          <p:cNvPr id="24" name="TextBox 23"/>
          <p:cNvSpPr txBox="1"/>
          <p:nvPr/>
        </p:nvSpPr>
        <p:spPr>
          <a:xfrm>
            <a:off x="566928" y="285292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5" name="Rectangle 24"/>
          <p:cNvSpPr/>
          <p:nvPr/>
        </p:nvSpPr>
        <p:spPr>
          <a:xfrm>
            <a:off x="566928" y="303580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306781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a:t>
            </a:r>
          </a:p>
        </p:txBody>
      </p:sp>
      <p:sp>
        <p:nvSpPr>
          <p:cNvPr id="27" name="TextBox 26"/>
          <p:cNvSpPr txBox="1"/>
          <p:nvPr/>
        </p:nvSpPr>
        <p:spPr>
          <a:xfrm>
            <a:off x="566928" y="320040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5.8141 ± 0.0250, 95% interval 5.765 to 5.863. Vanilla call: 10.4506.</a:t>
            </a:r>
          </a:p>
        </p:txBody>
      </p:sp>
      <p:sp>
        <p:nvSpPr>
          <p:cNvPr id="28" name="Rectangle 27"/>
          <p:cNvSpPr/>
          <p:nvPr/>
        </p:nvSpPr>
        <p:spPr>
          <a:xfrm>
            <a:off x="566928" y="347014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350215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Same contract, every engine</a:t>
            </a:r>
          </a:p>
        </p:txBody>
      </p:sp>
      <p:sp>
        <p:nvSpPr>
          <p:cNvPr id="30" name="TextBox 29"/>
          <p:cNvSpPr txBox="1"/>
          <p:nvPr/>
        </p:nvSpPr>
        <p:spPr>
          <a:xfrm>
            <a:off x="566928" y="363474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With the geometric control variate: 5.7838 ± 0.0013 on the same paths.</a:t>
            </a:r>
          </a:p>
        </p:txBody>
      </p:sp>
      <p:sp>
        <p:nvSpPr>
          <p:cNvPr id="31" name="Rectangle 30"/>
          <p:cNvSpPr/>
          <p:nvPr/>
        </p:nvSpPr>
        <p:spPr>
          <a:xfrm>
            <a:off x="566928" y="3904487"/>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3936491"/>
            <a:ext cx="2971800" cy="128016"/>
          </a:xfrm>
          <a:prstGeom prst="rect">
            <a:avLst/>
          </a:prstGeom>
          <a:noFill/>
        </p:spPr>
        <p:txBody>
          <a:bodyPr wrap="square" lIns="0" tIns="0" rIns="0" bIns="0" anchor="t">
            <a:spAutoFit/>
          </a:bodyPr>
          <a:lstStyle/>
          <a:p>
            <a:pPr algn="l"/>
            <a:r>
              <a:rPr sz="750" b="1" i="0">
                <a:solidFill>
                  <a:srgbClr val="5BC8F5"/>
                </a:solidFill>
                <a:latin typeface="Consolas"/>
              </a:rPr>
              <a:t>MONTE CARLO</a:t>
            </a:r>
            <a:r>
              <a:rPr sz="750" b="0" i="0">
                <a:solidFill>
                  <a:srgbClr val="93A79A"/>
                </a:solidFill>
                <a:latin typeface="Consolas"/>
              </a:rPr>
              <a:t>  ›  Convergence, Variance reduction</a:t>
            </a:r>
          </a:p>
        </p:txBody>
      </p:sp>
      <p:sp>
        <p:nvSpPr>
          <p:cNvPr id="33" name="TextBox 32"/>
          <p:cNvSpPr txBox="1"/>
          <p:nvPr/>
        </p:nvSpPr>
        <p:spPr>
          <a:xfrm>
            <a:off x="566928" y="4069079"/>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Error bar ± 0.126 at 2,000 paths, ± 0.025 at 50,000. Variance ÷ 2.1 antithetic, ÷ 720 with the control variate.</a:t>
            </a:r>
          </a:p>
        </p:txBody>
      </p:sp>
      <p:sp>
        <p:nvSpPr>
          <p:cNvPr id="34" name="Rectangle 33"/>
          <p:cNvSpPr/>
          <p:nvPr/>
        </p:nvSpPr>
        <p:spPr>
          <a:xfrm>
            <a:off x="566928" y="433882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4370832"/>
            <a:ext cx="2971800" cy="128016"/>
          </a:xfrm>
          <a:prstGeom prst="rect">
            <a:avLst/>
          </a:prstGeom>
          <a:noFill/>
        </p:spPr>
        <p:txBody>
          <a:bodyPr wrap="square" lIns="0" tIns="0" rIns="0" bIns="0" anchor="t">
            <a:spAutoFit/>
          </a:bodyPr>
          <a:lstStyle/>
          <a:p>
            <a:pPr algn="l"/>
            <a:r>
              <a:rPr sz="750" b="1" i="0">
                <a:solidFill>
                  <a:srgbClr val="5BC8F5"/>
                </a:solidFill>
                <a:latin typeface="Consolas"/>
              </a:rPr>
              <a:t>SIDEBAR</a:t>
            </a:r>
            <a:r>
              <a:rPr sz="750" b="0" i="0">
                <a:solidFill>
                  <a:srgbClr val="93A79A"/>
                </a:solidFill>
                <a:latin typeface="Consolas"/>
              </a:rPr>
              <a:t>  ›  Product → Lookback / Basket</a:t>
            </a:r>
          </a:p>
        </p:txBody>
      </p:sp>
      <p:sp>
        <p:nvSpPr>
          <p:cNvPr id="36" name="TextBox 35"/>
          <p:cNvSpPr txBox="1"/>
          <p:nvPr/>
        </p:nvSpPr>
        <p:spPr>
          <a:xfrm>
            <a:off x="566928" y="450342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Lookback 17.2628 ± 0.037 (closed form 17.2168). Basket, ρ 0.5: 9.1928 ± 0.037.</a:t>
            </a:r>
          </a:p>
        </p:txBody>
      </p:sp>
      <p:sp>
        <p:nvSpPr>
          <p:cNvPr id="37" name="TextBox 36"/>
          <p:cNvSpPr txBox="1"/>
          <p:nvPr/>
        </p:nvSpPr>
        <p:spPr>
          <a:xfrm>
            <a:off x="3703320" y="1344168"/>
            <a:ext cx="5029200"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price strip</a:t>
            </a:r>
          </a:p>
        </p:txBody>
      </p:sp>
      <p:pic>
        <p:nvPicPr>
          <p:cNvPr id="38" name="Picture 37" descr="asian_strip.png"/>
          <p:cNvPicPr>
            <a:picLocks noChangeAspect="1"/>
          </p:cNvPicPr>
          <p:nvPr/>
        </p:nvPicPr>
        <p:blipFill>
          <a:blip r:embed="rId3"/>
          <a:stretch>
            <a:fillRect/>
          </a:stretch>
        </p:blipFill>
        <p:spPr>
          <a:xfrm>
            <a:off x="3703320" y="1517904"/>
            <a:ext cx="5029200" cy="834988"/>
          </a:xfrm>
          <a:prstGeom prst="rect">
            <a:avLst/>
          </a:prstGeom>
        </p:spPr>
      </p:pic>
      <p:sp>
        <p:nvSpPr>
          <p:cNvPr id="39" name="Rectangle 38"/>
          <p:cNvSpPr/>
          <p:nvPr/>
        </p:nvSpPr>
        <p:spPr>
          <a:xfrm>
            <a:off x="3703320" y="1517904"/>
            <a:ext cx="5029200" cy="834988"/>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03320" y="2432304"/>
            <a:ext cx="2468880" cy="146304"/>
          </a:xfrm>
          <a:prstGeom prst="rect">
            <a:avLst/>
          </a:prstGeom>
          <a:noFill/>
        </p:spPr>
        <p:txBody>
          <a:bodyPr wrap="square" lIns="0" tIns="0" rIns="0" bIns="0" anchor="t">
            <a:spAutoFit/>
          </a:bodyPr>
          <a:lstStyle/>
          <a:p>
            <a:pPr algn="l"/>
            <a:r>
              <a:rPr sz="750" b="1" i="0">
                <a:solidFill>
                  <a:srgbClr val="3DDC84"/>
                </a:solidFill>
                <a:latin typeface="Consolas"/>
              </a:rPr>
              <a:t>MONTE CARLO</a:t>
            </a:r>
            <a:r>
              <a:rPr sz="750" b="0" i="0">
                <a:solidFill>
                  <a:srgbClr val="93A79A"/>
                </a:solidFill>
                <a:latin typeface="Consolas"/>
              </a:rPr>
              <a:t>  ›  Convergence with 95% bands</a:t>
            </a:r>
          </a:p>
        </p:txBody>
      </p:sp>
      <p:pic>
        <p:nvPicPr>
          <p:cNvPr id="41" name="Picture 40" descr="asian_montecarlo_conv.png"/>
          <p:cNvPicPr>
            <a:picLocks noChangeAspect="1"/>
          </p:cNvPicPr>
          <p:nvPr/>
        </p:nvPicPr>
        <p:blipFill>
          <a:blip r:embed="rId4"/>
          <a:stretch>
            <a:fillRect/>
          </a:stretch>
        </p:blipFill>
        <p:spPr>
          <a:xfrm>
            <a:off x="3703320" y="2606040"/>
            <a:ext cx="2243011" cy="2176272"/>
          </a:xfrm>
          <a:prstGeom prst="rect">
            <a:avLst/>
          </a:prstGeom>
        </p:spPr>
      </p:pic>
      <p:sp>
        <p:nvSpPr>
          <p:cNvPr id="42" name="Rectangle 41"/>
          <p:cNvSpPr/>
          <p:nvPr/>
        </p:nvSpPr>
        <p:spPr>
          <a:xfrm>
            <a:off x="3703320" y="2606040"/>
            <a:ext cx="2243011" cy="2176272"/>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63640" y="2432304"/>
            <a:ext cx="2468880" cy="146304"/>
          </a:xfrm>
          <a:prstGeom prst="rect">
            <a:avLst/>
          </a:prstGeom>
          <a:noFill/>
        </p:spPr>
        <p:txBody>
          <a:bodyPr wrap="square" lIns="0" tIns="0" rIns="0" bIns="0" anchor="t">
            <a:spAutoFit/>
          </a:bodyPr>
          <a:lstStyle/>
          <a:p>
            <a:pPr algn="l"/>
            <a:r>
              <a:rPr sz="750" b="1" i="0">
                <a:solidFill>
                  <a:srgbClr val="3DDC84"/>
                </a:solidFill>
                <a:latin typeface="Consolas"/>
              </a:rPr>
              <a:t>MONTE CARLO</a:t>
            </a:r>
            <a:r>
              <a:rPr sz="750" b="0" i="0">
                <a:solidFill>
                  <a:srgbClr val="93A79A"/>
                </a:solidFill>
                <a:latin typeface="Consolas"/>
              </a:rPr>
              <a:t>  ›  Variance reduction</a:t>
            </a:r>
          </a:p>
        </p:txBody>
      </p:sp>
      <p:pic>
        <p:nvPicPr>
          <p:cNvPr id="44" name="Picture 43" descr="asian_montecarlo_red.png"/>
          <p:cNvPicPr>
            <a:picLocks noChangeAspect="1"/>
          </p:cNvPicPr>
          <p:nvPr/>
        </p:nvPicPr>
        <p:blipFill>
          <a:blip r:embed="rId5"/>
          <a:stretch>
            <a:fillRect/>
          </a:stretch>
        </p:blipFill>
        <p:spPr>
          <a:xfrm>
            <a:off x="6263640" y="2606040"/>
            <a:ext cx="2243011" cy="2176272"/>
          </a:xfrm>
          <a:prstGeom prst="rect">
            <a:avLst/>
          </a:prstGeom>
        </p:spPr>
      </p:pic>
      <p:sp>
        <p:nvSpPr>
          <p:cNvPr id="45" name="Rectangle 44"/>
          <p:cNvSpPr/>
          <p:nvPr/>
        </p:nvSpPr>
        <p:spPr>
          <a:xfrm>
            <a:off x="6263640" y="2606040"/>
            <a:ext cx="2243011" cy="2176272"/>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26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6 / LONGSTAFF_SCHWARTZ</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Longstaff-Schwartz: early exercise inside a simulation.</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reads about 0.2 to 0.5% low; slower than a tree for one stock.</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A plain simulation cannot decide when to exercise. This method estimates, at each date, whether exercising beats waiting by fitting a curve through the simulated outcomes. Use it for American options where a tree is impractical.</a:t>
            </a:r>
          </a:p>
        </p:txBody>
      </p:sp>
      <p:sp>
        <p:nvSpPr>
          <p:cNvPr id="10" name="Rectangle 9"/>
          <p:cNvSpPr/>
          <p:nvPr/>
        </p:nvSpPr>
        <p:spPr>
          <a:xfrm>
            <a:off x="566928" y="1344168"/>
            <a:ext cx="2971800" cy="141732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Option type</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1" i="0">
                <a:solidFill>
                  <a:srgbClr val="FFB020"/>
                </a:solidFill>
                <a:latin typeface="Consolas"/>
              </a:rPr>
              <a:t>Put</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Exercise</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1" i="0">
                <a:solidFill>
                  <a:srgbClr val="FFB020"/>
                </a:solidFill>
                <a:latin typeface="Consolas"/>
              </a:rPr>
              <a:t>American</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1" i="0">
                <a:solidFill>
                  <a:srgbClr val="FFB020"/>
                </a:solidFill>
                <a:latin typeface="Consolas"/>
              </a:rPr>
              <a:t>Longstaff-Schwartz MC</a:t>
            </a:r>
          </a:p>
        </p:txBody>
      </p:sp>
      <p:sp>
        <p:nvSpPr>
          <p:cNvPr id="18" name="TextBox 17"/>
          <p:cNvSpPr txBox="1"/>
          <p:nvPr/>
        </p:nvSpPr>
        <p:spPr>
          <a:xfrm>
            <a:off x="676656" y="2139696"/>
            <a:ext cx="1143000" cy="173736"/>
          </a:xfrm>
          <a:prstGeom prst="rect">
            <a:avLst/>
          </a:prstGeom>
          <a:noFill/>
        </p:spPr>
        <p:txBody>
          <a:bodyPr wrap="square" lIns="0" tIns="0" rIns="0" bIns="0" anchor="ctr">
            <a:spAutoFit/>
          </a:bodyPr>
          <a:lstStyle/>
          <a:p>
            <a:pPr algn="l"/>
            <a:r>
              <a:rPr sz="850" b="0" i="0">
                <a:solidFill>
                  <a:srgbClr val="93A79A"/>
                </a:solidFill>
                <a:latin typeface="Arial"/>
              </a:rPr>
              <a:t>MC paths</a:t>
            </a:r>
          </a:p>
        </p:txBody>
      </p:sp>
      <p:sp>
        <p:nvSpPr>
          <p:cNvPr id="19" name="TextBox 18"/>
          <p:cNvSpPr txBox="1"/>
          <p:nvPr/>
        </p:nvSpPr>
        <p:spPr>
          <a:xfrm>
            <a:off x="1783080" y="2139696"/>
            <a:ext cx="1719072" cy="173736"/>
          </a:xfrm>
          <a:prstGeom prst="rect">
            <a:avLst/>
          </a:prstGeom>
          <a:noFill/>
        </p:spPr>
        <p:txBody>
          <a:bodyPr wrap="square" lIns="0" tIns="0" rIns="0" bIns="0" anchor="ctr">
            <a:spAutoFit/>
          </a:bodyPr>
          <a:lstStyle/>
          <a:p>
            <a:pPr algn="l"/>
            <a:r>
              <a:rPr sz="850" b="0" i="0">
                <a:solidFill>
                  <a:srgbClr val="E8F2EA"/>
                </a:solidFill>
                <a:latin typeface="Consolas"/>
              </a:rPr>
              <a:t>50,000</a:t>
            </a:r>
          </a:p>
        </p:txBody>
      </p:sp>
      <p:sp>
        <p:nvSpPr>
          <p:cNvPr id="20" name="TextBox 19"/>
          <p:cNvSpPr txBox="1"/>
          <p:nvPr/>
        </p:nvSpPr>
        <p:spPr>
          <a:xfrm>
            <a:off x="676656" y="2322576"/>
            <a:ext cx="1143000" cy="173736"/>
          </a:xfrm>
          <a:prstGeom prst="rect">
            <a:avLst/>
          </a:prstGeom>
          <a:noFill/>
        </p:spPr>
        <p:txBody>
          <a:bodyPr wrap="square" lIns="0" tIns="0" rIns="0" bIns="0" anchor="ctr">
            <a:spAutoFit/>
          </a:bodyPr>
          <a:lstStyle/>
          <a:p>
            <a:pPr algn="l"/>
            <a:r>
              <a:rPr sz="850" b="0" i="0">
                <a:solidFill>
                  <a:srgbClr val="93A79A"/>
                </a:solidFill>
                <a:latin typeface="Arial"/>
              </a:rPr>
              <a:t>Exercise dates</a:t>
            </a:r>
          </a:p>
        </p:txBody>
      </p:sp>
      <p:sp>
        <p:nvSpPr>
          <p:cNvPr id="21" name="TextBox 20"/>
          <p:cNvSpPr txBox="1"/>
          <p:nvPr/>
        </p:nvSpPr>
        <p:spPr>
          <a:xfrm>
            <a:off x="1783080" y="2322576"/>
            <a:ext cx="1719072" cy="173736"/>
          </a:xfrm>
          <a:prstGeom prst="rect">
            <a:avLst/>
          </a:prstGeom>
          <a:noFill/>
        </p:spPr>
        <p:txBody>
          <a:bodyPr wrap="square" lIns="0" tIns="0" rIns="0" bIns="0" anchor="ctr">
            <a:spAutoFit/>
          </a:bodyPr>
          <a:lstStyle/>
          <a:p>
            <a:pPr algn="l"/>
            <a:r>
              <a:rPr sz="850" b="1" i="0">
                <a:solidFill>
                  <a:srgbClr val="FFB020"/>
                </a:solidFill>
                <a:latin typeface="Consolas"/>
              </a:rPr>
              <a:t>50</a:t>
            </a:r>
          </a:p>
        </p:txBody>
      </p:sp>
      <p:sp>
        <p:nvSpPr>
          <p:cNvPr id="22" name="Rectangle 21"/>
          <p:cNvSpPr/>
          <p:nvPr/>
        </p:nvSpPr>
        <p:spPr>
          <a:xfrm>
            <a:off x="676656" y="2532888"/>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 y="2560320"/>
            <a:ext cx="2788920" cy="164592"/>
          </a:xfrm>
          <a:prstGeom prst="rect">
            <a:avLst/>
          </a:prstGeom>
          <a:noFill/>
        </p:spPr>
        <p:txBody>
          <a:bodyPr wrap="square" lIns="0" tIns="0" rIns="0" bIns="0" anchor="ctr">
            <a:spAutoFit/>
          </a:bodyPr>
          <a:lstStyle/>
          <a:p>
            <a:pPr algn="l"/>
            <a:r>
              <a:rPr sz="750" b="0" i="0">
                <a:solidFill>
                  <a:srgbClr val="93A79A"/>
                </a:solidFill>
                <a:latin typeface="Consolas"/>
              </a:rPr>
              <a:t>S 100 · K 100 · 365 d · σ 20% · r 5% · q 0%</a:t>
            </a:r>
          </a:p>
        </p:txBody>
      </p:sp>
      <p:sp>
        <p:nvSpPr>
          <p:cNvPr id="24" name="TextBox 23"/>
          <p:cNvSpPr txBox="1"/>
          <p:nvPr/>
        </p:nvSpPr>
        <p:spPr>
          <a:xfrm>
            <a:off x="566928" y="285292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5" name="Rectangle 24"/>
          <p:cNvSpPr/>
          <p:nvPr/>
        </p:nvSpPr>
        <p:spPr>
          <a:xfrm>
            <a:off x="566928" y="303580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306781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a:t>
            </a:r>
          </a:p>
        </p:txBody>
      </p:sp>
      <p:sp>
        <p:nvSpPr>
          <p:cNvPr id="27" name="TextBox 26"/>
          <p:cNvSpPr txBox="1"/>
          <p:nvPr/>
        </p:nvSpPr>
        <p:spPr>
          <a:xfrm>
            <a:off x="566928" y="320040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6.0755 ± 0.0165, 95% interval 6.043 to 6.108.</a:t>
            </a:r>
          </a:p>
        </p:txBody>
      </p:sp>
      <p:sp>
        <p:nvSpPr>
          <p:cNvPr id="28" name="Rectangle 27"/>
          <p:cNvSpPr/>
          <p:nvPr/>
        </p:nvSpPr>
        <p:spPr>
          <a:xfrm>
            <a:off x="566928" y="347014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350215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Same contract, every engine</a:t>
            </a:r>
          </a:p>
        </p:txBody>
      </p:sp>
      <p:sp>
        <p:nvSpPr>
          <p:cNvPr id="30" name="TextBox 29"/>
          <p:cNvSpPr txBox="1"/>
          <p:nvPr/>
        </p:nvSpPr>
        <p:spPr>
          <a:xfrm>
            <a:off x="566928" y="363474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Leisen-Reimer 6.0888 is the reference; the simulation is 0.0133 below it.</a:t>
            </a:r>
          </a:p>
        </p:txBody>
      </p:sp>
      <p:sp>
        <p:nvSpPr>
          <p:cNvPr id="31" name="Rectangle 30"/>
          <p:cNvSpPr/>
          <p:nvPr/>
        </p:nvSpPr>
        <p:spPr>
          <a:xfrm>
            <a:off x="566928" y="3904487"/>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3936491"/>
            <a:ext cx="2971800" cy="128016"/>
          </a:xfrm>
          <a:prstGeom prst="rect">
            <a:avLst/>
          </a:prstGeom>
          <a:noFill/>
        </p:spPr>
        <p:txBody>
          <a:bodyPr wrap="square" lIns="0" tIns="0" rIns="0" bIns="0" anchor="t">
            <a:spAutoFit/>
          </a:bodyPr>
          <a:lstStyle/>
          <a:p>
            <a:pPr algn="l"/>
            <a:r>
              <a:rPr sz="750" b="1" i="0">
                <a:solidFill>
                  <a:srgbClr val="5BC8F5"/>
                </a:solidFill>
                <a:latin typeface="Consolas"/>
              </a:rPr>
              <a:t>MONTE CARLO</a:t>
            </a:r>
            <a:r>
              <a:rPr sz="750" b="0" i="0">
                <a:solidFill>
                  <a:srgbClr val="93A79A"/>
                </a:solidFill>
                <a:latin typeface="Consolas"/>
              </a:rPr>
              <a:t>  ›  Early-exercise boundary</a:t>
            </a:r>
          </a:p>
        </p:txBody>
      </p:sp>
      <p:sp>
        <p:nvSpPr>
          <p:cNvPr id="33" name="TextBox 32"/>
          <p:cNvSpPr txBox="1"/>
          <p:nvPr/>
        </p:nvSpPr>
        <p:spPr>
          <a:xfrm>
            <a:off x="566928" y="4069079"/>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The fitted rule plotted against the tree's boundary, date by date.</a:t>
            </a:r>
          </a:p>
        </p:txBody>
      </p:sp>
      <p:sp>
        <p:nvSpPr>
          <p:cNvPr id="34" name="Rectangle 33"/>
          <p:cNvSpPr/>
          <p:nvPr/>
        </p:nvSpPr>
        <p:spPr>
          <a:xfrm>
            <a:off x="566928" y="433882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4370832"/>
            <a:ext cx="2971800" cy="128016"/>
          </a:xfrm>
          <a:prstGeom prst="rect">
            <a:avLst/>
          </a:prstGeom>
          <a:noFill/>
        </p:spPr>
        <p:txBody>
          <a:bodyPr wrap="square" lIns="0" tIns="0" rIns="0" bIns="0" anchor="t">
            <a:spAutoFit/>
          </a:bodyPr>
          <a:lstStyle/>
          <a:p>
            <a:pPr algn="l"/>
            <a:r>
              <a:rPr sz="750" b="1" i="0">
                <a:solidFill>
                  <a:srgbClr val="5BC8F5"/>
                </a:solidFill>
                <a:latin typeface="Consolas"/>
              </a:rPr>
              <a:t>MONTE CARLO</a:t>
            </a:r>
            <a:r>
              <a:rPr sz="750" b="0" i="0">
                <a:solidFill>
                  <a:srgbClr val="93A79A"/>
                </a:solidFill>
                <a:latin typeface="Consolas"/>
              </a:rPr>
              <a:t>  ›  In-sample vs out-of-sample</a:t>
            </a:r>
          </a:p>
        </p:txBody>
      </p:sp>
      <p:sp>
        <p:nvSpPr>
          <p:cNvPr id="36" name="TextBox 35"/>
          <p:cNvSpPr txBox="1"/>
          <p:nvPr/>
        </p:nvSpPr>
        <p:spPr>
          <a:xfrm>
            <a:off x="566928" y="450342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Same paths 6.0543, fresh paths 6.0612: the gap is inside the error bar. Tree 6.0902.</a:t>
            </a:r>
          </a:p>
        </p:txBody>
      </p:sp>
      <p:sp>
        <p:nvSpPr>
          <p:cNvPr id="37" name="TextBox 36"/>
          <p:cNvSpPr txBox="1"/>
          <p:nvPr/>
        </p:nvSpPr>
        <p:spPr>
          <a:xfrm>
            <a:off x="3703320" y="1344168"/>
            <a:ext cx="5029200"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price strip</a:t>
            </a:r>
          </a:p>
        </p:txBody>
      </p:sp>
      <p:pic>
        <p:nvPicPr>
          <p:cNvPr id="38" name="Picture 37" descr="lsmc_strip.png"/>
          <p:cNvPicPr>
            <a:picLocks noChangeAspect="1"/>
          </p:cNvPicPr>
          <p:nvPr/>
        </p:nvPicPr>
        <p:blipFill>
          <a:blip r:embed="rId3"/>
          <a:stretch>
            <a:fillRect/>
          </a:stretch>
        </p:blipFill>
        <p:spPr>
          <a:xfrm>
            <a:off x="3703320" y="1517904"/>
            <a:ext cx="4640118" cy="850392"/>
          </a:xfrm>
          <a:prstGeom prst="rect">
            <a:avLst/>
          </a:prstGeom>
        </p:spPr>
      </p:pic>
      <p:sp>
        <p:nvSpPr>
          <p:cNvPr id="39" name="Rectangle 38"/>
          <p:cNvSpPr/>
          <p:nvPr/>
        </p:nvSpPr>
        <p:spPr>
          <a:xfrm>
            <a:off x="3703320" y="1517904"/>
            <a:ext cx="4640118" cy="850392"/>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03320" y="2432304"/>
            <a:ext cx="2468880" cy="146304"/>
          </a:xfrm>
          <a:prstGeom prst="rect">
            <a:avLst/>
          </a:prstGeom>
          <a:noFill/>
        </p:spPr>
        <p:txBody>
          <a:bodyPr wrap="square" lIns="0" tIns="0" rIns="0" bIns="0" anchor="t">
            <a:spAutoFit/>
          </a:bodyPr>
          <a:lstStyle/>
          <a:p>
            <a:pPr algn="l"/>
            <a:r>
              <a:rPr sz="750" b="1" i="0">
                <a:solidFill>
                  <a:srgbClr val="3DDC84"/>
                </a:solidFill>
                <a:latin typeface="Consolas"/>
              </a:rPr>
              <a:t>MONTE CARLO</a:t>
            </a:r>
            <a:r>
              <a:rPr sz="750" b="0" i="0">
                <a:solidFill>
                  <a:srgbClr val="93A79A"/>
                </a:solidFill>
                <a:latin typeface="Consolas"/>
              </a:rPr>
              <a:t>  ›  Early-exercise boundary</a:t>
            </a:r>
          </a:p>
        </p:txBody>
      </p:sp>
      <p:pic>
        <p:nvPicPr>
          <p:cNvPr id="41" name="Picture 40" descr="lsmc_montecarlo_boundary.png"/>
          <p:cNvPicPr>
            <a:picLocks noChangeAspect="1"/>
          </p:cNvPicPr>
          <p:nvPr/>
        </p:nvPicPr>
        <p:blipFill>
          <a:blip r:embed="rId4"/>
          <a:stretch>
            <a:fillRect/>
          </a:stretch>
        </p:blipFill>
        <p:spPr>
          <a:xfrm>
            <a:off x="3703320" y="2606040"/>
            <a:ext cx="2468880" cy="2123492"/>
          </a:xfrm>
          <a:prstGeom prst="rect">
            <a:avLst/>
          </a:prstGeom>
        </p:spPr>
      </p:pic>
      <p:sp>
        <p:nvSpPr>
          <p:cNvPr id="42" name="Rectangle 41"/>
          <p:cNvSpPr/>
          <p:nvPr/>
        </p:nvSpPr>
        <p:spPr>
          <a:xfrm>
            <a:off x="3703320" y="2606040"/>
            <a:ext cx="2468880" cy="2123492"/>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63640" y="2432304"/>
            <a:ext cx="2468880" cy="146304"/>
          </a:xfrm>
          <a:prstGeom prst="rect">
            <a:avLst/>
          </a:prstGeom>
          <a:noFill/>
        </p:spPr>
        <p:txBody>
          <a:bodyPr wrap="square" lIns="0" tIns="0" rIns="0" bIns="0" anchor="t">
            <a:spAutoFit/>
          </a:bodyPr>
          <a:lstStyle/>
          <a:p>
            <a:pPr algn="l"/>
            <a:r>
              <a:rPr sz="750" b="1" i="0">
                <a:solidFill>
                  <a:srgbClr val="3DDC84"/>
                </a:solidFill>
                <a:latin typeface="Consolas"/>
              </a:rPr>
              <a:t>MONTE CARLO</a:t>
            </a:r>
            <a:r>
              <a:rPr sz="750" b="0" i="0">
                <a:solidFill>
                  <a:srgbClr val="93A79A"/>
                </a:solidFill>
                <a:latin typeface="Consolas"/>
              </a:rPr>
              <a:t>  ›  Convergence with 95% bands</a:t>
            </a:r>
          </a:p>
        </p:txBody>
      </p:sp>
      <p:pic>
        <p:nvPicPr>
          <p:cNvPr id="44" name="Picture 43" descr="lsmc_montecarlo_conv.png"/>
          <p:cNvPicPr>
            <a:picLocks noChangeAspect="1"/>
          </p:cNvPicPr>
          <p:nvPr/>
        </p:nvPicPr>
        <p:blipFill>
          <a:blip r:embed="rId5"/>
          <a:stretch>
            <a:fillRect/>
          </a:stretch>
        </p:blipFill>
        <p:spPr>
          <a:xfrm>
            <a:off x="6263640" y="2606040"/>
            <a:ext cx="2240109" cy="2176272"/>
          </a:xfrm>
          <a:prstGeom prst="rect">
            <a:avLst/>
          </a:prstGeom>
        </p:spPr>
      </p:pic>
      <p:sp>
        <p:nvSpPr>
          <p:cNvPr id="45" name="Rectangle 44"/>
          <p:cNvSpPr/>
          <p:nvPr/>
        </p:nvSpPr>
        <p:spPr>
          <a:xfrm>
            <a:off x="6263640" y="2606040"/>
            <a:ext cx="2240109" cy="2176272"/>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27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7 / FINITE_DIFFERENCE_PDE</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Barrier PDE: the barrier is a line on the grid.</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price is accurate; gamma very close to the barrier is not.</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The pricing equation is solved on a grid of stock prices and dates. A knock-out option is worth zero once the stock touches the barrier, so the grid simply ends there. The example is a call cancelled if the stock reaches 120.</a:t>
            </a:r>
          </a:p>
        </p:txBody>
      </p:sp>
      <p:sp>
        <p:nvSpPr>
          <p:cNvPr id="10" name="Rectangle 9"/>
          <p:cNvSpPr/>
          <p:nvPr/>
        </p:nvSpPr>
        <p:spPr>
          <a:xfrm>
            <a:off x="566928" y="1344168"/>
            <a:ext cx="2971800" cy="141732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Product</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1" i="0">
                <a:solidFill>
                  <a:srgbClr val="FFB020"/>
                </a:solidFill>
                <a:latin typeface="Consolas"/>
              </a:rPr>
              <a:t>Barrier</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1" i="0">
                <a:solidFill>
                  <a:srgbClr val="FFB020"/>
                </a:solidFill>
                <a:latin typeface="Consolas"/>
              </a:rPr>
              <a:t>Finite-difference PDE</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Barrier · Type</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1" i="0">
                <a:solidFill>
                  <a:srgbClr val="FFB020"/>
                </a:solidFill>
                <a:latin typeface="Consolas"/>
              </a:rPr>
              <a:t>up-and-out</a:t>
            </a:r>
          </a:p>
        </p:txBody>
      </p:sp>
      <p:sp>
        <p:nvSpPr>
          <p:cNvPr id="18" name="TextBox 17"/>
          <p:cNvSpPr txBox="1"/>
          <p:nvPr/>
        </p:nvSpPr>
        <p:spPr>
          <a:xfrm>
            <a:off x="676656" y="2139696"/>
            <a:ext cx="1143000" cy="173736"/>
          </a:xfrm>
          <a:prstGeom prst="rect">
            <a:avLst/>
          </a:prstGeom>
          <a:noFill/>
        </p:spPr>
        <p:txBody>
          <a:bodyPr wrap="square" lIns="0" tIns="0" rIns="0" bIns="0" anchor="ctr">
            <a:spAutoFit/>
          </a:bodyPr>
          <a:lstStyle/>
          <a:p>
            <a:pPr algn="l"/>
            <a:r>
              <a:rPr sz="850" b="0" i="0">
                <a:solidFill>
                  <a:srgbClr val="93A79A"/>
                </a:solidFill>
                <a:latin typeface="Arial"/>
              </a:rPr>
              <a:t>Barrier · Level H</a:t>
            </a:r>
          </a:p>
        </p:txBody>
      </p:sp>
      <p:sp>
        <p:nvSpPr>
          <p:cNvPr id="19" name="TextBox 18"/>
          <p:cNvSpPr txBox="1"/>
          <p:nvPr/>
        </p:nvSpPr>
        <p:spPr>
          <a:xfrm>
            <a:off x="1783080" y="2139696"/>
            <a:ext cx="1719072" cy="173736"/>
          </a:xfrm>
          <a:prstGeom prst="rect">
            <a:avLst/>
          </a:prstGeom>
          <a:noFill/>
        </p:spPr>
        <p:txBody>
          <a:bodyPr wrap="square" lIns="0" tIns="0" rIns="0" bIns="0" anchor="ctr">
            <a:spAutoFit/>
          </a:bodyPr>
          <a:lstStyle/>
          <a:p>
            <a:pPr algn="l"/>
            <a:r>
              <a:rPr sz="850" b="1" i="0">
                <a:solidFill>
                  <a:srgbClr val="FFB020"/>
                </a:solidFill>
                <a:latin typeface="Consolas"/>
              </a:rPr>
              <a:t>120.00</a:t>
            </a:r>
          </a:p>
        </p:txBody>
      </p:sp>
      <p:sp>
        <p:nvSpPr>
          <p:cNvPr id="20" name="TextBox 19"/>
          <p:cNvSpPr txBox="1"/>
          <p:nvPr/>
        </p:nvSpPr>
        <p:spPr>
          <a:xfrm>
            <a:off x="676656" y="2322576"/>
            <a:ext cx="1143000" cy="173736"/>
          </a:xfrm>
          <a:prstGeom prst="rect">
            <a:avLst/>
          </a:prstGeom>
          <a:noFill/>
        </p:spPr>
        <p:txBody>
          <a:bodyPr wrap="square" lIns="0" tIns="0" rIns="0" bIns="0" anchor="ctr">
            <a:spAutoFit/>
          </a:bodyPr>
          <a:lstStyle/>
          <a:p>
            <a:pPr algn="l"/>
            <a:r>
              <a:rPr sz="850" b="0" i="0">
                <a:solidFill>
                  <a:srgbClr val="93A79A"/>
                </a:solidFill>
                <a:latin typeface="Arial"/>
              </a:rPr>
              <a:t>Option type</a:t>
            </a:r>
          </a:p>
        </p:txBody>
      </p:sp>
      <p:sp>
        <p:nvSpPr>
          <p:cNvPr id="21" name="TextBox 20"/>
          <p:cNvSpPr txBox="1"/>
          <p:nvPr/>
        </p:nvSpPr>
        <p:spPr>
          <a:xfrm>
            <a:off x="1783080" y="2322576"/>
            <a:ext cx="1719072" cy="173736"/>
          </a:xfrm>
          <a:prstGeom prst="rect">
            <a:avLst/>
          </a:prstGeom>
          <a:noFill/>
        </p:spPr>
        <p:txBody>
          <a:bodyPr wrap="square" lIns="0" tIns="0" rIns="0" bIns="0" anchor="ctr">
            <a:spAutoFit/>
          </a:bodyPr>
          <a:lstStyle/>
          <a:p>
            <a:pPr algn="l"/>
            <a:r>
              <a:rPr sz="850" b="0" i="0">
                <a:solidFill>
                  <a:srgbClr val="E8F2EA"/>
                </a:solidFill>
                <a:latin typeface="Consolas"/>
              </a:rPr>
              <a:t>Call</a:t>
            </a:r>
          </a:p>
        </p:txBody>
      </p:sp>
      <p:sp>
        <p:nvSpPr>
          <p:cNvPr id="22" name="Rectangle 21"/>
          <p:cNvSpPr/>
          <p:nvPr/>
        </p:nvSpPr>
        <p:spPr>
          <a:xfrm>
            <a:off x="676656" y="2532888"/>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 y="2560320"/>
            <a:ext cx="2788920" cy="164592"/>
          </a:xfrm>
          <a:prstGeom prst="rect">
            <a:avLst/>
          </a:prstGeom>
          <a:noFill/>
        </p:spPr>
        <p:txBody>
          <a:bodyPr wrap="square" lIns="0" tIns="0" rIns="0" bIns="0" anchor="ctr">
            <a:spAutoFit/>
          </a:bodyPr>
          <a:lstStyle/>
          <a:p>
            <a:pPr algn="l"/>
            <a:r>
              <a:rPr sz="750" b="0" i="0">
                <a:solidFill>
                  <a:srgbClr val="93A79A"/>
                </a:solidFill>
                <a:latin typeface="Consolas"/>
              </a:rPr>
              <a:t>S 100 · K 100 · 365 d · σ 20% · r 5% · q 0%</a:t>
            </a:r>
          </a:p>
        </p:txBody>
      </p:sp>
      <p:sp>
        <p:nvSpPr>
          <p:cNvPr id="24" name="TextBox 23"/>
          <p:cNvSpPr txBox="1"/>
          <p:nvPr/>
        </p:nvSpPr>
        <p:spPr>
          <a:xfrm>
            <a:off x="566928" y="285292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5" name="Rectangle 24"/>
          <p:cNvSpPr/>
          <p:nvPr/>
        </p:nvSpPr>
        <p:spPr>
          <a:xfrm>
            <a:off x="566928" y="303580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306781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a:t>
            </a:r>
          </a:p>
        </p:txBody>
      </p:sp>
      <p:sp>
        <p:nvSpPr>
          <p:cNvPr id="27" name="TextBox 26"/>
          <p:cNvSpPr txBox="1"/>
          <p:nvPr/>
        </p:nvSpPr>
        <p:spPr>
          <a:xfrm>
            <a:off x="566928" y="320040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1.1756 on a 240 × 300 grid: 11% of the 10.4506 vanilla call.</a:t>
            </a:r>
          </a:p>
        </p:txBody>
      </p:sp>
      <p:sp>
        <p:nvSpPr>
          <p:cNvPr id="28" name="Rectangle 27"/>
          <p:cNvSpPr/>
          <p:nvPr/>
        </p:nvSpPr>
        <p:spPr>
          <a:xfrm>
            <a:off x="566928" y="347014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350215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 Greeks</a:t>
            </a:r>
          </a:p>
        </p:txBody>
      </p:sp>
      <p:sp>
        <p:nvSpPr>
          <p:cNvPr id="30" name="TextBox 29"/>
          <p:cNvSpPr txBox="1"/>
          <p:nvPr/>
        </p:nvSpPr>
        <p:spPr>
          <a:xfrm>
            <a:off x="566928" y="363474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Delta −0.0237, vega −0.1328, theta +0.0035: all opposite in sign to a plain call.</a:t>
            </a:r>
          </a:p>
        </p:txBody>
      </p:sp>
      <p:sp>
        <p:nvSpPr>
          <p:cNvPr id="31" name="Rectangle 30"/>
          <p:cNvSpPr/>
          <p:nvPr/>
        </p:nvSpPr>
        <p:spPr>
          <a:xfrm>
            <a:off x="566928" y="3904487"/>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3936491"/>
            <a:ext cx="2971800" cy="128016"/>
          </a:xfrm>
          <a:prstGeom prst="rect">
            <a:avLst/>
          </a:prstGeom>
          <a:noFill/>
        </p:spPr>
        <p:txBody>
          <a:bodyPr wrap="square" lIns="0" tIns="0" rIns="0" bIns="0" anchor="t">
            <a:spAutoFit/>
          </a:bodyPr>
          <a:lstStyle/>
          <a:p>
            <a:pPr algn="l"/>
            <a:r>
              <a:rPr sz="750" b="1" i="0">
                <a:solidFill>
                  <a:srgbClr val="5BC8F5"/>
                </a:solidFill>
                <a:latin typeface="Consolas"/>
              </a:rPr>
              <a:t>BARRIER PDE</a:t>
            </a:r>
            <a:r>
              <a:rPr sz="750" b="0" i="0">
                <a:solidFill>
                  <a:srgbClr val="93A79A"/>
                </a:solidFill>
                <a:latin typeface="Consolas"/>
              </a:rPr>
              <a:t>  ›  Same contract, every engine</a:t>
            </a:r>
          </a:p>
        </p:txBody>
      </p:sp>
      <p:sp>
        <p:nvSpPr>
          <p:cNvPr id="33" name="TextBox 32"/>
          <p:cNvSpPr txBox="1"/>
          <p:nvPr/>
        </p:nvSpPr>
        <p:spPr>
          <a:xfrm>
            <a:off x="566928" y="4069079"/>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Brownian-bridge simulation 1.1683 ± 0.0128. Up-and-in twin 9.2750: the two sum to the 10.4506 vanilla.</a:t>
            </a:r>
          </a:p>
        </p:txBody>
      </p:sp>
      <p:sp>
        <p:nvSpPr>
          <p:cNvPr id="34" name="Rectangle 33"/>
          <p:cNvSpPr/>
          <p:nvPr/>
        </p:nvSpPr>
        <p:spPr>
          <a:xfrm>
            <a:off x="566928" y="433882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4370832"/>
            <a:ext cx="2971800" cy="128016"/>
          </a:xfrm>
          <a:prstGeom prst="rect">
            <a:avLst/>
          </a:prstGeom>
          <a:noFill/>
        </p:spPr>
        <p:txBody>
          <a:bodyPr wrap="square" lIns="0" tIns="0" rIns="0" bIns="0" anchor="t">
            <a:spAutoFit/>
          </a:bodyPr>
          <a:lstStyle/>
          <a:p>
            <a:pPr algn="l"/>
            <a:r>
              <a:rPr sz="750" b="1" i="0">
                <a:solidFill>
                  <a:srgbClr val="5BC8F5"/>
                </a:solidFill>
                <a:latin typeface="Consolas"/>
              </a:rPr>
              <a:t>BARRIER PDE</a:t>
            </a:r>
            <a:r>
              <a:rPr sz="750" b="0" i="0">
                <a:solidFill>
                  <a:srgbClr val="93A79A"/>
                </a:solidFill>
                <a:latin typeface="Consolas"/>
              </a:rPr>
              <a:t>  ›  Value vs barrier level</a:t>
            </a:r>
          </a:p>
        </p:txBody>
      </p:sp>
      <p:sp>
        <p:nvSpPr>
          <p:cNvPr id="36" name="TextBox 35"/>
          <p:cNvSpPr txBox="1"/>
          <p:nvPr/>
        </p:nvSpPr>
        <p:spPr>
          <a:xfrm>
            <a:off x="566928" y="4503420"/>
            <a:ext cx="2971800" cy="260603"/>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Raising H to 160 lifts the price to 8.8962, close to the vanilla.</a:t>
            </a:r>
          </a:p>
        </p:txBody>
      </p:sp>
      <p:sp>
        <p:nvSpPr>
          <p:cNvPr id="37" name="TextBox 36"/>
          <p:cNvSpPr txBox="1"/>
          <p:nvPr/>
        </p:nvSpPr>
        <p:spPr>
          <a:xfrm>
            <a:off x="3703320" y="1344168"/>
            <a:ext cx="5029200" cy="146304"/>
          </a:xfrm>
          <a:prstGeom prst="rect">
            <a:avLst/>
          </a:prstGeom>
          <a:noFill/>
        </p:spPr>
        <p:txBody>
          <a:bodyPr wrap="square" lIns="0" tIns="0" rIns="0" bIns="0" anchor="t">
            <a:spAutoFit/>
          </a:bodyPr>
          <a:lstStyle/>
          <a:p>
            <a:pPr algn="l"/>
            <a:r>
              <a:rPr sz="750" b="1" i="0">
                <a:solidFill>
                  <a:srgbClr val="3DDC84"/>
                </a:solidFill>
                <a:latin typeface="Consolas"/>
              </a:rPr>
              <a:t>PRICER</a:t>
            </a:r>
            <a:r>
              <a:rPr sz="750" b="0" i="0">
                <a:solidFill>
                  <a:srgbClr val="93A79A"/>
                </a:solidFill>
                <a:latin typeface="Consolas"/>
              </a:rPr>
              <a:t>  ›  price strip</a:t>
            </a:r>
          </a:p>
        </p:txBody>
      </p:sp>
      <p:pic>
        <p:nvPicPr>
          <p:cNvPr id="38" name="Picture 37" descr="barrier_strip.png"/>
          <p:cNvPicPr>
            <a:picLocks noChangeAspect="1"/>
          </p:cNvPicPr>
          <p:nvPr/>
        </p:nvPicPr>
        <p:blipFill>
          <a:blip r:embed="rId3"/>
          <a:stretch>
            <a:fillRect/>
          </a:stretch>
        </p:blipFill>
        <p:spPr>
          <a:xfrm>
            <a:off x="3703320" y="1517904"/>
            <a:ext cx="5029200" cy="751489"/>
          </a:xfrm>
          <a:prstGeom prst="rect">
            <a:avLst/>
          </a:prstGeom>
        </p:spPr>
      </p:pic>
      <p:sp>
        <p:nvSpPr>
          <p:cNvPr id="39" name="Rectangle 38"/>
          <p:cNvSpPr/>
          <p:nvPr/>
        </p:nvSpPr>
        <p:spPr>
          <a:xfrm>
            <a:off x="3703320" y="1517904"/>
            <a:ext cx="5029200" cy="751489"/>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03320" y="2377440"/>
            <a:ext cx="5029200" cy="146304"/>
          </a:xfrm>
          <a:prstGeom prst="rect">
            <a:avLst/>
          </a:prstGeom>
          <a:noFill/>
        </p:spPr>
        <p:txBody>
          <a:bodyPr wrap="square" lIns="0" tIns="0" rIns="0" bIns="0" anchor="t">
            <a:spAutoFit/>
          </a:bodyPr>
          <a:lstStyle/>
          <a:p>
            <a:pPr algn="l"/>
            <a:r>
              <a:rPr sz="750" b="1" i="0">
                <a:solidFill>
                  <a:srgbClr val="3DDC84"/>
                </a:solidFill>
                <a:latin typeface="Consolas"/>
              </a:rPr>
              <a:t>BARRIER PDE</a:t>
            </a:r>
            <a:r>
              <a:rPr sz="750" b="0" i="0">
                <a:solidFill>
                  <a:srgbClr val="93A79A"/>
                </a:solidFill>
                <a:latin typeface="Consolas"/>
              </a:rPr>
              <a:t>  ›  Value today vs spot</a:t>
            </a:r>
          </a:p>
        </p:txBody>
      </p:sp>
      <p:pic>
        <p:nvPicPr>
          <p:cNvPr id="41" name="Picture 40" descr="barrier_barrier_value.png"/>
          <p:cNvPicPr>
            <a:picLocks noChangeAspect="1"/>
          </p:cNvPicPr>
          <p:nvPr/>
        </p:nvPicPr>
        <p:blipFill>
          <a:blip r:embed="rId4"/>
          <a:stretch>
            <a:fillRect/>
          </a:stretch>
        </p:blipFill>
        <p:spPr>
          <a:xfrm>
            <a:off x="3703320" y="2551176"/>
            <a:ext cx="5029200" cy="1894781"/>
          </a:xfrm>
          <a:prstGeom prst="rect">
            <a:avLst/>
          </a:prstGeom>
        </p:spPr>
      </p:pic>
      <p:sp>
        <p:nvSpPr>
          <p:cNvPr id="42" name="Rectangle 41"/>
          <p:cNvSpPr/>
          <p:nvPr/>
        </p:nvSpPr>
        <p:spPr>
          <a:xfrm>
            <a:off x="3703320" y="2551176"/>
            <a:ext cx="5029200" cy="1894781"/>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28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8 / WHERE_EVERYTHING_IS</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One sidebar, seven models: what to select and where to read it.</a:t>
            </a:r>
          </a:p>
        </p:txBody>
      </p:sp>
      <p:sp>
        <p:nvSpPr>
          <p:cNvPr id="8" name="TextBox 7"/>
          <p:cNvSpPr txBox="1"/>
          <p:nvPr/>
        </p:nvSpPr>
        <p:spPr>
          <a:xfrm>
            <a:off x="566928" y="905256"/>
            <a:ext cx="8138160" cy="201168"/>
          </a:xfrm>
          <a:prstGeom prst="rect">
            <a:avLst/>
          </a:prstGeom>
          <a:noFill/>
        </p:spPr>
        <p:txBody>
          <a:bodyPr wrap="square" lIns="0" tIns="0" rIns="0" bIns="0" anchor="t">
            <a:spAutoFit/>
          </a:bodyPr>
          <a:lstStyle/>
          <a:p>
            <a:pPr algn="l"/>
            <a:r>
              <a:rPr sz="950" b="0" i="0">
                <a:solidFill>
                  <a:srgbClr val="93A79A"/>
                </a:solidFill>
                <a:latin typeface="Arial"/>
              </a:rPr>
              <a:t>Same market on every row: S = K = 100, 365 days, σ 20%, r 5%, q 0%. Each price is what the Pricer tab shows.</a:t>
            </a:r>
          </a:p>
        </p:txBody>
      </p:sp>
      <p:sp>
        <p:nvSpPr>
          <p:cNvPr id="9" name="TextBox 8"/>
          <p:cNvSpPr txBox="1"/>
          <p:nvPr/>
        </p:nvSpPr>
        <p:spPr>
          <a:xfrm>
            <a:off x="566928" y="1243584"/>
            <a:ext cx="1417320" cy="164592"/>
          </a:xfrm>
          <a:prstGeom prst="rect">
            <a:avLst/>
          </a:prstGeom>
          <a:noFill/>
        </p:spPr>
        <p:txBody>
          <a:bodyPr wrap="square" lIns="0" tIns="0" rIns="0" bIns="0" anchor="t">
            <a:spAutoFit/>
          </a:bodyPr>
          <a:lstStyle/>
          <a:p>
            <a:pPr algn="l"/>
            <a:r>
              <a:rPr sz="750" b="1" i="0">
                <a:solidFill>
                  <a:srgbClr val="93A79A"/>
                </a:solidFill>
                <a:latin typeface="Consolas"/>
              </a:rPr>
              <a:t>MODEL</a:t>
            </a:r>
          </a:p>
        </p:txBody>
      </p:sp>
      <p:sp>
        <p:nvSpPr>
          <p:cNvPr id="10" name="TextBox 9"/>
          <p:cNvSpPr txBox="1"/>
          <p:nvPr/>
        </p:nvSpPr>
        <p:spPr>
          <a:xfrm>
            <a:off x="2011680" y="1243584"/>
            <a:ext cx="2514600" cy="164592"/>
          </a:xfrm>
          <a:prstGeom prst="rect">
            <a:avLst/>
          </a:prstGeom>
          <a:noFill/>
        </p:spPr>
        <p:txBody>
          <a:bodyPr wrap="square" lIns="0" tIns="0" rIns="0" bIns="0" anchor="t">
            <a:spAutoFit/>
          </a:bodyPr>
          <a:lstStyle/>
          <a:p>
            <a:pPr algn="l"/>
            <a:r>
              <a:rPr sz="750" b="1" i="0">
                <a:solidFill>
                  <a:srgbClr val="93A79A"/>
                </a:solidFill>
                <a:latin typeface="Consolas"/>
              </a:rPr>
              <a:t>SIDEBAR SELECTION</a:t>
            </a:r>
          </a:p>
        </p:txBody>
      </p:sp>
      <p:sp>
        <p:nvSpPr>
          <p:cNvPr id="11" name="TextBox 10"/>
          <p:cNvSpPr txBox="1"/>
          <p:nvPr/>
        </p:nvSpPr>
        <p:spPr>
          <a:xfrm>
            <a:off x="4553712" y="1243584"/>
            <a:ext cx="960120" cy="164592"/>
          </a:xfrm>
          <a:prstGeom prst="rect">
            <a:avLst/>
          </a:prstGeom>
          <a:noFill/>
        </p:spPr>
        <p:txBody>
          <a:bodyPr wrap="square" lIns="0" tIns="0" rIns="0" bIns="0" anchor="t">
            <a:spAutoFit/>
          </a:bodyPr>
          <a:lstStyle/>
          <a:p>
            <a:pPr algn="l"/>
            <a:r>
              <a:rPr sz="750" b="1" i="0">
                <a:solidFill>
                  <a:srgbClr val="93A79A"/>
                </a:solidFill>
                <a:latin typeface="Consolas"/>
              </a:rPr>
              <a:t>PRICE</a:t>
            </a:r>
          </a:p>
        </p:txBody>
      </p:sp>
      <p:sp>
        <p:nvSpPr>
          <p:cNvPr id="12" name="TextBox 11"/>
          <p:cNvSpPr txBox="1"/>
          <p:nvPr/>
        </p:nvSpPr>
        <p:spPr>
          <a:xfrm>
            <a:off x="5577840" y="1243584"/>
            <a:ext cx="3154680" cy="164592"/>
          </a:xfrm>
          <a:prstGeom prst="rect">
            <a:avLst/>
          </a:prstGeom>
          <a:noFill/>
        </p:spPr>
        <p:txBody>
          <a:bodyPr wrap="square" lIns="0" tIns="0" rIns="0" bIns="0" anchor="t">
            <a:spAutoFit/>
          </a:bodyPr>
          <a:lstStyle/>
          <a:p>
            <a:pPr algn="l"/>
            <a:r>
              <a:rPr sz="750" b="1" i="0">
                <a:solidFill>
                  <a:srgbClr val="93A79A"/>
                </a:solidFill>
                <a:latin typeface="Consolas"/>
              </a:rPr>
              <a:t>TAB AND SECTION TO SHOW</a:t>
            </a:r>
          </a:p>
        </p:txBody>
      </p:sp>
      <p:sp>
        <p:nvSpPr>
          <p:cNvPr id="13" name="Rectangle 12"/>
          <p:cNvSpPr/>
          <p:nvPr/>
        </p:nvSpPr>
        <p:spPr>
          <a:xfrm>
            <a:off x="566928" y="1435608"/>
            <a:ext cx="8165592" cy="9144"/>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66928" y="1586484"/>
            <a:ext cx="73152" cy="73152"/>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1490472"/>
            <a:ext cx="1280160" cy="265176"/>
          </a:xfrm>
          <a:prstGeom prst="rect">
            <a:avLst/>
          </a:prstGeom>
          <a:noFill/>
        </p:spPr>
        <p:txBody>
          <a:bodyPr wrap="square" lIns="0" tIns="0" rIns="0" bIns="0" anchor="ctr">
            <a:spAutoFit/>
          </a:bodyPr>
          <a:lstStyle/>
          <a:p>
            <a:pPr algn="l"/>
            <a:r>
              <a:rPr sz="950" b="1" i="0">
                <a:solidFill>
                  <a:srgbClr val="E8F2EA"/>
                </a:solidFill>
                <a:latin typeface="Arial"/>
              </a:rPr>
              <a:t>Black-Scholes</a:t>
            </a:r>
          </a:p>
        </p:txBody>
      </p:sp>
      <p:sp>
        <p:nvSpPr>
          <p:cNvPr id="16" name="TextBox 15"/>
          <p:cNvSpPr txBox="1"/>
          <p:nvPr/>
        </p:nvSpPr>
        <p:spPr>
          <a:xfrm>
            <a:off x="2011680" y="1490472"/>
            <a:ext cx="2514600" cy="265176"/>
          </a:xfrm>
          <a:prstGeom prst="rect">
            <a:avLst/>
          </a:prstGeom>
          <a:noFill/>
        </p:spPr>
        <p:txBody>
          <a:bodyPr wrap="square" lIns="0" tIns="0" rIns="0" bIns="0" anchor="ctr">
            <a:spAutoFit/>
          </a:bodyPr>
          <a:lstStyle/>
          <a:p>
            <a:pPr algn="l"/>
            <a:r>
              <a:rPr sz="850" b="0" i="0">
                <a:solidFill>
                  <a:srgbClr val="E8F2EA"/>
                </a:solidFill>
                <a:latin typeface="Arial"/>
              </a:rPr>
              <a:t>Call · Vanilla · European · Black-Scholes-Merton</a:t>
            </a:r>
          </a:p>
        </p:txBody>
      </p:sp>
      <p:sp>
        <p:nvSpPr>
          <p:cNvPr id="17" name="TextBox 16"/>
          <p:cNvSpPr txBox="1"/>
          <p:nvPr/>
        </p:nvSpPr>
        <p:spPr>
          <a:xfrm>
            <a:off x="4553712" y="1490472"/>
            <a:ext cx="960120" cy="265176"/>
          </a:xfrm>
          <a:prstGeom prst="rect">
            <a:avLst/>
          </a:prstGeom>
          <a:noFill/>
        </p:spPr>
        <p:txBody>
          <a:bodyPr wrap="square" lIns="0" tIns="0" rIns="0" bIns="0" anchor="ctr">
            <a:spAutoFit/>
          </a:bodyPr>
          <a:lstStyle/>
          <a:p>
            <a:pPr algn="l"/>
            <a:r>
              <a:rPr sz="900" b="1" i="0">
                <a:solidFill>
                  <a:srgbClr val="3DDC84"/>
                </a:solidFill>
                <a:latin typeface="Consolas"/>
              </a:rPr>
              <a:t>10.4506</a:t>
            </a:r>
          </a:p>
        </p:txBody>
      </p:sp>
      <p:sp>
        <p:nvSpPr>
          <p:cNvPr id="18" name="TextBox 17"/>
          <p:cNvSpPr txBox="1"/>
          <p:nvPr/>
        </p:nvSpPr>
        <p:spPr>
          <a:xfrm>
            <a:off x="5577840" y="1490472"/>
            <a:ext cx="3154680" cy="265176"/>
          </a:xfrm>
          <a:prstGeom prst="rect">
            <a:avLst/>
          </a:prstGeom>
          <a:noFill/>
        </p:spPr>
        <p:txBody>
          <a:bodyPr wrap="square" lIns="0" tIns="0" rIns="0" bIns="0" anchor="ctr">
            <a:spAutoFit/>
          </a:bodyPr>
          <a:lstStyle/>
          <a:p>
            <a:pPr algn="l"/>
            <a:r>
              <a:rPr sz="850" b="0" i="0">
                <a:solidFill>
                  <a:srgbClr val="93A79A"/>
                </a:solidFill>
                <a:latin typeface="Consolas"/>
              </a:rPr>
              <a:t>Pricer › price strip, Payoff &amp; value</a:t>
            </a:r>
          </a:p>
        </p:txBody>
      </p:sp>
      <p:sp>
        <p:nvSpPr>
          <p:cNvPr id="19" name="Rectangle 18"/>
          <p:cNvSpPr/>
          <p:nvPr/>
        </p:nvSpPr>
        <p:spPr>
          <a:xfrm>
            <a:off x="566928" y="1783080"/>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66928" y="1901952"/>
            <a:ext cx="73152" cy="73152"/>
          </a:xfrm>
          <a:prstGeom prst="ellipse">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1805939"/>
            <a:ext cx="1280160" cy="265176"/>
          </a:xfrm>
          <a:prstGeom prst="rect">
            <a:avLst/>
          </a:prstGeom>
          <a:noFill/>
        </p:spPr>
        <p:txBody>
          <a:bodyPr wrap="square" lIns="0" tIns="0" rIns="0" bIns="0" anchor="ctr">
            <a:spAutoFit/>
          </a:bodyPr>
          <a:lstStyle/>
          <a:p>
            <a:pPr algn="l"/>
            <a:r>
              <a:rPr sz="950" b="1" i="0">
                <a:solidFill>
                  <a:srgbClr val="E8F2EA"/>
                </a:solidFill>
                <a:latin typeface="Arial"/>
              </a:rPr>
              <a:t>Black-76</a:t>
            </a:r>
          </a:p>
        </p:txBody>
      </p:sp>
      <p:sp>
        <p:nvSpPr>
          <p:cNvPr id="22" name="TextBox 21"/>
          <p:cNvSpPr txBox="1"/>
          <p:nvPr/>
        </p:nvSpPr>
        <p:spPr>
          <a:xfrm>
            <a:off x="2011680" y="1805939"/>
            <a:ext cx="2514600" cy="265176"/>
          </a:xfrm>
          <a:prstGeom prst="rect">
            <a:avLst/>
          </a:prstGeom>
          <a:noFill/>
        </p:spPr>
        <p:txBody>
          <a:bodyPr wrap="square" lIns="0" tIns="0" rIns="0" bIns="0" anchor="ctr">
            <a:spAutoFit/>
          </a:bodyPr>
          <a:lstStyle/>
          <a:p>
            <a:pPr algn="l"/>
            <a:r>
              <a:rPr sz="850" b="0" i="0">
                <a:solidFill>
                  <a:srgbClr val="E8F2EA"/>
                </a:solidFill>
                <a:latin typeface="Arial"/>
              </a:rPr>
              <a:t>Black-76 · Commodity · WTI crude · F 100</a:t>
            </a:r>
          </a:p>
        </p:txBody>
      </p:sp>
      <p:sp>
        <p:nvSpPr>
          <p:cNvPr id="23" name="TextBox 22"/>
          <p:cNvSpPr txBox="1"/>
          <p:nvPr/>
        </p:nvSpPr>
        <p:spPr>
          <a:xfrm>
            <a:off x="4553712" y="1805939"/>
            <a:ext cx="960120" cy="265176"/>
          </a:xfrm>
          <a:prstGeom prst="rect">
            <a:avLst/>
          </a:prstGeom>
          <a:noFill/>
        </p:spPr>
        <p:txBody>
          <a:bodyPr wrap="square" lIns="0" tIns="0" rIns="0" bIns="0" anchor="ctr">
            <a:spAutoFit/>
          </a:bodyPr>
          <a:lstStyle/>
          <a:p>
            <a:pPr algn="l"/>
            <a:r>
              <a:rPr sz="900" b="1" i="0">
                <a:solidFill>
                  <a:srgbClr val="3DDC84"/>
                </a:solidFill>
                <a:latin typeface="Consolas"/>
              </a:rPr>
              <a:t>7.5771</a:t>
            </a:r>
          </a:p>
        </p:txBody>
      </p:sp>
      <p:sp>
        <p:nvSpPr>
          <p:cNvPr id="24" name="TextBox 23"/>
          <p:cNvSpPr txBox="1"/>
          <p:nvPr/>
        </p:nvSpPr>
        <p:spPr>
          <a:xfrm>
            <a:off x="5577840" y="1805939"/>
            <a:ext cx="3154680" cy="265176"/>
          </a:xfrm>
          <a:prstGeom prst="rect">
            <a:avLst/>
          </a:prstGeom>
          <a:noFill/>
        </p:spPr>
        <p:txBody>
          <a:bodyPr wrap="square" lIns="0" tIns="0" rIns="0" bIns="0" anchor="ctr">
            <a:spAutoFit/>
          </a:bodyPr>
          <a:lstStyle/>
          <a:p>
            <a:pPr algn="l"/>
            <a:r>
              <a:rPr sz="850" b="0" i="0">
                <a:solidFill>
                  <a:srgbClr val="93A79A"/>
                </a:solidFill>
                <a:latin typeface="Consolas"/>
              </a:rPr>
              <a:t>Pricer › Risk metrics (Rho = −T·V)</a:t>
            </a:r>
          </a:p>
        </p:txBody>
      </p:sp>
      <p:sp>
        <p:nvSpPr>
          <p:cNvPr id="25" name="Rectangle 24"/>
          <p:cNvSpPr/>
          <p:nvPr/>
        </p:nvSpPr>
        <p:spPr>
          <a:xfrm>
            <a:off x="566928" y="2098548"/>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66928" y="2217420"/>
            <a:ext cx="73152" cy="73152"/>
          </a:xfrm>
          <a:prstGeom prst="ellipse">
            <a:avLst/>
          </a:prstGeom>
          <a:solidFill>
            <a:srgbClr val="5BC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2121408"/>
            <a:ext cx="1280160" cy="265176"/>
          </a:xfrm>
          <a:prstGeom prst="rect">
            <a:avLst/>
          </a:prstGeom>
          <a:noFill/>
        </p:spPr>
        <p:txBody>
          <a:bodyPr wrap="square" lIns="0" tIns="0" rIns="0" bIns="0" anchor="ctr">
            <a:spAutoFit/>
          </a:bodyPr>
          <a:lstStyle/>
          <a:p>
            <a:pPr algn="l"/>
            <a:r>
              <a:rPr sz="950" b="1" i="0">
                <a:solidFill>
                  <a:srgbClr val="E8F2EA"/>
                </a:solidFill>
                <a:latin typeface="Arial"/>
              </a:rPr>
              <a:t>CRR tree</a:t>
            </a:r>
          </a:p>
        </p:txBody>
      </p:sp>
      <p:sp>
        <p:nvSpPr>
          <p:cNvPr id="28" name="TextBox 27"/>
          <p:cNvSpPr txBox="1"/>
          <p:nvPr/>
        </p:nvSpPr>
        <p:spPr>
          <a:xfrm>
            <a:off x="2011680" y="2121408"/>
            <a:ext cx="2514600" cy="265176"/>
          </a:xfrm>
          <a:prstGeom prst="rect">
            <a:avLst/>
          </a:prstGeom>
          <a:noFill/>
        </p:spPr>
        <p:txBody>
          <a:bodyPr wrap="square" lIns="0" tIns="0" rIns="0" bIns="0" anchor="ctr">
            <a:spAutoFit/>
          </a:bodyPr>
          <a:lstStyle/>
          <a:p>
            <a:pPr algn="l"/>
            <a:r>
              <a:rPr sz="850" b="0" i="0">
                <a:solidFill>
                  <a:srgbClr val="E8F2EA"/>
                </a:solidFill>
                <a:latin typeface="Arial"/>
              </a:rPr>
              <a:t>Put · American · CRR binomial · 201 steps</a:t>
            </a:r>
          </a:p>
        </p:txBody>
      </p:sp>
      <p:sp>
        <p:nvSpPr>
          <p:cNvPr id="29" name="TextBox 28"/>
          <p:cNvSpPr txBox="1"/>
          <p:nvPr/>
        </p:nvSpPr>
        <p:spPr>
          <a:xfrm>
            <a:off x="4553712" y="2121408"/>
            <a:ext cx="960120" cy="265176"/>
          </a:xfrm>
          <a:prstGeom prst="rect">
            <a:avLst/>
          </a:prstGeom>
          <a:noFill/>
        </p:spPr>
        <p:txBody>
          <a:bodyPr wrap="square" lIns="0" tIns="0" rIns="0" bIns="0" anchor="ctr">
            <a:spAutoFit/>
          </a:bodyPr>
          <a:lstStyle/>
          <a:p>
            <a:pPr algn="l"/>
            <a:r>
              <a:rPr sz="900" b="1" i="0">
                <a:solidFill>
                  <a:srgbClr val="3DDC84"/>
                </a:solidFill>
                <a:latin typeface="Consolas"/>
              </a:rPr>
              <a:t>6.0975</a:t>
            </a:r>
          </a:p>
        </p:txBody>
      </p:sp>
      <p:sp>
        <p:nvSpPr>
          <p:cNvPr id="30" name="TextBox 29"/>
          <p:cNvSpPr txBox="1"/>
          <p:nvPr/>
        </p:nvSpPr>
        <p:spPr>
          <a:xfrm>
            <a:off x="5577840" y="2121408"/>
            <a:ext cx="3154680" cy="265176"/>
          </a:xfrm>
          <a:prstGeom prst="rect">
            <a:avLst/>
          </a:prstGeom>
          <a:noFill/>
        </p:spPr>
        <p:txBody>
          <a:bodyPr wrap="square" lIns="0" tIns="0" rIns="0" bIns="0" anchor="ctr">
            <a:spAutoFit/>
          </a:bodyPr>
          <a:lstStyle/>
          <a:p>
            <a:pPr algn="l"/>
            <a:r>
              <a:rPr sz="850" b="0" i="0">
                <a:solidFill>
                  <a:srgbClr val="93A79A"/>
                </a:solidFill>
                <a:latin typeface="Consolas"/>
              </a:rPr>
              <a:t>Trees › American vs European price</a:t>
            </a:r>
          </a:p>
        </p:txBody>
      </p:sp>
      <p:sp>
        <p:nvSpPr>
          <p:cNvPr id="31" name="Rectangle 30"/>
          <p:cNvSpPr/>
          <p:nvPr/>
        </p:nvSpPr>
        <p:spPr>
          <a:xfrm>
            <a:off x="566928" y="2414015"/>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66928" y="2532888"/>
            <a:ext cx="73152" cy="73152"/>
          </a:xfrm>
          <a:prstGeom prst="ellipse">
            <a:avLst/>
          </a:prstGeom>
          <a:solidFill>
            <a:srgbClr val="5BC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3232" y="2436876"/>
            <a:ext cx="1280160" cy="265176"/>
          </a:xfrm>
          <a:prstGeom prst="rect">
            <a:avLst/>
          </a:prstGeom>
          <a:noFill/>
        </p:spPr>
        <p:txBody>
          <a:bodyPr wrap="square" lIns="0" tIns="0" rIns="0" bIns="0" anchor="ctr">
            <a:spAutoFit/>
          </a:bodyPr>
          <a:lstStyle/>
          <a:p>
            <a:pPr algn="l"/>
            <a:r>
              <a:rPr sz="950" b="1" i="0">
                <a:solidFill>
                  <a:srgbClr val="E8F2EA"/>
                </a:solidFill>
                <a:latin typeface="Arial"/>
              </a:rPr>
              <a:t>Leisen-Reimer</a:t>
            </a:r>
          </a:p>
        </p:txBody>
      </p:sp>
      <p:sp>
        <p:nvSpPr>
          <p:cNvPr id="34" name="TextBox 33"/>
          <p:cNvSpPr txBox="1"/>
          <p:nvPr/>
        </p:nvSpPr>
        <p:spPr>
          <a:xfrm>
            <a:off x="2011680" y="2436876"/>
            <a:ext cx="2514600" cy="265176"/>
          </a:xfrm>
          <a:prstGeom prst="rect">
            <a:avLst/>
          </a:prstGeom>
          <a:noFill/>
        </p:spPr>
        <p:txBody>
          <a:bodyPr wrap="square" lIns="0" tIns="0" rIns="0" bIns="0" anchor="ctr">
            <a:spAutoFit/>
          </a:bodyPr>
          <a:lstStyle/>
          <a:p>
            <a:pPr algn="l"/>
            <a:r>
              <a:rPr sz="850" b="0" i="0">
                <a:solidFill>
                  <a:srgbClr val="E8F2EA"/>
                </a:solidFill>
                <a:latin typeface="Arial"/>
              </a:rPr>
              <a:t>Call · European · Leisen-Reimer · 201 steps</a:t>
            </a:r>
          </a:p>
        </p:txBody>
      </p:sp>
      <p:sp>
        <p:nvSpPr>
          <p:cNvPr id="35" name="TextBox 34"/>
          <p:cNvSpPr txBox="1"/>
          <p:nvPr/>
        </p:nvSpPr>
        <p:spPr>
          <a:xfrm>
            <a:off x="4553712" y="2436876"/>
            <a:ext cx="960120" cy="265176"/>
          </a:xfrm>
          <a:prstGeom prst="rect">
            <a:avLst/>
          </a:prstGeom>
          <a:noFill/>
        </p:spPr>
        <p:txBody>
          <a:bodyPr wrap="square" lIns="0" tIns="0" rIns="0" bIns="0" anchor="ctr">
            <a:spAutoFit/>
          </a:bodyPr>
          <a:lstStyle/>
          <a:p>
            <a:pPr algn="l"/>
            <a:r>
              <a:rPr sz="900" b="1" i="0">
                <a:solidFill>
                  <a:srgbClr val="3DDC84"/>
                </a:solidFill>
                <a:latin typeface="Consolas"/>
              </a:rPr>
              <a:t>10.4506</a:t>
            </a:r>
          </a:p>
        </p:txBody>
      </p:sp>
      <p:sp>
        <p:nvSpPr>
          <p:cNvPr id="36" name="TextBox 35"/>
          <p:cNvSpPr txBox="1"/>
          <p:nvPr/>
        </p:nvSpPr>
        <p:spPr>
          <a:xfrm>
            <a:off x="5577840" y="2436876"/>
            <a:ext cx="3154680" cy="265176"/>
          </a:xfrm>
          <a:prstGeom prst="rect">
            <a:avLst/>
          </a:prstGeom>
          <a:noFill/>
        </p:spPr>
        <p:txBody>
          <a:bodyPr wrap="square" lIns="0" tIns="0" rIns="0" bIns="0" anchor="ctr">
            <a:spAutoFit/>
          </a:bodyPr>
          <a:lstStyle/>
          <a:p>
            <a:pPr algn="l"/>
            <a:r>
              <a:rPr sz="850" b="0" i="0">
                <a:solidFill>
                  <a:srgbClr val="93A79A"/>
                </a:solidFill>
                <a:latin typeface="Consolas"/>
              </a:rPr>
              <a:t>Trees › Error on a log scale</a:t>
            </a:r>
          </a:p>
        </p:txBody>
      </p:sp>
      <p:sp>
        <p:nvSpPr>
          <p:cNvPr id="37" name="Rectangle 36"/>
          <p:cNvSpPr/>
          <p:nvPr/>
        </p:nvSpPr>
        <p:spPr>
          <a:xfrm>
            <a:off x="566928" y="272948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66928" y="2848356"/>
            <a:ext cx="73152" cy="73152"/>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 y="2752344"/>
            <a:ext cx="1280160" cy="265176"/>
          </a:xfrm>
          <a:prstGeom prst="rect">
            <a:avLst/>
          </a:prstGeom>
          <a:noFill/>
        </p:spPr>
        <p:txBody>
          <a:bodyPr wrap="square" lIns="0" tIns="0" rIns="0" bIns="0" anchor="ctr">
            <a:spAutoFit/>
          </a:bodyPr>
          <a:lstStyle/>
          <a:p>
            <a:pPr algn="l"/>
            <a:r>
              <a:rPr sz="950" b="1" i="0">
                <a:solidFill>
                  <a:srgbClr val="E8F2EA"/>
                </a:solidFill>
                <a:latin typeface="Arial"/>
              </a:rPr>
              <a:t>Monte Carlo</a:t>
            </a:r>
          </a:p>
        </p:txBody>
      </p:sp>
      <p:sp>
        <p:nvSpPr>
          <p:cNvPr id="40" name="TextBox 39"/>
          <p:cNvSpPr txBox="1"/>
          <p:nvPr/>
        </p:nvSpPr>
        <p:spPr>
          <a:xfrm>
            <a:off x="2011680" y="2752344"/>
            <a:ext cx="2514600" cy="265176"/>
          </a:xfrm>
          <a:prstGeom prst="rect">
            <a:avLst/>
          </a:prstGeom>
          <a:noFill/>
        </p:spPr>
        <p:txBody>
          <a:bodyPr wrap="square" lIns="0" tIns="0" rIns="0" bIns="0" anchor="ctr">
            <a:spAutoFit/>
          </a:bodyPr>
          <a:lstStyle/>
          <a:p>
            <a:pPr algn="l"/>
            <a:r>
              <a:rPr sz="850" b="0" i="0">
                <a:solidFill>
                  <a:srgbClr val="E8F2EA"/>
                </a:solidFill>
                <a:latin typeface="Arial"/>
              </a:rPr>
              <a:t>Asian (average price) · 50,000 paths · 252 fixings</a:t>
            </a:r>
          </a:p>
        </p:txBody>
      </p:sp>
      <p:sp>
        <p:nvSpPr>
          <p:cNvPr id="41" name="TextBox 40"/>
          <p:cNvSpPr txBox="1"/>
          <p:nvPr/>
        </p:nvSpPr>
        <p:spPr>
          <a:xfrm>
            <a:off x="4553712" y="2752344"/>
            <a:ext cx="960120" cy="265176"/>
          </a:xfrm>
          <a:prstGeom prst="rect">
            <a:avLst/>
          </a:prstGeom>
          <a:noFill/>
        </p:spPr>
        <p:txBody>
          <a:bodyPr wrap="square" lIns="0" tIns="0" rIns="0" bIns="0" anchor="ctr">
            <a:spAutoFit/>
          </a:bodyPr>
          <a:lstStyle/>
          <a:p>
            <a:pPr algn="l"/>
            <a:r>
              <a:rPr sz="900" b="1" i="0">
                <a:solidFill>
                  <a:srgbClr val="3DDC84"/>
                </a:solidFill>
                <a:latin typeface="Consolas"/>
              </a:rPr>
              <a:t>5.8141 ± 0.025</a:t>
            </a:r>
          </a:p>
        </p:txBody>
      </p:sp>
      <p:sp>
        <p:nvSpPr>
          <p:cNvPr id="42" name="TextBox 41"/>
          <p:cNvSpPr txBox="1"/>
          <p:nvPr/>
        </p:nvSpPr>
        <p:spPr>
          <a:xfrm>
            <a:off x="5577840" y="2752344"/>
            <a:ext cx="3154680" cy="265176"/>
          </a:xfrm>
          <a:prstGeom prst="rect">
            <a:avLst/>
          </a:prstGeom>
          <a:noFill/>
        </p:spPr>
        <p:txBody>
          <a:bodyPr wrap="square" lIns="0" tIns="0" rIns="0" bIns="0" anchor="ctr">
            <a:spAutoFit/>
          </a:bodyPr>
          <a:lstStyle/>
          <a:p>
            <a:pPr algn="l"/>
            <a:r>
              <a:rPr sz="850" b="0" i="0">
                <a:solidFill>
                  <a:srgbClr val="93A79A"/>
                </a:solidFill>
                <a:latin typeface="Consolas"/>
              </a:rPr>
              <a:t>Monte Carlo › Variance reduction</a:t>
            </a:r>
          </a:p>
        </p:txBody>
      </p:sp>
      <p:sp>
        <p:nvSpPr>
          <p:cNvPr id="43" name="Rectangle 42"/>
          <p:cNvSpPr/>
          <p:nvPr/>
        </p:nvSpPr>
        <p:spPr>
          <a:xfrm>
            <a:off x="566928" y="3044951"/>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011680" y="3067811"/>
            <a:ext cx="2514600" cy="265176"/>
          </a:xfrm>
          <a:prstGeom prst="rect">
            <a:avLst/>
          </a:prstGeom>
          <a:noFill/>
        </p:spPr>
        <p:txBody>
          <a:bodyPr wrap="square" lIns="0" tIns="0" rIns="0" bIns="0" anchor="ctr">
            <a:spAutoFit/>
          </a:bodyPr>
          <a:lstStyle/>
          <a:p>
            <a:pPr algn="l"/>
            <a:r>
              <a:rPr sz="850" b="0" i="0">
                <a:solidFill>
                  <a:srgbClr val="E8F2EA"/>
                </a:solidFill>
                <a:latin typeface="Arial"/>
              </a:rPr>
              <a:t>Lookback (floating strike) · 252 time steps</a:t>
            </a:r>
          </a:p>
        </p:txBody>
      </p:sp>
      <p:sp>
        <p:nvSpPr>
          <p:cNvPr id="45" name="TextBox 44"/>
          <p:cNvSpPr txBox="1"/>
          <p:nvPr/>
        </p:nvSpPr>
        <p:spPr>
          <a:xfrm>
            <a:off x="4553712" y="3067811"/>
            <a:ext cx="960120" cy="265176"/>
          </a:xfrm>
          <a:prstGeom prst="rect">
            <a:avLst/>
          </a:prstGeom>
          <a:noFill/>
        </p:spPr>
        <p:txBody>
          <a:bodyPr wrap="square" lIns="0" tIns="0" rIns="0" bIns="0" anchor="ctr">
            <a:spAutoFit/>
          </a:bodyPr>
          <a:lstStyle/>
          <a:p>
            <a:pPr algn="l"/>
            <a:r>
              <a:rPr sz="900" b="1" i="0">
                <a:solidFill>
                  <a:srgbClr val="3DDC84"/>
                </a:solidFill>
                <a:latin typeface="Consolas"/>
              </a:rPr>
              <a:t>17.2628 ± 0.037</a:t>
            </a:r>
          </a:p>
        </p:txBody>
      </p:sp>
      <p:sp>
        <p:nvSpPr>
          <p:cNvPr id="46" name="TextBox 45"/>
          <p:cNvSpPr txBox="1"/>
          <p:nvPr/>
        </p:nvSpPr>
        <p:spPr>
          <a:xfrm>
            <a:off x="5577840" y="3067811"/>
            <a:ext cx="3154680" cy="265176"/>
          </a:xfrm>
          <a:prstGeom prst="rect">
            <a:avLst/>
          </a:prstGeom>
          <a:noFill/>
        </p:spPr>
        <p:txBody>
          <a:bodyPr wrap="square" lIns="0" tIns="0" rIns="0" bIns="0" anchor="ctr">
            <a:spAutoFit/>
          </a:bodyPr>
          <a:lstStyle/>
          <a:p>
            <a:pPr algn="l"/>
            <a:r>
              <a:rPr sz="850" b="0" i="0">
                <a:solidFill>
                  <a:srgbClr val="93A79A"/>
                </a:solidFill>
                <a:latin typeface="Consolas"/>
              </a:rPr>
              <a:t>Pricer › Same contract, every engine</a:t>
            </a:r>
          </a:p>
        </p:txBody>
      </p:sp>
      <p:sp>
        <p:nvSpPr>
          <p:cNvPr id="47" name="Rectangle 46"/>
          <p:cNvSpPr/>
          <p:nvPr/>
        </p:nvSpPr>
        <p:spPr>
          <a:xfrm>
            <a:off x="566928" y="3360419"/>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011680" y="3383279"/>
            <a:ext cx="2514600" cy="265176"/>
          </a:xfrm>
          <a:prstGeom prst="rect">
            <a:avLst/>
          </a:prstGeom>
          <a:noFill/>
        </p:spPr>
        <p:txBody>
          <a:bodyPr wrap="square" lIns="0" tIns="0" rIns="0" bIns="0" anchor="ctr">
            <a:spAutoFit/>
          </a:bodyPr>
          <a:lstStyle/>
          <a:p>
            <a:pPr algn="l"/>
            <a:r>
              <a:rPr sz="850" b="0" i="0">
                <a:solidFill>
                  <a:srgbClr val="E8F2EA"/>
                </a:solidFill>
                <a:latin typeface="Arial"/>
              </a:rPr>
              <a:t>Basket · 3 assets · correlation 0.5</a:t>
            </a:r>
          </a:p>
        </p:txBody>
      </p:sp>
      <p:sp>
        <p:nvSpPr>
          <p:cNvPr id="49" name="TextBox 48"/>
          <p:cNvSpPr txBox="1"/>
          <p:nvPr/>
        </p:nvSpPr>
        <p:spPr>
          <a:xfrm>
            <a:off x="4553712" y="3383279"/>
            <a:ext cx="960120" cy="265176"/>
          </a:xfrm>
          <a:prstGeom prst="rect">
            <a:avLst/>
          </a:prstGeom>
          <a:noFill/>
        </p:spPr>
        <p:txBody>
          <a:bodyPr wrap="square" lIns="0" tIns="0" rIns="0" bIns="0" anchor="ctr">
            <a:spAutoFit/>
          </a:bodyPr>
          <a:lstStyle/>
          <a:p>
            <a:pPr algn="l"/>
            <a:r>
              <a:rPr sz="900" b="1" i="0">
                <a:solidFill>
                  <a:srgbClr val="3DDC84"/>
                </a:solidFill>
                <a:latin typeface="Consolas"/>
              </a:rPr>
              <a:t>9.1928 ± 0.037</a:t>
            </a:r>
          </a:p>
        </p:txBody>
      </p:sp>
      <p:sp>
        <p:nvSpPr>
          <p:cNvPr id="50" name="TextBox 49"/>
          <p:cNvSpPr txBox="1"/>
          <p:nvPr/>
        </p:nvSpPr>
        <p:spPr>
          <a:xfrm>
            <a:off x="5577840" y="3383279"/>
            <a:ext cx="3154680" cy="265176"/>
          </a:xfrm>
          <a:prstGeom prst="rect">
            <a:avLst/>
          </a:prstGeom>
          <a:noFill/>
        </p:spPr>
        <p:txBody>
          <a:bodyPr wrap="square" lIns="0" tIns="0" rIns="0" bIns="0" anchor="ctr">
            <a:spAutoFit/>
          </a:bodyPr>
          <a:lstStyle/>
          <a:p>
            <a:pPr algn="l"/>
            <a:r>
              <a:rPr sz="850" b="0" i="0">
                <a:solidFill>
                  <a:srgbClr val="93A79A"/>
                </a:solidFill>
                <a:latin typeface="Consolas"/>
              </a:rPr>
              <a:t>Monte Carlo › Basket price vs correlation</a:t>
            </a:r>
          </a:p>
        </p:txBody>
      </p:sp>
      <p:sp>
        <p:nvSpPr>
          <p:cNvPr id="51" name="Rectangle 50"/>
          <p:cNvSpPr/>
          <p:nvPr/>
        </p:nvSpPr>
        <p:spPr>
          <a:xfrm>
            <a:off x="566928" y="3675887"/>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66928" y="3794760"/>
            <a:ext cx="73152" cy="73152"/>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13232" y="3698748"/>
            <a:ext cx="1280160" cy="265176"/>
          </a:xfrm>
          <a:prstGeom prst="rect">
            <a:avLst/>
          </a:prstGeom>
          <a:noFill/>
        </p:spPr>
        <p:txBody>
          <a:bodyPr wrap="square" lIns="0" tIns="0" rIns="0" bIns="0" anchor="ctr">
            <a:spAutoFit/>
          </a:bodyPr>
          <a:lstStyle/>
          <a:p>
            <a:pPr algn="l"/>
            <a:r>
              <a:rPr sz="950" b="1" i="0">
                <a:solidFill>
                  <a:srgbClr val="E8F2EA"/>
                </a:solidFill>
                <a:latin typeface="Arial"/>
              </a:rPr>
              <a:t>Longstaff-Schwartz</a:t>
            </a:r>
          </a:p>
        </p:txBody>
      </p:sp>
      <p:sp>
        <p:nvSpPr>
          <p:cNvPr id="54" name="TextBox 53"/>
          <p:cNvSpPr txBox="1"/>
          <p:nvPr/>
        </p:nvSpPr>
        <p:spPr>
          <a:xfrm>
            <a:off x="2011680" y="3698748"/>
            <a:ext cx="2514600" cy="265176"/>
          </a:xfrm>
          <a:prstGeom prst="rect">
            <a:avLst/>
          </a:prstGeom>
          <a:noFill/>
        </p:spPr>
        <p:txBody>
          <a:bodyPr wrap="square" lIns="0" tIns="0" rIns="0" bIns="0" anchor="ctr">
            <a:spAutoFit/>
          </a:bodyPr>
          <a:lstStyle/>
          <a:p>
            <a:pPr algn="l"/>
            <a:r>
              <a:rPr sz="850" b="0" i="0">
                <a:solidFill>
                  <a:srgbClr val="E8F2EA"/>
                </a:solidFill>
                <a:latin typeface="Arial"/>
              </a:rPr>
              <a:t>Put · American · Longstaff-Schwartz MC · 50 dates</a:t>
            </a:r>
          </a:p>
        </p:txBody>
      </p:sp>
      <p:sp>
        <p:nvSpPr>
          <p:cNvPr id="55" name="TextBox 54"/>
          <p:cNvSpPr txBox="1"/>
          <p:nvPr/>
        </p:nvSpPr>
        <p:spPr>
          <a:xfrm>
            <a:off x="4553712" y="3698748"/>
            <a:ext cx="960120" cy="265176"/>
          </a:xfrm>
          <a:prstGeom prst="rect">
            <a:avLst/>
          </a:prstGeom>
          <a:noFill/>
        </p:spPr>
        <p:txBody>
          <a:bodyPr wrap="square" lIns="0" tIns="0" rIns="0" bIns="0" anchor="ctr">
            <a:spAutoFit/>
          </a:bodyPr>
          <a:lstStyle/>
          <a:p>
            <a:pPr algn="l"/>
            <a:r>
              <a:rPr sz="900" b="1" i="0">
                <a:solidFill>
                  <a:srgbClr val="3DDC84"/>
                </a:solidFill>
                <a:latin typeface="Consolas"/>
              </a:rPr>
              <a:t>6.0755 ± 0.016</a:t>
            </a:r>
          </a:p>
        </p:txBody>
      </p:sp>
      <p:sp>
        <p:nvSpPr>
          <p:cNvPr id="56" name="TextBox 55"/>
          <p:cNvSpPr txBox="1"/>
          <p:nvPr/>
        </p:nvSpPr>
        <p:spPr>
          <a:xfrm>
            <a:off x="5577840" y="3698748"/>
            <a:ext cx="3154680" cy="265176"/>
          </a:xfrm>
          <a:prstGeom prst="rect">
            <a:avLst/>
          </a:prstGeom>
          <a:noFill/>
        </p:spPr>
        <p:txBody>
          <a:bodyPr wrap="square" lIns="0" tIns="0" rIns="0" bIns="0" anchor="ctr">
            <a:spAutoFit/>
          </a:bodyPr>
          <a:lstStyle/>
          <a:p>
            <a:pPr algn="l"/>
            <a:r>
              <a:rPr sz="850" b="0" i="0">
                <a:solidFill>
                  <a:srgbClr val="93A79A"/>
                </a:solidFill>
                <a:latin typeface="Consolas"/>
              </a:rPr>
              <a:t>Monte Carlo › Early-exercise boundary</a:t>
            </a:r>
          </a:p>
        </p:txBody>
      </p:sp>
      <p:sp>
        <p:nvSpPr>
          <p:cNvPr id="57" name="Rectangle 56"/>
          <p:cNvSpPr/>
          <p:nvPr/>
        </p:nvSpPr>
        <p:spPr>
          <a:xfrm>
            <a:off x="566928" y="3991356"/>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566928" y="4110228"/>
            <a:ext cx="73152" cy="73152"/>
          </a:xfrm>
          <a:prstGeom prst="ellipse">
            <a:avLst/>
          </a:prstGeom>
          <a:solidFill>
            <a:srgbClr val="B78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13232" y="4014215"/>
            <a:ext cx="1280160" cy="265176"/>
          </a:xfrm>
          <a:prstGeom prst="rect">
            <a:avLst/>
          </a:prstGeom>
          <a:noFill/>
        </p:spPr>
        <p:txBody>
          <a:bodyPr wrap="square" lIns="0" tIns="0" rIns="0" bIns="0" anchor="ctr">
            <a:spAutoFit/>
          </a:bodyPr>
          <a:lstStyle/>
          <a:p>
            <a:pPr algn="l"/>
            <a:r>
              <a:rPr sz="950" b="1" i="0">
                <a:solidFill>
                  <a:srgbClr val="E8F2EA"/>
                </a:solidFill>
                <a:latin typeface="Arial"/>
              </a:rPr>
              <a:t>Barrier PDE</a:t>
            </a:r>
          </a:p>
        </p:txBody>
      </p:sp>
      <p:sp>
        <p:nvSpPr>
          <p:cNvPr id="60" name="TextBox 59"/>
          <p:cNvSpPr txBox="1"/>
          <p:nvPr/>
        </p:nvSpPr>
        <p:spPr>
          <a:xfrm>
            <a:off x="2011680" y="4014215"/>
            <a:ext cx="2514600" cy="265176"/>
          </a:xfrm>
          <a:prstGeom prst="rect">
            <a:avLst/>
          </a:prstGeom>
          <a:noFill/>
        </p:spPr>
        <p:txBody>
          <a:bodyPr wrap="square" lIns="0" tIns="0" rIns="0" bIns="0" anchor="ctr">
            <a:spAutoFit/>
          </a:bodyPr>
          <a:lstStyle/>
          <a:p>
            <a:pPr algn="l"/>
            <a:r>
              <a:rPr sz="850" b="0" i="0">
                <a:solidFill>
                  <a:srgbClr val="E8F2EA"/>
                </a:solidFill>
                <a:latin typeface="Arial"/>
              </a:rPr>
              <a:t>Barrier · up-and-out · H 120 · Finite-difference PDE</a:t>
            </a:r>
          </a:p>
        </p:txBody>
      </p:sp>
      <p:sp>
        <p:nvSpPr>
          <p:cNvPr id="61" name="TextBox 60"/>
          <p:cNvSpPr txBox="1"/>
          <p:nvPr/>
        </p:nvSpPr>
        <p:spPr>
          <a:xfrm>
            <a:off x="4553712" y="4014215"/>
            <a:ext cx="960120" cy="265176"/>
          </a:xfrm>
          <a:prstGeom prst="rect">
            <a:avLst/>
          </a:prstGeom>
          <a:noFill/>
        </p:spPr>
        <p:txBody>
          <a:bodyPr wrap="square" lIns="0" tIns="0" rIns="0" bIns="0" anchor="ctr">
            <a:spAutoFit/>
          </a:bodyPr>
          <a:lstStyle/>
          <a:p>
            <a:pPr algn="l"/>
            <a:r>
              <a:rPr sz="900" b="1" i="0">
                <a:solidFill>
                  <a:srgbClr val="3DDC84"/>
                </a:solidFill>
                <a:latin typeface="Consolas"/>
              </a:rPr>
              <a:t>1.1756</a:t>
            </a:r>
          </a:p>
        </p:txBody>
      </p:sp>
      <p:sp>
        <p:nvSpPr>
          <p:cNvPr id="62" name="TextBox 61"/>
          <p:cNvSpPr txBox="1"/>
          <p:nvPr/>
        </p:nvSpPr>
        <p:spPr>
          <a:xfrm>
            <a:off x="5577840" y="4014215"/>
            <a:ext cx="3154680" cy="265176"/>
          </a:xfrm>
          <a:prstGeom prst="rect">
            <a:avLst/>
          </a:prstGeom>
          <a:noFill/>
        </p:spPr>
        <p:txBody>
          <a:bodyPr wrap="square" lIns="0" tIns="0" rIns="0" bIns="0" anchor="ctr">
            <a:spAutoFit/>
          </a:bodyPr>
          <a:lstStyle/>
          <a:p>
            <a:pPr algn="l"/>
            <a:r>
              <a:rPr sz="850" b="0" i="0">
                <a:solidFill>
                  <a:srgbClr val="93A79A"/>
                </a:solidFill>
                <a:latin typeface="Consolas"/>
              </a:rPr>
              <a:t>Barrier PDE › Value today vs spot</a:t>
            </a:r>
          </a:p>
        </p:txBody>
      </p:sp>
      <p:sp>
        <p:nvSpPr>
          <p:cNvPr id="63" name="Rectangle 62"/>
          <p:cNvSpPr/>
          <p:nvPr/>
        </p:nvSpPr>
        <p:spPr>
          <a:xfrm>
            <a:off x="566928" y="4306824"/>
            <a:ext cx="8165592"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66928" y="4407408"/>
            <a:ext cx="8138160" cy="365760"/>
          </a:xfrm>
          <a:prstGeom prst="rect">
            <a:avLst/>
          </a:prstGeom>
          <a:noFill/>
        </p:spPr>
        <p:txBody>
          <a:bodyPr wrap="square" lIns="0" tIns="0" rIns="0" bIns="0" anchor="t">
            <a:spAutoFit/>
          </a:bodyPr>
          <a:lstStyle/>
          <a:p>
            <a:pPr algn="l">
              <a:lnSpc>
                <a:spcPct val="100000"/>
              </a:lnSpc>
            </a:pPr>
            <a:r>
              <a:rPr sz="850" b="1" i="0">
                <a:solidFill>
                  <a:srgbClr val="3DDC84"/>
                </a:solidFill>
                <a:latin typeface="Consolas"/>
              </a:rPr>
              <a:t>Rule  </a:t>
            </a:r>
            <a:r>
              <a:rPr sz="950" b="0" i="0">
                <a:solidFill>
                  <a:srgbClr val="93A79A"/>
                </a:solidFill>
                <a:latin typeface="Arial"/>
              </a:rPr>
              <a:t>use the simplest model that can handle the contract. Formula: about 1 ms, exact. Tree: about 10 ms. Simulation: seconds, with an error bar.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29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9 / VOLATILITY_INPUT</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Volatility: the one input you cannot look up.</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one flat volatility per contract; the smile is not used to price.</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Volatility is how much the stock is expected to swing, quoted per year. Realised volatility is measured from past prices. Implied volatility is the number that makes the model reproduce a market price. Every model here takes it as one input, Vol σ.</a:t>
            </a:r>
          </a:p>
        </p:txBody>
      </p:sp>
      <p:sp>
        <p:nvSpPr>
          <p:cNvPr id="10" name="Rectangle 9"/>
          <p:cNvSpPr/>
          <p:nvPr/>
        </p:nvSpPr>
        <p:spPr>
          <a:xfrm>
            <a:off x="566928" y="1344168"/>
            <a:ext cx="2971800" cy="105156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Product</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0" i="0">
                <a:solidFill>
                  <a:srgbClr val="E8F2EA"/>
                </a:solidFill>
                <a:latin typeface="Consolas"/>
              </a:rPr>
              <a:t>Vanilla</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0" i="0">
                <a:solidFill>
                  <a:srgbClr val="E8F2EA"/>
                </a:solidFill>
                <a:latin typeface="Consolas"/>
              </a:rPr>
              <a:t>Black-Scholes-Merton</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Vol σ (%)</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1" i="0">
                <a:solidFill>
                  <a:srgbClr val="FFB020"/>
                </a:solidFill>
                <a:latin typeface="Consolas"/>
              </a:rPr>
              <a:t>20.00</a:t>
            </a:r>
          </a:p>
        </p:txBody>
      </p:sp>
      <p:sp>
        <p:nvSpPr>
          <p:cNvPr id="18" name="Rectangle 17"/>
          <p:cNvSpPr/>
          <p:nvPr/>
        </p:nvSpPr>
        <p:spPr>
          <a:xfrm>
            <a:off x="676656" y="2167127"/>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 y="2194559"/>
            <a:ext cx="2788920" cy="164592"/>
          </a:xfrm>
          <a:prstGeom prst="rect">
            <a:avLst/>
          </a:prstGeom>
          <a:noFill/>
        </p:spPr>
        <p:txBody>
          <a:bodyPr wrap="square" lIns="0" tIns="0" rIns="0" bIns="0" anchor="ctr">
            <a:spAutoFit/>
          </a:bodyPr>
          <a:lstStyle/>
          <a:p>
            <a:pPr algn="l"/>
            <a:r>
              <a:rPr sz="750" b="0" i="0">
                <a:solidFill>
                  <a:srgbClr val="93A79A"/>
                </a:solidFill>
                <a:latin typeface="Consolas"/>
              </a:rPr>
              <a:t>Call · S 100 · K 100 · 365 d · r 5% · q 0%</a:t>
            </a:r>
          </a:p>
        </p:txBody>
      </p:sp>
      <p:sp>
        <p:nvSpPr>
          <p:cNvPr id="20" name="TextBox 19"/>
          <p:cNvSpPr txBox="1"/>
          <p:nvPr/>
        </p:nvSpPr>
        <p:spPr>
          <a:xfrm>
            <a:off x="566928" y="248716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1" name="Rectangle 20"/>
          <p:cNvSpPr/>
          <p:nvPr/>
        </p:nvSpPr>
        <p:spPr>
          <a:xfrm>
            <a:off x="566928" y="267004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270205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 Vega</a:t>
            </a:r>
          </a:p>
        </p:txBody>
      </p:sp>
      <p:sp>
        <p:nvSpPr>
          <p:cNvPr id="23" name="TextBox 22"/>
          <p:cNvSpPr txBox="1"/>
          <p:nvPr/>
        </p:nvSpPr>
        <p:spPr>
          <a:xfrm>
            <a:off x="566928" y="2834640"/>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0.3752: the 10.4506 call gains or loses 0.38 for each 1-point change in volatility.</a:t>
            </a:r>
          </a:p>
        </p:txBody>
      </p:sp>
      <p:sp>
        <p:nvSpPr>
          <p:cNvPr id="24" name="Rectangle 23"/>
          <p:cNvSpPr/>
          <p:nvPr/>
        </p:nvSpPr>
        <p:spPr>
          <a:xfrm>
            <a:off x="566928" y="3145536"/>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177540"/>
            <a:ext cx="2971800" cy="128016"/>
          </a:xfrm>
          <a:prstGeom prst="rect">
            <a:avLst/>
          </a:prstGeom>
          <a:noFill/>
        </p:spPr>
        <p:txBody>
          <a:bodyPr wrap="square" lIns="0" tIns="0" rIns="0" bIns="0" anchor="t">
            <a:spAutoFit/>
          </a:bodyPr>
          <a:lstStyle/>
          <a:p>
            <a:pPr algn="l"/>
            <a:r>
              <a:rPr sz="750" b="1" i="0">
                <a:solidFill>
                  <a:srgbClr val="5BC8F5"/>
                </a:solidFill>
                <a:latin typeface="Consolas"/>
              </a:rPr>
              <a:t>GREEKS</a:t>
            </a:r>
            <a:r>
              <a:rPr sz="750" b="0" i="0">
                <a:solidFill>
                  <a:srgbClr val="93A79A"/>
                </a:solidFill>
                <a:latin typeface="Consolas"/>
              </a:rPr>
              <a:t>  ›  Price vs volatility</a:t>
            </a:r>
          </a:p>
        </p:txBody>
      </p:sp>
      <p:sp>
        <p:nvSpPr>
          <p:cNvPr id="26" name="TextBox 25"/>
          <p:cNvSpPr txBox="1"/>
          <p:nvPr/>
        </p:nvSpPr>
        <p:spPr>
          <a:xfrm>
            <a:off x="566928" y="3310128"/>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Close to a straight line: 6.81 at 10% volatility, 10.45 at 20%, 14.23 at 30%.</a:t>
            </a:r>
          </a:p>
        </p:txBody>
      </p:sp>
      <p:sp>
        <p:nvSpPr>
          <p:cNvPr id="27" name="Rectangle 26"/>
          <p:cNvSpPr/>
          <p:nvPr/>
        </p:nvSpPr>
        <p:spPr>
          <a:xfrm>
            <a:off x="566928" y="3621024"/>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3653028"/>
            <a:ext cx="2971800" cy="128016"/>
          </a:xfrm>
          <a:prstGeom prst="rect">
            <a:avLst/>
          </a:prstGeom>
          <a:noFill/>
        </p:spPr>
        <p:txBody>
          <a:bodyPr wrap="square" lIns="0" tIns="0" rIns="0" bIns="0" anchor="t">
            <a:spAutoFit/>
          </a:bodyPr>
          <a:lstStyle/>
          <a:p>
            <a:pPr algn="l"/>
            <a:r>
              <a:rPr sz="750" b="1" i="0">
                <a:solidFill>
                  <a:srgbClr val="5BC8F5"/>
                </a:solidFill>
                <a:latin typeface="Consolas"/>
              </a:rPr>
              <a:t>MARKET &amp; SMILE</a:t>
            </a:r>
            <a:r>
              <a:rPr sz="750" b="0" i="0">
                <a:solidFill>
                  <a:srgbClr val="93A79A"/>
                </a:solidFill>
                <a:latin typeface="Consolas"/>
              </a:rPr>
              <a:t>  ›  Implied volatility round trip</a:t>
            </a:r>
          </a:p>
        </p:txBody>
      </p:sp>
      <p:sp>
        <p:nvSpPr>
          <p:cNvPr id="29" name="TextBox 28"/>
          <p:cNvSpPr txBox="1"/>
          <p:nvPr/>
        </p:nvSpPr>
        <p:spPr>
          <a:xfrm>
            <a:off x="566928" y="3785616"/>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21 strikes priced on a skew from 23.75% to 16.25%, then solved back. Largest error 1.6e-11.</a:t>
            </a:r>
          </a:p>
        </p:txBody>
      </p:sp>
      <p:sp>
        <p:nvSpPr>
          <p:cNvPr id="30" name="Rectangle 29"/>
          <p:cNvSpPr/>
          <p:nvPr/>
        </p:nvSpPr>
        <p:spPr>
          <a:xfrm>
            <a:off x="566928" y="4096512"/>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4128516"/>
            <a:ext cx="2971800" cy="128016"/>
          </a:xfrm>
          <a:prstGeom prst="rect">
            <a:avLst/>
          </a:prstGeom>
          <a:noFill/>
        </p:spPr>
        <p:txBody>
          <a:bodyPr wrap="square" lIns="0" tIns="0" rIns="0" bIns="0" anchor="t">
            <a:spAutoFit/>
          </a:bodyPr>
          <a:lstStyle/>
          <a:p>
            <a:pPr algn="l"/>
            <a:r>
              <a:rPr sz="750" b="1" i="0">
                <a:solidFill>
                  <a:srgbClr val="5BC8F5"/>
                </a:solidFill>
                <a:latin typeface="Consolas"/>
              </a:rPr>
              <a:t>MARKET &amp; SMILE</a:t>
            </a:r>
            <a:r>
              <a:rPr sz="750" b="0" i="0">
                <a:solidFill>
                  <a:srgbClr val="93A79A"/>
                </a:solidFill>
                <a:latin typeface="Consolas"/>
              </a:rPr>
              <a:t>  ›  Vega by strike</a:t>
            </a:r>
          </a:p>
        </p:txBody>
      </p:sp>
      <p:sp>
        <p:nvSpPr>
          <p:cNvPr id="32" name="TextBox 31"/>
          <p:cNvSpPr txBox="1"/>
          <p:nvPr/>
        </p:nvSpPr>
        <p:spPr>
          <a:xfrm>
            <a:off x="566928" y="4261104"/>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0.397 at strike 105, 0.122 at strike 75: far-from-the-money quotes pin volatility down least.</a:t>
            </a:r>
          </a:p>
        </p:txBody>
      </p:sp>
      <p:sp>
        <p:nvSpPr>
          <p:cNvPr id="33" name="TextBox 32"/>
          <p:cNvSpPr txBox="1"/>
          <p:nvPr/>
        </p:nvSpPr>
        <p:spPr>
          <a:xfrm>
            <a:off x="3703320" y="1344168"/>
            <a:ext cx="5029200" cy="146304"/>
          </a:xfrm>
          <a:prstGeom prst="rect">
            <a:avLst/>
          </a:prstGeom>
          <a:noFill/>
        </p:spPr>
        <p:txBody>
          <a:bodyPr wrap="square" lIns="0" tIns="0" rIns="0" bIns="0" anchor="t">
            <a:spAutoFit/>
          </a:bodyPr>
          <a:lstStyle/>
          <a:p>
            <a:pPr algn="l"/>
            <a:r>
              <a:rPr sz="750" b="1" i="0">
                <a:solidFill>
                  <a:srgbClr val="3DDC84"/>
                </a:solidFill>
                <a:latin typeface="Consolas"/>
              </a:rPr>
              <a:t>MARKET &amp; SMILE</a:t>
            </a:r>
            <a:r>
              <a:rPr sz="750" b="0" i="0">
                <a:solidFill>
                  <a:srgbClr val="93A79A"/>
                </a:solidFill>
                <a:latin typeface="Consolas"/>
              </a:rPr>
              <a:t>  ›  Implied volatility round trip</a:t>
            </a:r>
          </a:p>
        </p:txBody>
      </p:sp>
      <p:pic>
        <p:nvPicPr>
          <p:cNvPr id="34" name="Picture 33" descr="volbsm_market_trip.png"/>
          <p:cNvPicPr>
            <a:picLocks noChangeAspect="1"/>
          </p:cNvPicPr>
          <p:nvPr/>
        </p:nvPicPr>
        <p:blipFill>
          <a:blip r:embed="rId3"/>
          <a:stretch>
            <a:fillRect/>
          </a:stretch>
        </p:blipFill>
        <p:spPr>
          <a:xfrm>
            <a:off x="3703320" y="1517904"/>
            <a:ext cx="3882547" cy="1700784"/>
          </a:xfrm>
          <a:prstGeom prst="rect">
            <a:avLst/>
          </a:prstGeom>
        </p:spPr>
      </p:pic>
      <p:sp>
        <p:nvSpPr>
          <p:cNvPr id="35" name="Rectangle 34"/>
          <p:cNvSpPr/>
          <p:nvPr/>
        </p:nvSpPr>
        <p:spPr>
          <a:xfrm>
            <a:off x="3703320" y="1517904"/>
            <a:ext cx="3882547" cy="1700784"/>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03320" y="3273552"/>
            <a:ext cx="2468880" cy="146304"/>
          </a:xfrm>
          <a:prstGeom prst="rect">
            <a:avLst/>
          </a:prstGeom>
          <a:noFill/>
        </p:spPr>
        <p:txBody>
          <a:bodyPr wrap="square" lIns="0" tIns="0" rIns="0" bIns="0" anchor="t">
            <a:spAutoFit/>
          </a:bodyPr>
          <a:lstStyle/>
          <a:p>
            <a:pPr algn="l"/>
            <a:r>
              <a:rPr sz="750" b="1" i="0">
                <a:solidFill>
                  <a:srgbClr val="3DDC84"/>
                </a:solidFill>
                <a:latin typeface="Consolas"/>
              </a:rPr>
              <a:t>GREEKS</a:t>
            </a:r>
            <a:r>
              <a:rPr sz="750" b="0" i="0">
                <a:solidFill>
                  <a:srgbClr val="93A79A"/>
                </a:solidFill>
                <a:latin typeface="Consolas"/>
              </a:rPr>
              <a:t>  ›  Price vs volatility</a:t>
            </a:r>
          </a:p>
        </p:txBody>
      </p:sp>
      <p:pic>
        <p:nvPicPr>
          <p:cNvPr id="37" name="Picture 36" descr="volbsm_greeks_pvol.png"/>
          <p:cNvPicPr>
            <a:picLocks noChangeAspect="1"/>
          </p:cNvPicPr>
          <p:nvPr/>
        </p:nvPicPr>
        <p:blipFill>
          <a:blip r:embed="rId4"/>
          <a:stretch>
            <a:fillRect/>
          </a:stretch>
        </p:blipFill>
        <p:spPr>
          <a:xfrm>
            <a:off x="3703320" y="3447288"/>
            <a:ext cx="2396530" cy="1344168"/>
          </a:xfrm>
          <a:prstGeom prst="rect">
            <a:avLst/>
          </a:prstGeom>
        </p:spPr>
      </p:pic>
      <p:sp>
        <p:nvSpPr>
          <p:cNvPr id="38" name="Rectangle 37"/>
          <p:cNvSpPr/>
          <p:nvPr/>
        </p:nvSpPr>
        <p:spPr>
          <a:xfrm>
            <a:off x="3703320" y="3447288"/>
            <a:ext cx="2396530" cy="1344168"/>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63640" y="3273552"/>
            <a:ext cx="2468880" cy="146304"/>
          </a:xfrm>
          <a:prstGeom prst="rect">
            <a:avLst/>
          </a:prstGeom>
          <a:noFill/>
        </p:spPr>
        <p:txBody>
          <a:bodyPr wrap="square" lIns="0" tIns="0" rIns="0" bIns="0" anchor="t">
            <a:spAutoFit/>
          </a:bodyPr>
          <a:lstStyle/>
          <a:p>
            <a:pPr algn="l"/>
            <a:r>
              <a:rPr sz="750" b="1" i="0">
                <a:solidFill>
                  <a:srgbClr val="3DDC84"/>
                </a:solidFill>
                <a:latin typeface="Consolas"/>
              </a:rPr>
              <a:t>MARKET &amp; SMILE</a:t>
            </a:r>
            <a:r>
              <a:rPr sz="750" b="0" i="0">
                <a:solidFill>
                  <a:srgbClr val="93A79A"/>
                </a:solidFill>
                <a:latin typeface="Consolas"/>
              </a:rPr>
              <a:t>  ›  Vega by strike</a:t>
            </a:r>
          </a:p>
        </p:txBody>
      </p:sp>
      <p:pic>
        <p:nvPicPr>
          <p:cNvPr id="40" name="Picture 39" descr="volbsm_market_vega.png"/>
          <p:cNvPicPr>
            <a:picLocks noChangeAspect="1"/>
          </p:cNvPicPr>
          <p:nvPr/>
        </p:nvPicPr>
        <p:blipFill>
          <a:blip r:embed="rId5"/>
          <a:stretch>
            <a:fillRect/>
          </a:stretch>
        </p:blipFill>
        <p:spPr>
          <a:xfrm>
            <a:off x="6263640" y="3447288"/>
            <a:ext cx="1995572" cy="1344168"/>
          </a:xfrm>
          <a:prstGeom prst="rect">
            <a:avLst/>
          </a:prstGeom>
        </p:spPr>
      </p:pic>
      <p:sp>
        <p:nvSpPr>
          <p:cNvPr id="41" name="Rectangle 40"/>
          <p:cNvSpPr/>
          <p:nvPr/>
        </p:nvSpPr>
        <p:spPr>
          <a:xfrm>
            <a:off x="6263640" y="3447288"/>
            <a:ext cx="1995572" cy="1344168"/>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30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10 / VEGA_BY_PRODUCT</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Vega: how much each product cares about volatility.</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bump of one flat volatility; simulation vegas carry sampling noise.</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Vega is the change in price for a one-point change in volatility. It is largest at the money and with a long time to expiry, and it differs sharply by product: averaging dampens it, a look-back amplifies it, and a knock-out barrier reverses its sign.</a:t>
            </a:r>
          </a:p>
        </p:txBody>
      </p:sp>
      <p:sp>
        <p:nvSpPr>
          <p:cNvPr id="10" name="Rectangle 9"/>
          <p:cNvSpPr/>
          <p:nvPr/>
        </p:nvSpPr>
        <p:spPr>
          <a:xfrm>
            <a:off x="566928" y="1344168"/>
            <a:ext cx="2971800" cy="105156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Product</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1" i="0">
                <a:solidFill>
                  <a:srgbClr val="FFB020"/>
                </a:solidFill>
                <a:latin typeface="Consolas"/>
              </a:rPr>
              <a:t>each of the five in turn</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Option type</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0" i="0">
                <a:solidFill>
                  <a:srgbClr val="E8F2EA"/>
                </a:solidFill>
                <a:latin typeface="Consolas"/>
              </a:rPr>
              <a:t>Call</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Barrier</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0" i="0">
                <a:solidFill>
                  <a:srgbClr val="E8F2EA"/>
                </a:solidFill>
                <a:latin typeface="Consolas"/>
              </a:rPr>
              <a:t>up-and-out · H 120</a:t>
            </a:r>
          </a:p>
        </p:txBody>
      </p:sp>
      <p:sp>
        <p:nvSpPr>
          <p:cNvPr id="18" name="Rectangle 17"/>
          <p:cNvSpPr/>
          <p:nvPr/>
        </p:nvSpPr>
        <p:spPr>
          <a:xfrm>
            <a:off x="676656" y="2167127"/>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 y="2194559"/>
            <a:ext cx="2788920" cy="164592"/>
          </a:xfrm>
          <a:prstGeom prst="rect">
            <a:avLst/>
          </a:prstGeom>
          <a:noFill/>
        </p:spPr>
        <p:txBody>
          <a:bodyPr wrap="square" lIns="0" tIns="0" rIns="0" bIns="0" anchor="ctr">
            <a:spAutoFit/>
          </a:bodyPr>
          <a:lstStyle/>
          <a:p>
            <a:pPr algn="l"/>
            <a:r>
              <a:rPr sz="750" b="0" i="0">
                <a:solidFill>
                  <a:srgbClr val="93A79A"/>
                </a:solidFill>
                <a:latin typeface="Consolas"/>
              </a:rPr>
              <a:t>S 100 · K 100 · 365 d · σ 20% · r 5% · q 0%</a:t>
            </a:r>
          </a:p>
        </p:txBody>
      </p:sp>
      <p:sp>
        <p:nvSpPr>
          <p:cNvPr id="20" name="TextBox 19"/>
          <p:cNvSpPr txBox="1"/>
          <p:nvPr/>
        </p:nvSpPr>
        <p:spPr>
          <a:xfrm>
            <a:off x="566928" y="248716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1" name="Rectangle 20"/>
          <p:cNvSpPr/>
          <p:nvPr/>
        </p:nvSpPr>
        <p:spPr>
          <a:xfrm>
            <a:off x="566928" y="267004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2702052"/>
            <a:ext cx="2971800" cy="128016"/>
          </a:xfrm>
          <a:prstGeom prst="rect">
            <a:avLst/>
          </a:prstGeom>
          <a:noFill/>
        </p:spPr>
        <p:txBody>
          <a:bodyPr wrap="square" lIns="0" tIns="0" rIns="0" bIns="0" anchor="t">
            <a:spAutoFit/>
          </a:bodyPr>
          <a:lstStyle/>
          <a:p>
            <a:pPr algn="l"/>
            <a:r>
              <a:rPr sz="750" b="1" i="0">
                <a:solidFill>
                  <a:srgbClr val="5BC8F5"/>
                </a:solidFill>
                <a:latin typeface="Consolas"/>
              </a:rPr>
              <a:t>PRICER</a:t>
            </a:r>
            <a:r>
              <a:rPr sz="750" b="0" i="0">
                <a:solidFill>
                  <a:srgbClr val="93A79A"/>
                </a:solidFill>
                <a:latin typeface="Consolas"/>
              </a:rPr>
              <a:t>  ›  price strip, Vega</a:t>
            </a:r>
          </a:p>
        </p:txBody>
      </p:sp>
      <p:sp>
        <p:nvSpPr>
          <p:cNvPr id="23" name="TextBox 22"/>
          <p:cNvSpPr txBox="1"/>
          <p:nvPr/>
        </p:nvSpPr>
        <p:spPr>
          <a:xfrm>
            <a:off x="566928" y="2834640"/>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Vanilla 0.3752 · Asian 0.2197 · Basket 0.3081 · Lookback 0.6801 · Barrier −0.1328.</a:t>
            </a:r>
          </a:p>
        </p:txBody>
      </p:sp>
      <p:sp>
        <p:nvSpPr>
          <p:cNvPr id="24" name="Rectangle 23"/>
          <p:cNvSpPr/>
          <p:nvPr/>
        </p:nvSpPr>
        <p:spPr>
          <a:xfrm>
            <a:off x="566928" y="3145536"/>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177540"/>
            <a:ext cx="2971800" cy="128016"/>
          </a:xfrm>
          <a:prstGeom prst="rect">
            <a:avLst/>
          </a:prstGeom>
          <a:noFill/>
        </p:spPr>
        <p:txBody>
          <a:bodyPr wrap="square" lIns="0" tIns="0" rIns="0" bIns="0" anchor="t">
            <a:spAutoFit/>
          </a:bodyPr>
          <a:lstStyle/>
          <a:p>
            <a:pPr algn="l"/>
            <a:r>
              <a:rPr sz="750" b="1" i="0">
                <a:solidFill>
                  <a:srgbClr val="5BC8F5"/>
                </a:solidFill>
                <a:latin typeface="Consolas"/>
              </a:rPr>
              <a:t>GREEKS</a:t>
            </a:r>
            <a:r>
              <a:rPr sz="750" b="0" i="0">
                <a:solidFill>
                  <a:srgbClr val="93A79A"/>
                </a:solidFill>
                <a:latin typeface="Consolas"/>
              </a:rPr>
              <a:t>  ›  Vega heatmap · spot × vol</a:t>
            </a:r>
          </a:p>
        </p:txBody>
      </p:sp>
      <p:sp>
        <p:nvSpPr>
          <p:cNvPr id="26" name="TextBox 25"/>
          <p:cNvSpPr txBox="1"/>
          <p:nvPr/>
        </p:nvSpPr>
        <p:spPr>
          <a:xfrm>
            <a:off x="566928" y="3310128"/>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0.375 at the money. 0.238 with spot 20% lower, 0.216 with spot 20% higher.</a:t>
            </a:r>
          </a:p>
        </p:txBody>
      </p:sp>
      <p:sp>
        <p:nvSpPr>
          <p:cNvPr id="27" name="Rectangle 26"/>
          <p:cNvSpPr/>
          <p:nvPr/>
        </p:nvSpPr>
        <p:spPr>
          <a:xfrm>
            <a:off x="566928" y="3621024"/>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3653028"/>
            <a:ext cx="2971800" cy="128016"/>
          </a:xfrm>
          <a:prstGeom prst="rect">
            <a:avLst/>
          </a:prstGeom>
          <a:noFill/>
        </p:spPr>
        <p:txBody>
          <a:bodyPr wrap="square" lIns="0" tIns="0" rIns="0" bIns="0" anchor="t">
            <a:spAutoFit/>
          </a:bodyPr>
          <a:lstStyle/>
          <a:p>
            <a:pPr algn="l"/>
            <a:r>
              <a:rPr sz="750" b="1" i="0">
                <a:solidFill>
                  <a:srgbClr val="5BC8F5"/>
                </a:solidFill>
                <a:latin typeface="Consolas"/>
              </a:rPr>
              <a:t>GREEKS</a:t>
            </a:r>
            <a:r>
              <a:rPr sz="750" b="0" i="0">
                <a:solidFill>
                  <a:srgbClr val="93A79A"/>
                </a:solidFill>
                <a:latin typeface="Consolas"/>
              </a:rPr>
              <a:t>  ›  Vega heatmap, corner</a:t>
            </a:r>
          </a:p>
        </p:txBody>
      </p:sp>
      <p:sp>
        <p:nvSpPr>
          <p:cNvPr id="29" name="TextBox 28"/>
          <p:cNvSpPr txBox="1"/>
          <p:nvPr/>
        </p:nvSpPr>
        <p:spPr>
          <a:xfrm>
            <a:off x="566928" y="3785616"/>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Spot +20% and volatility 10 points lower: 0.029. Deep in the money, volatility barely matters.</a:t>
            </a:r>
          </a:p>
        </p:txBody>
      </p:sp>
      <p:sp>
        <p:nvSpPr>
          <p:cNvPr id="30" name="Rectangle 29"/>
          <p:cNvSpPr/>
          <p:nvPr/>
        </p:nvSpPr>
        <p:spPr>
          <a:xfrm>
            <a:off x="566928" y="4096512"/>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4128516"/>
            <a:ext cx="2971800" cy="128016"/>
          </a:xfrm>
          <a:prstGeom prst="rect">
            <a:avLst/>
          </a:prstGeom>
          <a:noFill/>
        </p:spPr>
        <p:txBody>
          <a:bodyPr wrap="square" lIns="0" tIns="0" rIns="0" bIns="0" anchor="t">
            <a:spAutoFit/>
          </a:bodyPr>
          <a:lstStyle/>
          <a:p>
            <a:pPr algn="l"/>
            <a:r>
              <a:rPr sz="750" b="1" i="0">
                <a:solidFill>
                  <a:srgbClr val="5BC8F5"/>
                </a:solidFill>
                <a:latin typeface="Consolas"/>
              </a:rPr>
              <a:t>SIDEBAR</a:t>
            </a:r>
            <a:r>
              <a:rPr sz="750" b="0" i="0">
                <a:solidFill>
                  <a:srgbClr val="93A79A"/>
                </a:solidFill>
                <a:latin typeface="Consolas"/>
              </a:rPr>
              <a:t>  ›  Exercise → American, Put</a:t>
            </a:r>
          </a:p>
        </p:txBody>
      </p:sp>
      <p:sp>
        <p:nvSpPr>
          <p:cNvPr id="32" name="TextBox 31"/>
          <p:cNvSpPr txBox="1"/>
          <p:nvPr/>
        </p:nvSpPr>
        <p:spPr>
          <a:xfrm>
            <a:off x="566928" y="4261104"/>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Vega 0.3754 on the tree against 0.3752 European: early exercise hardly changes it.</a:t>
            </a:r>
          </a:p>
        </p:txBody>
      </p:sp>
      <p:sp>
        <p:nvSpPr>
          <p:cNvPr id="33" name="TextBox 32"/>
          <p:cNvSpPr txBox="1"/>
          <p:nvPr/>
        </p:nvSpPr>
        <p:spPr>
          <a:xfrm>
            <a:off x="3703320" y="1344168"/>
            <a:ext cx="2468880" cy="146304"/>
          </a:xfrm>
          <a:prstGeom prst="rect">
            <a:avLst/>
          </a:prstGeom>
          <a:noFill/>
        </p:spPr>
        <p:txBody>
          <a:bodyPr wrap="square" lIns="0" tIns="0" rIns="0" bIns="0" anchor="t">
            <a:spAutoFit/>
          </a:bodyPr>
          <a:lstStyle/>
          <a:p>
            <a:pPr algn="l"/>
            <a:r>
              <a:rPr sz="750" b="1" i="0">
                <a:solidFill>
                  <a:srgbClr val="3DDC84"/>
                </a:solidFill>
                <a:latin typeface="Consolas"/>
              </a:rPr>
              <a:t>GREEKS</a:t>
            </a:r>
            <a:r>
              <a:rPr sz="750" b="0" i="0">
                <a:solidFill>
                  <a:srgbClr val="93A79A"/>
                </a:solidFill>
                <a:latin typeface="Consolas"/>
              </a:rPr>
              <a:t>  ›  Vega heatmap · spot × vol</a:t>
            </a:r>
          </a:p>
        </p:txBody>
      </p:sp>
      <p:pic>
        <p:nvPicPr>
          <p:cNvPr id="34" name="Picture 33" descr="volbsm_greeks_heat.png"/>
          <p:cNvPicPr>
            <a:picLocks noChangeAspect="1"/>
          </p:cNvPicPr>
          <p:nvPr/>
        </p:nvPicPr>
        <p:blipFill>
          <a:blip r:embed="rId3"/>
          <a:stretch>
            <a:fillRect/>
          </a:stretch>
        </p:blipFill>
        <p:spPr>
          <a:xfrm>
            <a:off x="3703320" y="1517904"/>
            <a:ext cx="2468880" cy="2580660"/>
          </a:xfrm>
          <a:prstGeom prst="rect">
            <a:avLst/>
          </a:prstGeom>
        </p:spPr>
      </p:pic>
      <p:sp>
        <p:nvSpPr>
          <p:cNvPr id="35" name="Rectangle 34"/>
          <p:cNvSpPr/>
          <p:nvPr/>
        </p:nvSpPr>
        <p:spPr>
          <a:xfrm>
            <a:off x="3703320" y="1517904"/>
            <a:ext cx="2468880" cy="2580660"/>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63640" y="1344168"/>
            <a:ext cx="2468880" cy="146304"/>
          </a:xfrm>
          <a:prstGeom prst="rect">
            <a:avLst/>
          </a:prstGeom>
          <a:noFill/>
        </p:spPr>
        <p:txBody>
          <a:bodyPr wrap="square" lIns="0" tIns="0" rIns="0" bIns="0" anchor="t">
            <a:spAutoFit/>
          </a:bodyPr>
          <a:lstStyle/>
          <a:p>
            <a:pPr algn="l"/>
            <a:r>
              <a:rPr sz="750" b="1" i="0">
                <a:solidFill>
                  <a:srgbClr val="3DDC84"/>
                </a:solidFill>
                <a:latin typeface="Consolas"/>
              </a:rPr>
              <a:t>GREEKS</a:t>
            </a:r>
            <a:r>
              <a:rPr sz="750" b="0" i="0">
                <a:solidFill>
                  <a:srgbClr val="93A79A"/>
                </a:solidFill>
                <a:latin typeface="Consolas"/>
              </a:rPr>
              <a:t>  ›  Vega vs volatility</a:t>
            </a:r>
          </a:p>
        </p:txBody>
      </p:sp>
      <p:pic>
        <p:nvPicPr>
          <p:cNvPr id="37" name="Picture 36" descr="volbsm_greeks_vega.png"/>
          <p:cNvPicPr>
            <a:picLocks noChangeAspect="1"/>
          </p:cNvPicPr>
          <p:nvPr/>
        </p:nvPicPr>
        <p:blipFill>
          <a:blip r:embed="rId4"/>
          <a:stretch>
            <a:fillRect/>
          </a:stretch>
        </p:blipFill>
        <p:spPr>
          <a:xfrm>
            <a:off x="6263640" y="1517904"/>
            <a:ext cx="2468880" cy="2104380"/>
          </a:xfrm>
          <a:prstGeom prst="rect">
            <a:avLst/>
          </a:prstGeom>
        </p:spPr>
      </p:pic>
      <p:sp>
        <p:nvSpPr>
          <p:cNvPr id="38" name="Rectangle 37"/>
          <p:cNvSpPr/>
          <p:nvPr/>
        </p:nvSpPr>
        <p:spPr>
          <a:xfrm>
            <a:off x="6263640" y="1517904"/>
            <a:ext cx="2468880" cy="2104380"/>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31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DASHBOARD 11 / VOLATILITY_SHOCK</a:t>
            </a:r>
          </a:p>
        </p:txBody>
      </p:sp>
      <p:sp>
        <p:nvSpPr>
          <p:cNvPr id="7" name="Title"/>
          <p:cNvSpPr txBox="1"/>
          <p:nvPr/>
        </p:nvSpPr>
        <p:spPr>
          <a:xfrm>
            <a:off x="566928" y="530352"/>
            <a:ext cx="8229600" cy="914400"/>
          </a:xfrm>
          <a:prstGeom prst="rect">
            <a:avLst/>
          </a:prstGeom>
          <a:noFill/>
        </p:spPr>
        <p:txBody>
          <a:bodyPr wrap="square" lIns="0" tIns="0" rIns="0" bIns="0" anchor="t">
            <a:spAutoFit/>
          </a:bodyPr>
          <a:lstStyle/>
          <a:p>
            <a:pPr algn="l">
              <a:lnSpc>
                <a:spcPct val="92000"/>
              </a:lnSpc>
            </a:pPr>
            <a:r>
              <a:rPr sz="2000" b="1" i="0">
                <a:solidFill>
                  <a:srgbClr val="E8F2EA"/>
                </a:solidFill>
                <a:latin typeface="Arial"/>
              </a:rPr>
              <a:t>Volatility shock: reprice at ±5 and ±10 points.</a:t>
            </a:r>
          </a:p>
        </p:txBody>
      </p:sp>
      <p:sp>
        <p:nvSpPr>
          <p:cNvPr id="8" name="TextBox 7"/>
          <p:cNvSpPr txBox="1"/>
          <p:nvPr/>
        </p:nvSpPr>
        <p:spPr>
          <a:xfrm>
            <a:off x="4206240" y="329184"/>
            <a:ext cx="4526280" cy="182880"/>
          </a:xfrm>
          <a:prstGeom prst="rect">
            <a:avLst/>
          </a:prstGeom>
          <a:noFill/>
        </p:spPr>
        <p:txBody>
          <a:bodyPr wrap="square" lIns="0" tIns="0" rIns="0" bIns="0" anchor="t">
            <a:spAutoFit/>
          </a:bodyPr>
          <a:lstStyle/>
          <a:p>
            <a:pPr algn="r"/>
            <a:r>
              <a:rPr sz="800" b="1" i="0">
                <a:solidFill>
                  <a:srgbClr val="FFB020"/>
                </a:solidFill>
                <a:latin typeface="Consolas"/>
              </a:rPr>
              <a:t>LIMIT  </a:t>
            </a:r>
            <a:r>
              <a:rPr sz="800" b="0" i="0">
                <a:solidFill>
                  <a:srgbClr val="93A79A"/>
                </a:solidFill>
                <a:latin typeface="Consolas"/>
              </a:rPr>
              <a:t>parallel shift of one flat volatility; no smile or term-structure shocks.</a:t>
            </a:r>
          </a:p>
        </p:txBody>
      </p:sp>
      <p:sp>
        <p:nvSpPr>
          <p:cNvPr id="9" name="TextBox 8"/>
          <p:cNvSpPr txBox="1"/>
          <p:nvPr/>
        </p:nvSpPr>
        <p:spPr>
          <a:xfrm>
            <a:off x="566928" y="905256"/>
            <a:ext cx="8138160" cy="365760"/>
          </a:xfrm>
          <a:prstGeom prst="rect">
            <a:avLst/>
          </a:prstGeom>
          <a:noFill/>
        </p:spPr>
        <p:txBody>
          <a:bodyPr wrap="square" lIns="0" tIns="0" rIns="0" bIns="0" anchor="t">
            <a:spAutoFit/>
          </a:bodyPr>
          <a:lstStyle/>
          <a:p>
            <a:pPr algn="l">
              <a:lnSpc>
                <a:spcPct val="100000"/>
              </a:lnSpc>
            </a:pPr>
            <a:r>
              <a:rPr sz="950" b="0" i="0">
                <a:solidFill>
                  <a:srgbClr val="93A79A"/>
                </a:solidFill>
                <a:latin typeface="Arial"/>
              </a:rPr>
              <a:t>A volatility shock moves the Vol σ input and reprices the contract in full, with everything else held fixed. The Scenarios tab runs ±5 and ±10 points and crosses them with spot moves. A long option gains when volatility rises; a knock-out barrier does the opposite.</a:t>
            </a:r>
          </a:p>
        </p:txBody>
      </p:sp>
      <p:sp>
        <p:nvSpPr>
          <p:cNvPr id="10" name="Rectangle 9"/>
          <p:cNvSpPr/>
          <p:nvPr/>
        </p:nvSpPr>
        <p:spPr>
          <a:xfrm>
            <a:off x="566928" y="1344168"/>
            <a:ext cx="2971800" cy="105156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1399032"/>
            <a:ext cx="2743200" cy="146304"/>
          </a:xfrm>
          <a:prstGeom prst="rect">
            <a:avLst/>
          </a:prstGeom>
          <a:noFill/>
        </p:spPr>
        <p:txBody>
          <a:bodyPr wrap="square" lIns="0" tIns="0" rIns="0" bIns="0" anchor="t">
            <a:spAutoFit/>
          </a:bodyPr>
          <a:lstStyle/>
          <a:p>
            <a:pPr algn="l"/>
            <a:r>
              <a:rPr sz="750" b="1" i="0">
                <a:solidFill>
                  <a:srgbClr val="3DDC84"/>
                </a:solidFill>
                <a:latin typeface="Consolas"/>
              </a:rPr>
              <a:t>SET IN THE SIDEBAR, THEN PRESS PRICE</a:t>
            </a:r>
          </a:p>
        </p:txBody>
      </p:sp>
      <p:sp>
        <p:nvSpPr>
          <p:cNvPr id="12" name="TextBox 11"/>
          <p:cNvSpPr txBox="1"/>
          <p:nvPr/>
        </p:nvSpPr>
        <p:spPr>
          <a:xfrm>
            <a:off x="676656" y="1591056"/>
            <a:ext cx="1143000" cy="173736"/>
          </a:xfrm>
          <a:prstGeom prst="rect">
            <a:avLst/>
          </a:prstGeom>
          <a:noFill/>
        </p:spPr>
        <p:txBody>
          <a:bodyPr wrap="square" lIns="0" tIns="0" rIns="0" bIns="0" anchor="ctr">
            <a:spAutoFit/>
          </a:bodyPr>
          <a:lstStyle/>
          <a:p>
            <a:pPr algn="l"/>
            <a:r>
              <a:rPr sz="850" b="0" i="0">
                <a:solidFill>
                  <a:srgbClr val="93A79A"/>
                </a:solidFill>
                <a:latin typeface="Arial"/>
              </a:rPr>
              <a:t>Pricing model</a:t>
            </a:r>
          </a:p>
        </p:txBody>
      </p:sp>
      <p:sp>
        <p:nvSpPr>
          <p:cNvPr id="13" name="TextBox 12"/>
          <p:cNvSpPr txBox="1"/>
          <p:nvPr/>
        </p:nvSpPr>
        <p:spPr>
          <a:xfrm>
            <a:off x="1783080" y="1591056"/>
            <a:ext cx="1719072" cy="173736"/>
          </a:xfrm>
          <a:prstGeom prst="rect">
            <a:avLst/>
          </a:prstGeom>
          <a:noFill/>
        </p:spPr>
        <p:txBody>
          <a:bodyPr wrap="square" lIns="0" tIns="0" rIns="0" bIns="0" anchor="ctr">
            <a:spAutoFit/>
          </a:bodyPr>
          <a:lstStyle/>
          <a:p>
            <a:pPr algn="l"/>
            <a:r>
              <a:rPr sz="850" b="0" i="0">
                <a:solidFill>
                  <a:srgbClr val="E8F2EA"/>
                </a:solidFill>
                <a:latin typeface="Consolas"/>
              </a:rPr>
              <a:t>Black-Scholes-Merton</a:t>
            </a:r>
          </a:p>
        </p:txBody>
      </p:sp>
      <p:sp>
        <p:nvSpPr>
          <p:cNvPr id="14" name="TextBox 13"/>
          <p:cNvSpPr txBox="1"/>
          <p:nvPr/>
        </p:nvSpPr>
        <p:spPr>
          <a:xfrm>
            <a:off x="676656" y="1773936"/>
            <a:ext cx="1143000" cy="173736"/>
          </a:xfrm>
          <a:prstGeom prst="rect">
            <a:avLst/>
          </a:prstGeom>
          <a:noFill/>
        </p:spPr>
        <p:txBody>
          <a:bodyPr wrap="square" lIns="0" tIns="0" rIns="0" bIns="0" anchor="ctr">
            <a:spAutoFit/>
          </a:bodyPr>
          <a:lstStyle/>
          <a:p>
            <a:pPr algn="l"/>
            <a:r>
              <a:rPr sz="850" b="0" i="0">
                <a:solidFill>
                  <a:srgbClr val="93A79A"/>
                </a:solidFill>
                <a:latin typeface="Arial"/>
              </a:rPr>
              <a:t>Tab</a:t>
            </a:r>
          </a:p>
        </p:txBody>
      </p:sp>
      <p:sp>
        <p:nvSpPr>
          <p:cNvPr id="15" name="TextBox 14"/>
          <p:cNvSpPr txBox="1"/>
          <p:nvPr/>
        </p:nvSpPr>
        <p:spPr>
          <a:xfrm>
            <a:off x="1783080" y="1773936"/>
            <a:ext cx="1719072" cy="173736"/>
          </a:xfrm>
          <a:prstGeom prst="rect">
            <a:avLst/>
          </a:prstGeom>
          <a:noFill/>
        </p:spPr>
        <p:txBody>
          <a:bodyPr wrap="square" lIns="0" tIns="0" rIns="0" bIns="0" anchor="ctr">
            <a:spAutoFit/>
          </a:bodyPr>
          <a:lstStyle/>
          <a:p>
            <a:pPr algn="l"/>
            <a:r>
              <a:rPr sz="850" b="1" i="0">
                <a:solidFill>
                  <a:srgbClr val="FFB020"/>
                </a:solidFill>
                <a:latin typeface="Consolas"/>
              </a:rPr>
              <a:t>Scenarios</a:t>
            </a:r>
          </a:p>
        </p:txBody>
      </p:sp>
      <p:sp>
        <p:nvSpPr>
          <p:cNvPr id="16" name="TextBox 15"/>
          <p:cNvSpPr txBox="1"/>
          <p:nvPr/>
        </p:nvSpPr>
        <p:spPr>
          <a:xfrm>
            <a:off x="676656" y="1956816"/>
            <a:ext cx="1143000" cy="173736"/>
          </a:xfrm>
          <a:prstGeom prst="rect">
            <a:avLst/>
          </a:prstGeom>
          <a:noFill/>
        </p:spPr>
        <p:txBody>
          <a:bodyPr wrap="square" lIns="0" tIns="0" rIns="0" bIns="0" anchor="ctr">
            <a:spAutoFit/>
          </a:bodyPr>
          <a:lstStyle/>
          <a:p>
            <a:pPr algn="l"/>
            <a:r>
              <a:rPr sz="850" b="0" i="0">
                <a:solidFill>
                  <a:srgbClr val="93A79A"/>
                </a:solidFill>
                <a:latin typeface="Arial"/>
              </a:rPr>
              <a:t>Then Product</a:t>
            </a:r>
          </a:p>
        </p:txBody>
      </p:sp>
      <p:sp>
        <p:nvSpPr>
          <p:cNvPr id="17" name="TextBox 16"/>
          <p:cNvSpPr txBox="1"/>
          <p:nvPr/>
        </p:nvSpPr>
        <p:spPr>
          <a:xfrm>
            <a:off x="1783080" y="1956816"/>
            <a:ext cx="1719072" cy="173736"/>
          </a:xfrm>
          <a:prstGeom prst="rect">
            <a:avLst/>
          </a:prstGeom>
          <a:noFill/>
        </p:spPr>
        <p:txBody>
          <a:bodyPr wrap="square" lIns="0" tIns="0" rIns="0" bIns="0" anchor="ctr">
            <a:spAutoFit/>
          </a:bodyPr>
          <a:lstStyle/>
          <a:p>
            <a:pPr algn="l"/>
            <a:r>
              <a:rPr sz="850" b="1" i="0">
                <a:solidFill>
                  <a:srgbClr val="FFB020"/>
                </a:solidFill>
                <a:latin typeface="Consolas"/>
              </a:rPr>
              <a:t>Barrier · up-and-out · H 120</a:t>
            </a:r>
          </a:p>
        </p:txBody>
      </p:sp>
      <p:sp>
        <p:nvSpPr>
          <p:cNvPr id="18" name="Rectangle 17"/>
          <p:cNvSpPr/>
          <p:nvPr/>
        </p:nvSpPr>
        <p:spPr>
          <a:xfrm>
            <a:off x="676656" y="2167127"/>
            <a:ext cx="2752344"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 y="2194559"/>
            <a:ext cx="2788920" cy="164592"/>
          </a:xfrm>
          <a:prstGeom prst="rect">
            <a:avLst/>
          </a:prstGeom>
          <a:noFill/>
        </p:spPr>
        <p:txBody>
          <a:bodyPr wrap="square" lIns="0" tIns="0" rIns="0" bIns="0" anchor="ctr">
            <a:spAutoFit/>
          </a:bodyPr>
          <a:lstStyle/>
          <a:p>
            <a:pPr algn="l"/>
            <a:r>
              <a:rPr sz="750" b="0" i="0">
                <a:solidFill>
                  <a:srgbClr val="93A79A"/>
                </a:solidFill>
                <a:latin typeface="Consolas"/>
              </a:rPr>
              <a:t>S 100 · K 100 · 365 d · σ 20% · r 5% · q 0%</a:t>
            </a:r>
          </a:p>
        </p:txBody>
      </p:sp>
      <p:sp>
        <p:nvSpPr>
          <p:cNvPr id="20" name="TextBox 19"/>
          <p:cNvSpPr txBox="1"/>
          <p:nvPr/>
        </p:nvSpPr>
        <p:spPr>
          <a:xfrm>
            <a:off x="566928" y="2487168"/>
            <a:ext cx="2971800" cy="146304"/>
          </a:xfrm>
          <a:prstGeom prst="rect">
            <a:avLst/>
          </a:prstGeom>
          <a:noFill/>
        </p:spPr>
        <p:txBody>
          <a:bodyPr wrap="square" lIns="0" tIns="0" rIns="0" bIns="0" anchor="t">
            <a:spAutoFit/>
          </a:bodyPr>
          <a:lstStyle/>
          <a:p>
            <a:pPr algn="l"/>
            <a:r>
              <a:rPr sz="750" b="1" i="0">
                <a:solidFill>
                  <a:srgbClr val="3DDC84"/>
                </a:solidFill>
                <a:latin typeface="Consolas"/>
              </a:rPr>
              <a:t>WHERE TO LOOK, AND WHAT IT SHOWS</a:t>
            </a:r>
          </a:p>
        </p:txBody>
      </p:sp>
      <p:sp>
        <p:nvSpPr>
          <p:cNvPr id="21" name="Rectangle 20"/>
          <p:cNvSpPr/>
          <p:nvPr/>
        </p:nvSpPr>
        <p:spPr>
          <a:xfrm>
            <a:off x="566928" y="2670048"/>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2702052"/>
            <a:ext cx="2971800" cy="128016"/>
          </a:xfrm>
          <a:prstGeom prst="rect">
            <a:avLst/>
          </a:prstGeom>
          <a:noFill/>
        </p:spPr>
        <p:txBody>
          <a:bodyPr wrap="square" lIns="0" tIns="0" rIns="0" bIns="0" anchor="t">
            <a:spAutoFit/>
          </a:bodyPr>
          <a:lstStyle/>
          <a:p>
            <a:pPr algn="l"/>
            <a:r>
              <a:rPr sz="750" b="1" i="0">
                <a:solidFill>
                  <a:srgbClr val="5BC8F5"/>
                </a:solidFill>
                <a:latin typeface="Consolas"/>
              </a:rPr>
              <a:t>SCENARIOS</a:t>
            </a:r>
            <a:r>
              <a:rPr sz="750" b="0" i="0">
                <a:solidFill>
                  <a:srgbClr val="93A79A"/>
                </a:solidFill>
                <a:latin typeface="Consolas"/>
              </a:rPr>
              <a:t>  ›  Volatility shocks</a:t>
            </a:r>
          </a:p>
        </p:txBody>
      </p:sp>
      <p:sp>
        <p:nvSpPr>
          <p:cNvPr id="23" name="TextBox 22"/>
          <p:cNvSpPr txBox="1"/>
          <p:nvPr/>
        </p:nvSpPr>
        <p:spPr>
          <a:xfrm>
            <a:off x="566928" y="2834640"/>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On the 10.4506 call: −10 points −3.646 (−35%), −5 −1.859, +5 +1.885, +10 +3.781 (+36%).</a:t>
            </a:r>
          </a:p>
        </p:txBody>
      </p:sp>
      <p:sp>
        <p:nvSpPr>
          <p:cNvPr id="24" name="Rectangle 23"/>
          <p:cNvSpPr/>
          <p:nvPr/>
        </p:nvSpPr>
        <p:spPr>
          <a:xfrm>
            <a:off x="566928" y="3145536"/>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177540"/>
            <a:ext cx="2971800" cy="128016"/>
          </a:xfrm>
          <a:prstGeom prst="rect">
            <a:avLst/>
          </a:prstGeom>
          <a:noFill/>
        </p:spPr>
        <p:txBody>
          <a:bodyPr wrap="square" lIns="0" tIns="0" rIns="0" bIns="0" anchor="t">
            <a:spAutoFit/>
          </a:bodyPr>
          <a:lstStyle/>
          <a:p>
            <a:pPr algn="l"/>
            <a:r>
              <a:rPr sz="750" b="1" i="0">
                <a:solidFill>
                  <a:srgbClr val="5BC8F5"/>
                </a:solidFill>
                <a:latin typeface="Consolas"/>
              </a:rPr>
              <a:t>SCENARIOS</a:t>
            </a:r>
            <a:r>
              <a:rPr sz="750" b="0" i="0">
                <a:solidFill>
                  <a:srgbClr val="93A79A"/>
                </a:solidFill>
                <a:latin typeface="Consolas"/>
              </a:rPr>
              <a:t>  ›  against vega</a:t>
            </a:r>
          </a:p>
        </p:txBody>
      </p:sp>
      <p:sp>
        <p:nvSpPr>
          <p:cNvPr id="26" name="TextBox 25"/>
          <p:cNvSpPr txBox="1"/>
          <p:nvPr/>
        </p:nvSpPr>
        <p:spPr>
          <a:xfrm>
            <a:off x="566928" y="3310128"/>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Vega × 10 predicts ±3.752. The full reprice is +3.781 up and −3.646 down: not symmetric.</a:t>
            </a:r>
          </a:p>
        </p:txBody>
      </p:sp>
      <p:sp>
        <p:nvSpPr>
          <p:cNvPr id="27" name="Rectangle 26"/>
          <p:cNvSpPr/>
          <p:nvPr/>
        </p:nvSpPr>
        <p:spPr>
          <a:xfrm>
            <a:off x="566928" y="3621024"/>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3653028"/>
            <a:ext cx="2971800" cy="128016"/>
          </a:xfrm>
          <a:prstGeom prst="rect">
            <a:avLst/>
          </a:prstGeom>
          <a:noFill/>
        </p:spPr>
        <p:txBody>
          <a:bodyPr wrap="square" lIns="0" tIns="0" rIns="0" bIns="0" anchor="t">
            <a:spAutoFit/>
          </a:bodyPr>
          <a:lstStyle/>
          <a:p>
            <a:pPr algn="l"/>
            <a:r>
              <a:rPr sz="750" b="1" i="0">
                <a:solidFill>
                  <a:srgbClr val="5BC8F5"/>
                </a:solidFill>
                <a:latin typeface="Consolas"/>
              </a:rPr>
              <a:t>SCENARIOS</a:t>
            </a:r>
            <a:r>
              <a:rPr sz="750" b="0" i="0">
                <a:solidFill>
                  <a:srgbClr val="93A79A"/>
                </a:solidFill>
                <a:latin typeface="Consolas"/>
              </a:rPr>
              <a:t>  ›  P&amp;L matrix · spot × vol</a:t>
            </a:r>
          </a:p>
        </p:txBody>
      </p:sp>
      <p:sp>
        <p:nvSpPr>
          <p:cNvPr id="29" name="TextBox 28"/>
          <p:cNvSpPr txBox="1"/>
          <p:nvPr/>
        </p:nvSpPr>
        <p:spPr>
          <a:xfrm>
            <a:off x="566928" y="3785616"/>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Worst cell, spot −10% with volatility −10: −8.77, or 84% of the premium. Best: +10.61.</a:t>
            </a:r>
          </a:p>
        </p:txBody>
      </p:sp>
      <p:sp>
        <p:nvSpPr>
          <p:cNvPr id="30" name="Rectangle 29"/>
          <p:cNvSpPr/>
          <p:nvPr/>
        </p:nvSpPr>
        <p:spPr>
          <a:xfrm>
            <a:off x="566928" y="4096512"/>
            <a:ext cx="2971800"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4128516"/>
            <a:ext cx="2971800" cy="128016"/>
          </a:xfrm>
          <a:prstGeom prst="rect">
            <a:avLst/>
          </a:prstGeom>
          <a:noFill/>
        </p:spPr>
        <p:txBody>
          <a:bodyPr wrap="square" lIns="0" tIns="0" rIns="0" bIns="0" anchor="t">
            <a:spAutoFit/>
          </a:bodyPr>
          <a:lstStyle/>
          <a:p>
            <a:pPr algn="l"/>
            <a:r>
              <a:rPr sz="750" b="1" i="0">
                <a:solidFill>
                  <a:srgbClr val="5BC8F5"/>
                </a:solidFill>
                <a:latin typeface="Consolas"/>
              </a:rPr>
              <a:t>SCENARIOS</a:t>
            </a:r>
            <a:r>
              <a:rPr sz="750" b="0" i="0">
                <a:solidFill>
                  <a:srgbClr val="93A79A"/>
                </a:solidFill>
                <a:latin typeface="Consolas"/>
              </a:rPr>
              <a:t>  ›  Volatility shocks, Barrier</a:t>
            </a:r>
          </a:p>
        </p:txBody>
      </p:sp>
      <p:sp>
        <p:nvSpPr>
          <p:cNvPr id="32" name="TextBox 31"/>
          <p:cNvSpPr txBox="1"/>
          <p:nvPr/>
        </p:nvSpPr>
        <p:spPr>
          <a:xfrm>
            <a:off x="566928" y="4261104"/>
            <a:ext cx="2971800" cy="301752"/>
          </a:xfrm>
          <a:prstGeom prst="rect">
            <a:avLst/>
          </a:prstGeom>
          <a:noFill/>
        </p:spPr>
        <p:txBody>
          <a:bodyPr wrap="square" lIns="0" tIns="0" rIns="0" bIns="0" anchor="t">
            <a:spAutoFit/>
          </a:bodyPr>
          <a:lstStyle/>
          <a:p>
            <a:pPr algn="l">
              <a:lnSpc>
                <a:spcPct val="98000"/>
              </a:lnSpc>
            </a:pPr>
            <a:r>
              <a:rPr sz="850" b="0" i="0">
                <a:solidFill>
                  <a:srgbClr val="E8F2EA"/>
                </a:solidFill>
                <a:latin typeface="Arial"/>
              </a:rPr>
              <a:t>Signs reverse on the 1.1756 knock-out: −10 points +2.646 (+225%), +10 points −0.744 (−63%).</a:t>
            </a:r>
          </a:p>
        </p:txBody>
      </p:sp>
      <p:sp>
        <p:nvSpPr>
          <p:cNvPr id="33" name="TextBox 32"/>
          <p:cNvSpPr txBox="1"/>
          <p:nvPr/>
        </p:nvSpPr>
        <p:spPr>
          <a:xfrm>
            <a:off x="3703320" y="1344168"/>
            <a:ext cx="2468880" cy="146304"/>
          </a:xfrm>
          <a:prstGeom prst="rect">
            <a:avLst/>
          </a:prstGeom>
          <a:noFill/>
        </p:spPr>
        <p:txBody>
          <a:bodyPr wrap="square" lIns="0" tIns="0" rIns="0" bIns="0" anchor="t">
            <a:spAutoFit/>
          </a:bodyPr>
          <a:lstStyle/>
          <a:p>
            <a:pPr algn="l"/>
            <a:r>
              <a:rPr sz="750" b="1" i="0">
                <a:solidFill>
                  <a:srgbClr val="3DDC84"/>
                </a:solidFill>
                <a:latin typeface="Consolas"/>
              </a:rPr>
              <a:t>SCENARIOS</a:t>
            </a:r>
            <a:r>
              <a:rPr sz="750" b="0" i="0">
                <a:solidFill>
                  <a:srgbClr val="93A79A"/>
                </a:solidFill>
                <a:latin typeface="Consolas"/>
              </a:rPr>
              <a:t>  ›  Volatility shocks · vanilla call</a:t>
            </a:r>
          </a:p>
        </p:txBody>
      </p:sp>
      <p:pic>
        <p:nvPicPr>
          <p:cNvPr id="34" name="Picture 33" descr="volbsm_scen_vol.png"/>
          <p:cNvPicPr>
            <a:picLocks noChangeAspect="1"/>
          </p:cNvPicPr>
          <p:nvPr/>
        </p:nvPicPr>
        <p:blipFill>
          <a:blip r:embed="rId3"/>
          <a:stretch>
            <a:fillRect/>
          </a:stretch>
        </p:blipFill>
        <p:spPr>
          <a:xfrm>
            <a:off x="3703320" y="1517904"/>
            <a:ext cx="2421409" cy="1792224"/>
          </a:xfrm>
          <a:prstGeom prst="rect">
            <a:avLst/>
          </a:prstGeom>
        </p:spPr>
      </p:pic>
      <p:sp>
        <p:nvSpPr>
          <p:cNvPr id="35" name="Rectangle 34"/>
          <p:cNvSpPr/>
          <p:nvPr/>
        </p:nvSpPr>
        <p:spPr>
          <a:xfrm>
            <a:off x="3703320" y="1517904"/>
            <a:ext cx="2421409" cy="1792224"/>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63640" y="1344168"/>
            <a:ext cx="2468880" cy="146304"/>
          </a:xfrm>
          <a:prstGeom prst="rect">
            <a:avLst/>
          </a:prstGeom>
          <a:noFill/>
        </p:spPr>
        <p:txBody>
          <a:bodyPr wrap="square" lIns="0" tIns="0" rIns="0" bIns="0" anchor="t">
            <a:spAutoFit/>
          </a:bodyPr>
          <a:lstStyle/>
          <a:p>
            <a:pPr algn="l"/>
            <a:r>
              <a:rPr sz="750" b="1" i="0">
                <a:solidFill>
                  <a:srgbClr val="3DDC84"/>
                </a:solidFill>
                <a:latin typeface="Consolas"/>
              </a:rPr>
              <a:t>SCENARIOS</a:t>
            </a:r>
            <a:r>
              <a:rPr sz="750" b="0" i="0">
                <a:solidFill>
                  <a:srgbClr val="93A79A"/>
                </a:solidFill>
                <a:latin typeface="Consolas"/>
              </a:rPr>
              <a:t>  ›  Volatility shocks · barrier</a:t>
            </a:r>
          </a:p>
        </p:txBody>
      </p:sp>
      <p:pic>
        <p:nvPicPr>
          <p:cNvPr id="37" name="Picture 36" descr="volbar_scen_vol.png"/>
          <p:cNvPicPr>
            <a:picLocks noChangeAspect="1"/>
          </p:cNvPicPr>
          <p:nvPr/>
        </p:nvPicPr>
        <p:blipFill>
          <a:blip r:embed="rId4"/>
          <a:stretch>
            <a:fillRect/>
          </a:stretch>
        </p:blipFill>
        <p:spPr>
          <a:xfrm>
            <a:off x="6263640" y="1517904"/>
            <a:ext cx="2421409" cy="1792224"/>
          </a:xfrm>
          <a:prstGeom prst="rect">
            <a:avLst/>
          </a:prstGeom>
        </p:spPr>
      </p:pic>
      <p:sp>
        <p:nvSpPr>
          <p:cNvPr id="38" name="Rectangle 37"/>
          <p:cNvSpPr/>
          <p:nvPr/>
        </p:nvSpPr>
        <p:spPr>
          <a:xfrm>
            <a:off x="6263640" y="1517904"/>
            <a:ext cx="2421409" cy="1792224"/>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03320" y="3364992"/>
            <a:ext cx="2468880" cy="146304"/>
          </a:xfrm>
          <a:prstGeom prst="rect">
            <a:avLst/>
          </a:prstGeom>
          <a:noFill/>
        </p:spPr>
        <p:txBody>
          <a:bodyPr wrap="square" lIns="0" tIns="0" rIns="0" bIns="0" anchor="t">
            <a:spAutoFit/>
          </a:bodyPr>
          <a:lstStyle/>
          <a:p>
            <a:pPr algn="l"/>
            <a:r>
              <a:rPr sz="750" b="1" i="0">
                <a:solidFill>
                  <a:srgbClr val="3DDC84"/>
                </a:solidFill>
                <a:latin typeface="Consolas"/>
              </a:rPr>
              <a:t>SCENARIOS</a:t>
            </a:r>
            <a:r>
              <a:rPr sz="750" b="0" i="0">
                <a:solidFill>
                  <a:srgbClr val="93A79A"/>
                </a:solidFill>
                <a:latin typeface="Consolas"/>
              </a:rPr>
              <a:t>  ›  P&amp;L matrix · spot × vol</a:t>
            </a:r>
          </a:p>
        </p:txBody>
      </p:sp>
      <p:pic>
        <p:nvPicPr>
          <p:cNvPr id="40" name="Picture 39" descr="volbsm_scen_grid.png"/>
          <p:cNvPicPr>
            <a:picLocks noChangeAspect="1"/>
          </p:cNvPicPr>
          <p:nvPr/>
        </p:nvPicPr>
        <p:blipFill>
          <a:blip r:embed="rId5"/>
          <a:stretch>
            <a:fillRect/>
          </a:stretch>
        </p:blipFill>
        <p:spPr>
          <a:xfrm>
            <a:off x="3703320" y="3538728"/>
            <a:ext cx="2313650" cy="1252728"/>
          </a:xfrm>
          <a:prstGeom prst="rect">
            <a:avLst/>
          </a:prstGeom>
        </p:spPr>
      </p:pic>
      <p:sp>
        <p:nvSpPr>
          <p:cNvPr id="41" name="Rectangle 40"/>
          <p:cNvSpPr/>
          <p:nvPr/>
        </p:nvSpPr>
        <p:spPr>
          <a:xfrm>
            <a:off x="3703320" y="3538728"/>
            <a:ext cx="2313650" cy="1252728"/>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63640" y="3364992"/>
            <a:ext cx="2468880" cy="146304"/>
          </a:xfrm>
          <a:prstGeom prst="rect">
            <a:avLst/>
          </a:prstGeom>
          <a:noFill/>
        </p:spPr>
        <p:txBody>
          <a:bodyPr wrap="square" lIns="0" tIns="0" rIns="0" bIns="0" anchor="t">
            <a:spAutoFit/>
          </a:bodyPr>
          <a:lstStyle/>
          <a:p>
            <a:pPr algn="l"/>
            <a:r>
              <a:rPr sz="750" b="1" i="0">
                <a:solidFill>
                  <a:srgbClr val="3DDC84"/>
                </a:solidFill>
                <a:latin typeface="Consolas"/>
              </a:rPr>
              <a:t>SCENARIOS</a:t>
            </a:r>
            <a:r>
              <a:rPr sz="750" b="0" i="0">
                <a:solidFill>
                  <a:srgbClr val="93A79A"/>
                </a:solidFill>
                <a:latin typeface="Consolas"/>
              </a:rPr>
              <a:t>  ›  Shocks ranked by P&amp;L</a:t>
            </a:r>
          </a:p>
        </p:txBody>
      </p:sp>
      <p:pic>
        <p:nvPicPr>
          <p:cNvPr id="43" name="Picture 42" descr="volbsm_scen_rank.png"/>
          <p:cNvPicPr>
            <a:picLocks noChangeAspect="1"/>
          </p:cNvPicPr>
          <p:nvPr/>
        </p:nvPicPr>
        <p:blipFill>
          <a:blip r:embed="rId6"/>
          <a:stretch>
            <a:fillRect/>
          </a:stretch>
        </p:blipFill>
        <p:spPr>
          <a:xfrm>
            <a:off x="6263640" y="3538728"/>
            <a:ext cx="2313650" cy="1252728"/>
          </a:xfrm>
          <a:prstGeom prst="rect">
            <a:avLst/>
          </a:prstGeom>
        </p:spPr>
      </p:pic>
      <p:sp>
        <p:nvSpPr>
          <p:cNvPr id="44" name="Rectangle 43"/>
          <p:cNvSpPr/>
          <p:nvPr/>
        </p:nvSpPr>
        <p:spPr>
          <a:xfrm>
            <a:off x="6263640" y="3538728"/>
            <a:ext cx="2313650" cy="1252728"/>
          </a:xfrm>
          <a:prstGeom prst="rect">
            <a:avLst/>
          </a:prstGeom>
          <a:no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32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FINDINGS / NEXT_STEPS</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2600" b="1" i="0">
                <a:solidFill>
                  <a:srgbClr val="E8F2EA"/>
                </a:solidFill>
                <a:latin typeface="Arial"/>
              </a:rPr>
              <a:t>What we found.</a:t>
            </a:r>
          </a:p>
        </p:txBody>
      </p:sp>
      <p:sp>
        <p:nvSpPr>
          <p:cNvPr id="8" name="TextBox 7"/>
          <p:cNvSpPr txBox="1"/>
          <p:nvPr/>
        </p:nvSpPr>
        <p:spPr>
          <a:xfrm>
            <a:off x="566928" y="1298448"/>
            <a:ext cx="365760" cy="274320"/>
          </a:xfrm>
          <a:prstGeom prst="rect">
            <a:avLst/>
          </a:prstGeom>
          <a:noFill/>
        </p:spPr>
        <p:txBody>
          <a:bodyPr wrap="square" lIns="0" tIns="0" rIns="0" bIns="0" anchor="t">
            <a:spAutoFit/>
          </a:bodyPr>
          <a:lstStyle/>
          <a:p>
            <a:pPr algn="l"/>
            <a:r>
              <a:rPr sz="1200" b="1" i="0">
                <a:solidFill>
                  <a:srgbClr val="3DDC84"/>
                </a:solidFill>
                <a:latin typeface="Consolas"/>
              </a:rPr>
              <a:t>01</a:t>
            </a:r>
          </a:p>
        </p:txBody>
      </p:sp>
      <p:sp>
        <p:nvSpPr>
          <p:cNvPr id="9" name="TextBox 8"/>
          <p:cNvSpPr txBox="1"/>
          <p:nvPr/>
        </p:nvSpPr>
        <p:spPr>
          <a:xfrm>
            <a:off x="987552" y="1289304"/>
            <a:ext cx="3566160" cy="475488"/>
          </a:xfrm>
          <a:prstGeom prst="rect">
            <a:avLst/>
          </a:prstGeom>
          <a:noFill/>
        </p:spPr>
        <p:txBody>
          <a:bodyPr wrap="square" lIns="0" tIns="0" rIns="0" bIns="0" anchor="t">
            <a:spAutoFit/>
          </a:bodyPr>
          <a:lstStyle/>
          <a:p>
            <a:pPr algn="l">
              <a:lnSpc>
                <a:spcPct val="102000"/>
              </a:lnSpc>
            </a:pPr>
            <a:r>
              <a:rPr sz="1050" b="0" i="0">
                <a:solidFill>
                  <a:srgbClr val="E8F2EA"/>
                </a:solidFill>
                <a:latin typeface="Arial"/>
              </a:rPr>
              <a:t>LR reaches 0.0001 accuracy in 51 steps; CRR is still at 0.0018 after 1,001.</a:t>
            </a:r>
          </a:p>
        </p:txBody>
      </p:sp>
      <p:sp>
        <p:nvSpPr>
          <p:cNvPr id="10" name="TextBox 9"/>
          <p:cNvSpPr txBox="1"/>
          <p:nvPr/>
        </p:nvSpPr>
        <p:spPr>
          <a:xfrm>
            <a:off x="566928" y="1847088"/>
            <a:ext cx="365760" cy="274320"/>
          </a:xfrm>
          <a:prstGeom prst="rect">
            <a:avLst/>
          </a:prstGeom>
          <a:noFill/>
        </p:spPr>
        <p:txBody>
          <a:bodyPr wrap="square" lIns="0" tIns="0" rIns="0" bIns="0" anchor="t">
            <a:spAutoFit/>
          </a:bodyPr>
          <a:lstStyle/>
          <a:p>
            <a:pPr algn="l"/>
            <a:r>
              <a:rPr sz="1200" b="1" i="0">
                <a:solidFill>
                  <a:srgbClr val="3DDC84"/>
                </a:solidFill>
                <a:latin typeface="Consolas"/>
              </a:rPr>
              <a:t>02</a:t>
            </a:r>
          </a:p>
        </p:txBody>
      </p:sp>
      <p:sp>
        <p:nvSpPr>
          <p:cNvPr id="11" name="TextBox 10"/>
          <p:cNvSpPr txBox="1"/>
          <p:nvPr/>
        </p:nvSpPr>
        <p:spPr>
          <a:xfrm>
            <a:off x="987552" y="1837944"/>
            <a:ext cx="3566160" cy="475488"/>
          </a:xfrm>
          <a:prstGeom prst="rect">
            <a:avLst/>
          </a:prstGeom>
          <a:noFill/>
        </p:spPr>
        <p:txBody>
          <a:bodyPr wrap="square" lIns="0" tIns="0" rIns="0" bIns="0" anchor="t">
            <a:spAutoFit/>
          </a:bodyPr>
          <a:lstStyle/>
          <a:p>
            <a:pPr algn="l">
              <a:lnSpc>
                <a:spcPct val="102000"/>
              </a:lnSpc>
            </a:pPr>
            <a:r>
              <a:rPr sz="1050" b="0" i="0">
                <a:solidFill>
                  <a:srgbClr val="E8F2EA"/>
                </a:solidFill>
                <a:latin typeface="Arial"/>
              </a:rPr>
              <a:t>The geometric control variate cuts Asian variance 746× on the same paths.</a:t>
            </a:r>
          </a:p>
        </p:txBody>
      </p:sp>
      <p:sp>
        <p:nvSpPr>
          <p:cNvPr id="12" name="TextBox 11"/>
          <p:cNvSpPr txBox="1"/>
          <p:nvPr/>
        </p:nvSpPr>
        <p:spPr>
          <a:xfrm>
            <a:off x="566928" y="2395728"/>
            <a:ext cx="365760" cy="274320"/>
          </a:xfrm>
          <a:prstGeom prst="rect">
            <a:avLst/>
          </a:prstGeom>
          <a:noFill/>
        </p:spPr>
        <p:txBody>
          <a:bodyPr wrap="square" lIns="0" tIns="0" rIns="0" bIns="0" anchor="t">
            <a:spAutoFit/>
          </a:bodyPr>
          <a:lstStyle/>
          <a:p>
            <a:pPr algn="l"/>
            <a:r>
              <a:rPr sz="1200" b="1" i="0">
                <a:solidFill>
                  <a:srgbClr val="3DDC84"/>
                </a:solidFill>
                <a:latin typeface="Consolas"/>
              </a:rPr>
              <a:t>03</a:t>
            </a:r>
          </a:p>
        </p:txBody>
      </p:sp>
      <p:sp>
        <p:nvSpPr>
          <p:cNvPr id="13" name="TextBox 12"/>
          <p:cNvSpPr txBox="1"/>
          <p:nvPr/>
        </p:nvSpPr>
        <p:spPr>
          <a:xfrm>
            <a:off x="987552" y="2386584"/>
            <a:ext cx="3566160" cy="475488"/>
          </a:xfrm>
          <a:prstGeom prst="rect">
            <a:avLst/>
          </a:prstGeom>
          <a:noFill/>
        </p:spPr>
        <p:txBody>
          <a:bodyPr wrap="square" lIns="0" tIns="0" rIns="0" bIns="0" anchor="t">
            <a:spAutoFit/>
          </a:bodyPr>
          <a:lstStyle/>
          <a:p>
            <a:pPr algn="l">
              <a:lnSpc>
                <a:spcPct val="102000"/>
              </a:lnSpc>
            </a:pPr>
            <a:r>
              <a:rPr sz="1050" b="0" i="0">
                <a:solidFill>
                  <a:srgbClr val="E8F2EA"/>
                </a:solidFill>
                <a:latin typeface="Arial"/>
              </a:rPr>
              <a:t>Delta-gamma predicts a loss of 135% of premium on a knocked-out barrier.</a:t>
            </a:r>
          </a:p>
        </p:txBody>
      </p:sp>
      <p:sp>
        <p:nvSpPr>
          <p:cNvPr id="14" name="TextBox 13"/>
          <p:cNvSpPr txBox="1"/>
          <p:nvPr/>
        </p:nvSpPr>
        <p:spPr>
          <a:xfrm>
            <a:off x="566928" y="2944368"/>
            <a:ext cx="365760" cy="274320"/>
          </a:xfrm>
          <a:prstGeom prst="rect">
            <a:avLst/>
          </a:prstGeom>
          <a:noFill/>
        </p:spPr>
        <p:txBody>
          <a:bodyPr wrap="square" lIns="0" tIns="0" rIns="0" bIns="0" anchor="t">
            <a:spAutoFit/>
          </a:bodyPr>
          <a:lstStyle/>
          <a:p>
            <a:pPr algn="l"/>
            <a:r>
              <a:rPr sz="1200" b="1" i="0">
                <a:solidFill>
                  <a:srgbClr val="3DDC84"/>
                </a:solidFill>
                <a:latin typeface="Consolas"/>
              </a:rPr>
              <a:t>04</a:t>
            </a:r>
          </a:p>
        </p:txBody>
      </p:sp>
      <p:sp>
        <p:nvSpPr>
          <p:cNvPr id="15" name="TextBox 14"/>
          <p:cNvSpPr txBox="1"/>
          <p:nvPr/>
        </p:nvSpPr>
        <p:spPr>
          <a:xfrm>
            <a:off x="987552" y="2935224"/>
            <a:ext cx="3566160" cy="475488"/>
          </a:xfrm>
          <a:prstGeom prst="rect">
            <a:avLst/>
          </a:prstGeom>
          <a:noFill/>
        </p:spPr>
        <p:txBody>
          <a:bodyPr wrap="square" lIns="0" tIns="0" rIns="0" bIns="0" anchor="t">
            <a:spAutoFit/>
          </a:bodyPr>
          <a:lstStyle/>
          <a:p>
            <a:pPr algn="l">
              <a:lnSpc>
                <a:spcPct val="102000"/>
              </a:lnSpc>
            </a:pPr>
            <a:r>
              <a:rPr sz="1050" b="0" i="0">
                <a:solidFill>
                  <a:srgbClr val="E8F2EA"/>
                </a:solidFill>
                <a:latin typeface="Arial"/>
              </a:rPr>
              <a:t>A basket is long correlation: 7.46 → 10.02 as ρ goes 0 → 0.8.</a:t>
            </a:r>
          </a:p>
        </p:txBody>
      </p:sp>
      <p:sp>
        <p:nvSpPr>
          <p:cNvPr id="16" name="TextBox 15"/>
          <p:cNvSpPr txBox="1"/>
          <p:nvPr/>
        </p:nvSpPr>
        <p:spPr>
          <a:xfrm>
            <a:off x="566928" y="3493008"/>
            <a:ext cx="365760" cy="274320"/>
          </a:xfrm>
          <a:prstGeom prst="rect">
            <a:avLst/>
          </a:prstGeom>
          <a:noFill/>
        </p:spPr>
        <p:txBody>
          <a:bodyPr wrap="square" lIns="0" tIns="0" rIns="0" bIns="0" anchor="t">
            <a:spAutoFit/>
          </a:bodyPr>
          <a:lstStyle/>
          <a:p>
            <a:pPr algn="l"/>
            <a:r>
              <a:rPr sz="1200" b="1" i="0">
                <a:solidFill>
                  <a:srgbClr val="3DDC84"/>
                </a:solidFill>
                <a:latin typeface="Consolas"/>
              </a:rPr>
              <a:t>05</a:t>
            </a:r>
          </a:p>
        </p:txBody>
      </p:sp>
      <p:sp>
        <p:nvSpPr>
          <p:cNvPr id="17" name="TextBox 16"/>
          <p:cNvSpPr txBox="1"/>
          <p:nvPr/>
        </p:nvSpPr>
        <p:spPr>
          <a:xfrm>
            <a:off x="987552" y="3483864"/>
            <a:ext cx="3566160" cy="475488"/>
          </a:xfrm>
          <a:prstGeom prst="rect">
            <a:avLst/>
          </a:prstGeom>
          <a:noFill/>
        </p:spPr>
        <p:txBody>
          <a:bodyPr wrap="square" lIns="0" tIns="0" rIns="0" bIns="0" anchor="t">
            <a:spAutoFit/>
          </a:bodyPr>
          <a:lstStyle/>
          <a:p>
            <a:pPr algn="l">
              <a:lnSpc>
                <a:spcPct val="102000"/>
              </a:lnSpc>
            </a:pPr>
            <a:r>
              <a:rPr sz="1050" b="0" i="0">
                <a:solidFill>
                  <a:srgbClr val="E8F2EA"/>
                </a:solidFill>
                <a:latin typeface="Arial"/>
              </a:rPr>
              <a:t>A raw discrete lookback is 3.5% low; the continuity correction removes it.</a:t>
            </a:r>
          </a:p>
        </p:txBody>
      </p:sp>
      <p:sp>
        <p:nvSpPr>
          <p:cNvPr id="18" name="Rectangle 17"/>
          <p:cNvSpPr/>
          <p:nvPr/>
        </p:nvSpPr>
        <p:spPr>
          <a:xfrm>
            <a:off x="4754880" y="1280160"/>
            <a:ext cx="3977639" cy="129844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92040" y="1362456"/>
            <a:ext cx="3657600" cy="182880"/>
          </a:xfrm>
          <a:prstGeom prst="rect">
            <a:avLst/>
          </a:prstGeom>
          <a:noFill/>
        </p:spPr>
        <p:txBody>
          <a:bodyPr wrap="square" lIns="0" tIns="0" rIns="0" bIns="0" anchor="t">
            <a:spAutoFit/>
          </a:bodyPr>
          <a:lstStyle/>
          <a:p>
            <a:pPr algn="l"/>
            <a:r>
              <a:rPr sz="850" b="1" i="0">
                <a:solidFill>
                  <a:srgbClr val="FFB020"/>
                </a:solidFill>
                <a:latin typeface="Consolas"/>
              </a:rPr>
              <a:t>LIMITATIONS</a:t>
            </a:r>
          </a:p>
        </p:txBody>
      </p:sp>
      <p:sp>
        <p:nvSpPr>
          <p:cNvPr id="20" name="TextBox 19"/>
          <p:cNvSpPr txBox="1"/>
          <p:nvPr/>
        </p:nvSpPr>
        <p:spPr>
          <a:xfrm>
            <a:off x="4892040" y="1609344"/>
            <a:ext cx="3703320" cy="1188720"/>
          </a:xfrm>
          <a:prstGeom prst="rect">
            <a:avLst/>
          </a:prstGeom>
          <a:noFill/>
        </p:spPr>
        <p:txBody>
          <a:bodyPr wrap="square" lIns="0" tIns="0" rIns="0" bIns="0" anchor="t">
            <a:spAutoFit/>
          </a:bodyPr>
          <a:lstStyle/>
          <a:p>
            <a:pPr marL="155448" indent="-155448" algn="l">
              <a:spcAft>
                <a:spcPts val="300"/>
              </a:spcAft>
              <a:buClr>
                <a:srgbClr val="3DDC84"/>
              </a:buClr>
              <a:buFont typeface="Arial"/>
              <a:buChar char="▪"/>
            </a:pPr>
            <a:r>
              <a:rPr sz="950" b="0" i="0">
                <a:solidFill>
                  <a:srgbClr val="E8F2EA"/>
                </a:solidFill>
                <a:latin typeface="Arial"/>
              </a:rPr>
              <a:t>One flat volatility per contract; no smile in pricing</a:t>
            </a:r>
          </a:p>
          <a:p>
            <a:pPr marL="155448" indent="-155448" algn="l">
              <a:spcAft>
                <a:spcPts val="300"/>
              </a:spcAft>
              <a:buClr>
                <a:srgbClr val="3DDC84"/>
              </a:buClr>
              <a:buFont typeface="Arial"/>
              <a:buChar char="▪"/>
            </a:pPr>
            <a:r>
              <a:rPr sz="950" b="0" i="0">
                <a:solidFill>
                  <a:srgbClr val="E8F2EA"/>
                </a:solidFill>
                <a:latin typeface="Arial"/>
              </a:rPr>
              <a:t>Continuous dividend yield, no discrete dividends or jumps</a:t>
            </a:r>
          </a:p>
          <a:p>
            <a:pPr marL="155448" indent="-155448" algn="l">
              <a:spcAft>
                <a:spcPts val="300"/>
              </a:spcAft>
              <a:buClr>
                <a:srgbClr val="3DDC84"/>
              </a:buClr>
              <a:buFont typeface="Arial"/>
              <a:buChar char="▪"/>
            </a:pPr>
            <a:r>
              <a:rPr sz="950" b="0" i="0">
                <a:solidFill>
                  <a:srgbClr val="E8F2EA"/>
                </a:solidFill>
                <a:latin typeface="Arial"/>
              </a:rPr>
              <a:t>Barrier gamma unreliable near the barrier; no Rannacher steps yet</a:t>
            </a:r>
          </a:p>
          <a:p>
            <a:pPr marL="155448" indent="-155448" algn="l">
              <a:spcAft>
                <a:spcPts val="300"/>
              </a:spcAft>
              <a:buClr>
                <a:srgbClr val="3DDC84"/>
              </a:buClr>
              <a:buFont typeface="Arial"/>
              <a:buChar char="▪"/>
            </a:pPr>
            <a:r>
              <a:rPr sz="950" b="0" i="0">
                <a:solidFill>
                  <a:srgbClr val="E8F2EA"/>
                </a:solidFill>
                <a:latin typeface="Arial"/>
              </a:rPr>
              <a:t>Live chain depends on Yahoo and market hours</a:t>
            </a:r>
          </a:p>
        </p:txBody>
      </p:sp>
      <p:sp>
        <p:nvSpPr>
          <p:cNvPr id="21" name="Rectangle 20"/>
          <p:cNvSpPr/>
          <p:nvPr/>
        </p:nvSpPr>
        <p:spPr>
          <a:xfrm>
            <a:off x="4754880" y="2715768"/>
            <a:ext cx="3977639" cy="1572768"/>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2040" y="2798064"/>
            <a:ext cx="3657600" cy="182880"/>
          </a:xfrm>
          <a:prstGeom prst="rect">
            <a:avLst/>
          </a:prstGeom>
          <a:noFill/>
        </p:spPr>
        <p:txBody>
          <a:bodyPr wrap="square" lIns="0" tIns="0" rIns="0" bIns="0" anchor="t">
            <a:spAutoFit/>
          </a:bodyPr>
          <a:lstStyle/>
          <a:p>
            <a:pPr algn="l"/>
            <a:r>
              <a:rPr sz="850" b="1" i="0">
                <a:solidFill>
                  <a:srgbClr val="3DDC84"/>
                </a:solidFill>
                <a:latin typeface="Consolas"/>
              </a:rPr>
              <a:t>NEXT</a:t>
            </a:r>
          </a:p>
        </p:txBody>
      </p:sp>
      <p:sp>
        <p:nvSpPr>
          <p:cNvPr id="23" name="TextBox 22"/>
          <p:cNvSpPr txBox="1"/>
          <p:nvPr/>
        </p:nvSpPr>
        <p:spPr>
          <a:xfrm>
            <a:off x="4892040" y="3044952"/>
            <a:ext cx="3703320" cy="1188720"/>
          </a:xfrm>
          <a:prstGeom prst="rect">
            <a:avLst/>
          </a:prstGeom>
          <a:noFill/>
        </p:spPr>
        <p:txBody>
          <a:bodyPr wrap="square" lIns="0" tIns="0" rIns="0" bIns="0" anchor="t">
            <a:spAutoFit/>
          </a:bodyPr>
          <a:lstStyle/>
          <a:p>
            <a:pPr marL="155448" indent="-155448" algn="l">
              <a:spcAft>
                <a:spcPts val="300"/>
              </a:spcAft>
              <a:buClr>
                <a:srgbClr val="3DDC84"/>
              </a:buClr>
              <a:buFont typeface="Arial"/>
              <a:buChar char="▪"/>
            </a:pPr>
            <a:r>
              <a:rPr sz="950" b="0" i="0">
                <a:solidFill>
                  <a:srgbClr val="E8F2EA"/>
                </a:solidFill>
                <a:latin typeface="Arial"/>
              </a:rPr>
              <a:t>Fit an SVI smile and price exotics off it</a:t>
            </a:r>
          </a:p>
          <a:p>
            <a:pPr marL="155448" indent="-155448" algn="l">
              <a:spcAft>
                <a:spcPts val="300"/>
              </a:spcAft>
              <a:buClr>
                <a:srgbClr val="3DDC84"/>
              </a:buClr>
              <a:buFont typeface="Arial"/>
              <a:buChar char="▪"/>
            </a:pPr>
            <a:r>
              <a:rPr sz="950" b="0" i="0">
                <a:solidFill>
                  <a:srgbClr val="E8F2EA"/>
                </a:solidFill>
                <a:latin typeface="Arial"/>
              </a:rPr>
              <a:t>Rannacher start-up and grid Greeks for the barrier PDE</a:t>
            </a:r>
          </a:p>
          <a:p>
            <a:pPr marL="155448" indent="-155448" algn="l">
              <a:spcAft>
                <a:spcPts val="300"/>
              </a:spcAft>
              <a:buClr>
                <a:srgbClr val="3DDC84"/>
              </a:buClr>
              <a:buFont typeface="Arial"/>
              <a:buChar char="▪"/>
            </a:pPr>
            <a:r>
              <a:rPr sz="950" b="0" i="0">
                <a:solidFill>
                  <a:srgbClr val="E8F2EA"/>
                </a:solidFill>
                <a:latin typeface="Arial"/>
              </a:rPr>
              <a:t>QuantLib as an independent oracle in the test suite</a:t>
            </a:r>
          </a:p>
          <a:p>
            <a:pPr marL="155448" indent="-155448" algn="l">
              <a:spcAft>
                <a:spcPts val="300"/>
              </a:spcAft>
              <a:buClr>
                <a:srgbClr val="3DDC84"/>
              </a:buClr>
              <a:buFont typeface="Arial"/>
              <a:buChar char="▪"/>
            </a:pPr>
            <a:r>
              <a:rPr sz="950" b="0" i="0">
                <a:solidFill>
                  <a:srgbClr val="E8F2EA"/>
                </a:solidFill>
                <a:latin typeface="Arial"/>
              </a:rPr>
              <a:t>Sobol sampling; Heston or local volatility</a:t>
            </a:r>
          </a:p>
          <a:p>
            <a:pPr marL="155448" indent="-155448" algn="l">
              <a:spcAft>
                <a:spcPts val="300"/>
              </a:spcAft>
              <a:buClr>
                <a:srgbClr val="3DDC84"/>
              </a:buClr>
              <a:buFont typeface="Arial"/>
              <a:buChar char="▪"/>
            </a:pPr>
            <a:r>
              <a:rPr sz="950" b="0" i="0">
                <a:solidFill>
                  <a:srgbClr val="E8F2EA"/>
                </a:solidFill>
                <a:latin typeface="Arial"/>
              </a:rPr>
              <a:t>PDF research report generated from the engine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0E0B"/>
        </a:solidFill>
        <a:effectLst/>
      </p:bgPr>
    </p:bg>
    <p:spTree>
      <p:nvGrpSpPr>
        <p:cNvPr id="1" name=""/>
        <p:cNvGrpSpPr/>
        <p:nvPr/>
      </p:nvGrpSpPr>
      <p:grpSpPr>
        <a:xfrm>
          <a:off x="0" y="0"/>
          <a:ext cx="0" cy="0"/>
          <a:chOff x="0" y="0"/>
          <a:chExt cx="0" cy="0"/>
        </a:xfrm>
      </p:grpSpPr>
      <p:sp>
        <p:nvSpPr>
          <p:cNvPr id="2" name="Accent bar"/>
          <p:cNvSpPr/>
          <p:nvPr/>
        </p:nvSpPr>
        <p:spPr>
          <a:xfrm>
            <a:off x="0" y="0"/>
            <a:ext cx="77724" cy="4873752"/>
          </a:xfrm>
          <a:prstGeom prst="rect">
            <a:avLst/>
          </a:prstGeom>
          <a:solidFill>
            <a:srgbClr val="3DD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ooter strip"/>
          <p:cNvSpPr/>
          <p:nvPr/>
        </p:nvSpPr>
        <p:spPr>
          <a:xfrm>
            <a:off x="0" y="4873752"/>
            <a:ext cx="9144000" cy="269748"/>
          </a:xfrm>
          <a:prstGeom prst="rect">
            <a:avLst/>
          </a:prstGeom>
          <a:solidFill>
            <a:srgbClr val="111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ooter"/>
          <p:cNvSpPr txBox="1"/>
          <p:nvPr/>
        </p:nvSpPr>
        <p:spPr>
          <a:xfrm>
            <a:off x="228600" y="4950918"/>
            <a:ext cx="5943600" cy="115416"/>
          </a:xfrm>
          <a:prstGeom prst="rect">
            <a:avLst/>
          </a:prstGeom>
          <a:noFill/>
        </p:spPr>
        <p:txBody>
          <a:bodyPr wrap="square" lIns="0" tIns="0" rIns="0" bIns="0" anchor="ctr">
            <a:spAutoFit/>
          </a:bodyPr>
          <a:lstStyle/>
          <a:p>
            <a:pPr algn="l"/>
            <a:r>
              <a:rPr sz="750" b="0" i="0" dirty="0">
                <a:solidFill>
                  <a:srgbClr val="93A79A"/>
                </a:solidFill>
                <a:latin typeface="Consolas"/>
              </a:rPr>
              <a:t>DERIVATIVE PRICING ENGINE &amp; GREEKS  ·</a:t>
            </a:r>
          </a:p>
        </p:txBody>
      </p:sp>
      <p:sp>
        <p:nvSpPr>
          <p:cNvPr id="5" name="Page"/>
          <p:cNvSpPr txBox="1"/>
          <p:nvPr/>
        </p:nvSpPr>
        <p:spPr>
          <a:xfrm>
            <a:off x="7863840" y="4873752"/>
            <a:ext cx="1051560" cy="269748"/>
          </a:xfrm>
          <a:prstGeom prst="rect">
            <a:avLst/>
          </a:prstGeom>
          <a:noFill/>
        </p:spPr>
        <p:txBody>
          <a:bodyPr wrap="square" lIns="0" tIns="0" rIns="0" bIns="0" anchor="ctr">
            <a:spAutoFit/>
          </a:bodyPr>
          <a:lstStyle/>
          <a:p>
            <a:pPr algn="r"/>
            <a:r>
              <a:rPr sz="750" b="1" i="0">
                <a:solidFill>
                  <a:srgbClr val="3DDC84"/>
                </a:solidFill>
                <a:latin typeface="Consolas"/>
              </a:rPr>
              <a:t>33 / 34</a:t>
            </a:r>
          </a:p>
        </p:txBody>
      </p:sp>
      <p:sp>
        <p:nvSpPr>
          <p:cNvPr id="6" name="Tag"/>
          <p:cNvSpPr txBox="1"/>
          <p:nvPr/>
        </p:nvSpPr>
        <p:spPr>
          <a:xfrm>
            <a:off x="566928" y="329184"/>
            <a:ext cx="7315200" cy="182880"/>
          </a:xfrm>
          <a:prstGeom prst="rect">
            <a:avLst/>
          </a:prstGeom>
          <a:noFill/>
        </p:spPr>
        <p:txBody>
          <a:bodyPr wrap="square" lIns="0" tIns="0" rIns="0" bIns="0" anchor="t">
            <a:spAutoFit/>
          </a:bodyPr>
          <a:lstStyle/>
          <a:p>
            <a:pPr algn="l"/>
            <a:r>
              <a:rPr sz="850" b="0" i="0">
                <a:solidFill>
                  <a:srgbClr val="3DDC84"/>
                </a:solidFill>
                <a:latin typeface="Consolas"/>
              </a:rPr>
              <a:t>CLOSE / REFERENCES</a:t>
            </a:r>
          </a:p>
        </p:txBody>
      </p:sp>
      <p:sp>
        <p:nvSpPr>
          <p:cNvPr id="7" name="Title"/>
          <p:cNvSpPr txBox="1"/>
          <p:nvPr/>
        </p:nvSpPr>
        <p:spPr>
          <a:xfrm>
            <a:off x="566928" y="530352"/>
            <a:ext cx="8046720" cy="914400"/>
          </a:xfrm>
          <a:prstGeom prst="rect">
            <a:avLst/>
          </a:prstGeom>
          <a:noFill/>
        </p:spPr>
        <p:txBody>
          <a:bodyPr wrap="square" lIns="0" tIns="0" rIns="0" bIns="0" anchor="t">
            <a:spAutoFit/>
          </a:bodyPr>
          <a:lstStyle/>
          <a:p>
            <a:pPr algn="l">
              <a:lnSpc>
                <a:spcPct val="92000"/>
              </a:lnSpc>
            </a:pPr>
            <a:r>
              <a:rPr sz="3400" b="1" i="0">
                <a:solidFill>
                  <a:srgbClr val="E8F2EA"/>
                </a:solidFill>
                <a:latin typeface="Arial"/>
              </a:rPr>
              <a:t>Questions.</a:t>
            </a:r>
          </a:p>
        </p:txBody>
      </p:sp>
      <p:sp>
        <p:nvSpPr>
          <p:cNvPr id="8" name="TextBox 7"/>
          <p:cNvSpPr txBox="1"/>
          <p:nvPr/>
        </p:nvSpPr>
        <p:spPr>
          <a:xfrm>
            <a:off x="566928" y="1417320"/>
            <a:ext cx="5669280" cy="640080"/>
          </a:xfrm>
          <a:prstGeom prst="rect">
            <a:avLst/>
          </a:prstGeom>
          <a:noFill/>
        </p:spPr>
        <p:txBody>
          <a:bodyPr wrap="square" lIns="0" tIns="0" rIns="0" bIns="0" anchor="t">
            <a:spAutoFit/>
          </a:bodyPr>
          <a:lstStyle/>
          <a:p>
            <a:pPr algn="l">
              <a:lnSpc>
                <a:spcPct val="105000"/>
              </a:lnSpc>
            </a:pPr>
            <a:r>
              <a:rPr sz="1300" b="0" i="0">
                <a:solidFill>
                  <a:srgbClr val="93A79A"/>
                </a:solidFill>
                <a:latin typeface="Arial"/>
              </a:rPr>
              <a:t>We built a pricing engine, checked every number against an independent calculation, and know where it is still wrong.</a:t>
            </a:r>
          </a:p>
        </p:txBody>
      </p:sp>
      <p:sp>
        <p:nvSpPr>
          <p:cNvPr id="9" name="TextBox 8"/>
          <p:cNvSpPr txBox="1"/>
          <p:nvPr/>
        </p:nvSpPr>
        <p:spPr>
          <a:xfrm>
            <a:off x="566928" y="2331720"/>
            <a:ext cx="3657600" cy="182880"/>
          </a:xfrm>
          <a:prstGeom prst="rect">
            <a:avLst/>
          </a:prstGeom>
          <a:noFill/>
        </p:spPr>
        <p:txBody>
          <a:bodyPr wrap="square" lIns="0" tIns="0" rIns="0" bIns="0" anchor="t">
            <a:spAutoFit/>
          </a:bodyPr>
          <a:lstStyle/>
          <a:p>
            <a:pPr algn="l"/>
            <a:r>
              <a:rPr sz="850" b="1" i="0">
                <a:solidFill>
                  <a:srgbClr val="3DDC84"/>
                </a:solidFill>
                <a:latin typeface="Consolas"/>
              </a:rPr>
              <a:t>REFERENCES</a:t>
            </a:r>
          </a:p>
        </p:txBody>
      </p:sp>
      <p:sp>
        <p:nvSpPr>
          <p:cNvPr id="10" name="TextBox 9"/>
          <p:cNvSpPr txBox="1"/>
          <p:nvPr/>
        </p:nvSpPr>
        <p:spPr>
          <a:xfrm>
            <a:off x="566928" y="2578608"/>
            <a:ext cx="5303520" cy="2011680"/>
          </a:xfrm>
          <a:prstGeom prst="rect">
            <a:avLst/>
          </a:prstGeom>
          <a:noFill/>
        </p:spPr>
        <p:txBody>
          <a:bodyPr wrap="square" lIns="0" tIns="0" rIns="0" bIns="0" anchor="t">
            <a:spAutoFit/>
          </a:bodyPr>
          <a:lstStyle/>
          <a:p>
            <a:pPr marL="155448" indent="-155448" algn="l">
              <a:spcAft>
                <a:spcPts val="400"/>
              </a:spcAft>
              <a:buClr>
                <a:srgbClr val="3DDC84"/>
              </a:buClr>
              <a:buFont typeface="Arial"/>
              <a:buChar char="▪"/>
            </a:pPr>
            <a:r>
              <a:rPr sz="1000" b="0" i="0">
                <a:solidFill>
                  <a:srgbClr val="E8F2EA"/>
                </a:solidFill>
                <a:latin typeface="Arial"/>
              </a:rPr>
              <a:t>Hull, Options, Futures and Other Derivatives</a:t>
            </a:r>
          </a:p>
          <a:p>
            <a:pPr marL="155448" indent="-155448" algn="l">
              <a:spcAft>
                <a:spcPts val="400"/>
              </a:spcAft>
              <a:buClr>
                <a:srgbClr val="3DDC84"/>
              </a:buClr>
              <a:buFont typeface="Arial"/>
              <a:buChar char="▪"/>
            </a:pPr>
            <a:r>
              <a:rPr sz="1000" b="0" i="0">
                <a:solidFill>
                  <a:srgbClr val="E8F2EA"/>
                </a:solidFill>
                <a:latin typeface="Arial"/>
              </a:rPr>
              <a:t>Glasserman, Monte Carlo Methods in Financial Engineering (2004)</a:t>
            </a:r>
          </a:p>
          <a:p>
            <a:pPr marL="155448" indent="-155448" algn="l">
              <a:spcAft>
                <a:spcPts val="400"/>
              </a:spcAft>
              <a:buClr>
                <a:srgbClr val="3DDC84"/>
              </a:buClr>
              <a:buFont typeface="Arial"/>
              <a:buChar char="▪"/>
            </a:pPr>
            <a:r>
              <a:rPr sz="1000" b="0" i="0">
                <a:solidFill>
                  <a:srgbClr val="E8F2EA"/>
                </a:solidFill>
                <a:latin typeface="Arial"/>
              </a:rPr>
              <a:t>Cox, Ross &amp; Rubinstein (1979); Leisen &amp; Reimer (1996)</a:t>
            </a:r>
          </a:p>
          <a:p>
            <a:pPr marL="155448" indent="-155448" algn="l">
              <a:spcAft>
                <a:spcPts val="400"/>
              </a:spcAft>
              <a:buClr>
                <a:srgbClr val="3DDC84"/>
              </a:buClr>
              <a:buFont typeface="Arial"/>
              <a:buChar char="▪"/>
            </a:pPr>
            <a:r>
              <a:rPr sz="1000" b="0" i="0">
                <a:solidFill>
                  <a:srgbClr val="E8F2EA"/>
                </a:solidFill>
                <a:latin typeface="Arial"/>
              </a:rPr>
              <a:t>Longstaff &amp; Schwartz, Review of Financial Studies 14 (2001)</a:t>
            </a:r>
          </a:p>
          <a:p>
            <a:pPr marL="155448" indent="-155448" algn="l">
              <a:spcAft>
                <a:spcPts val="400"/>
              </a:spcAft>
              <a:buClr>
                <a:srgbClr val="3DDC84"/>
              </a:buClr>
              <a:buFont typeface="Arial"/>
              <a:buChar char="▪"/>
            </a:pPr>
            <a:r>
              <a:rPr sz="1000" b="0" i="0">
                <a:solidFill>
                  <a:srgbClr val="E8F2EA"/>
                </a:solidFill>
                <a:latin typeface="Arial"/>
              </a:rPr>
              <a:t>Broadie, Glasserman &amp; Kou (1997), continuity correction</a:t>
            </a:r>
          </a:p>
          <a:p>
            <a:pPr marL="155448" indent="-155448" algn="l">
              <a:spcAft>
                <a:spcPts val="400"/>
              </a:spcAft>
              <a:buClr>
                <a:srgbClr val="3DDC84"/>
              </a:buClr>
              <a:buFont typeface="Arial"/>
              <a:buChar char="▪"/>
            </a:pPr>
            <a:r>
              <a:rPr sz="1000" b="0" i="0">
                <a:solidFill>
                  <a:srgbClr val="E8F2EA"/>
                </a:solidFill>
                <a:latin typeface="Arial"/>
              </a:rPr>
              <a:t>Reiner &amp; Rubinstein (1991); Kemna &amp; Vorst (1990)</a:t>
            </a:r>
          </a:p>
        </p:txBody>
      </p:sp>
      <p:sp>
        <p:nvSpPr>
          <p:cNvPr id="11" name="Rectangle 10"/>
          <p:cNvSpPr/>
          <p:nvPr/>
        </p:nvSpPr>
        <p:spPr>
          <a:xfrm>
            <a:off x="6382512" y="1371600"/>
            <a:ext cx="2350008" cy="3246120"/>
          </a:xfrm>
          <a:prstGeom prst="rect">
            <a:avLst/>
          </a:prstGeom>
          <a:solidFill>
            <a:srgbClr val="111813"/>
          </a:solidFill>
          <a:ln w="9525">
            <a:solidFill>
              <a:srgbClr val="2635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463040"/>
            <a:ext cx="2011680" cy="182880"/>
          </a:xfrm>
          <a:prstGeom prst="rect">
            <a:avLst/>
          </a:prstGeom>
          <a:noFill/>
        </p:spPr>
        <p:txBody>
          <a:bodyPr wrap="square" lIns="0" tIns="0" rIns="0" bIns="0" anchor="t">
            <a:spAutoFit/>
          </a:bodyPr>
          <a:lstStyle/>
          <a:p>
            <a:pPr algn="l"/>
            <a:r>
              <a:rPr sz="850" b="1" i="0">
                <a:solidFill>
                  <a:srgbClr val="93A79A"/>
                </a:solidFill>
                <a:latin typeface="Consolas"/>
              </a:rPr>
              <a:t>PROJECT</a:t>
            </a:r>
          </a:p>
        </p:txBody>
      </p:sp>
      <p:sp>
        <p:nvSpPr>
          <p:cNvPr id="13" name="TextBox 12"/>
          <p:cNvSpPr txBox="1"/>
          <p:nvPr/>
        </p:nvSpPr>
        <p:spPr>
          <a:xfrm>
            <a:off x="6519672" y="1755648"/>
            <a:ext cx="1097280" cy="365760"/>
          </a:xfrm>
          <a:prstGeom prst="rect">
            <a:avLst/>
          </a:prstGeom>
          <a:noFill/>
        </p:spPr>
        <p:txBody>
          <a:bodyPr wrap="square" lIns="0" tIns="0" rIns="0" bIns="0" anchor="ctr">
            <a:spAutoFit/>
          </a:bodyPr>
          <a:lstStyle/>
          <a:p>
            <a:pPr algn="l"/>
            <a:r>
              <a:rPr sz="950" b="0" i="0">
                <a:solidFill>
                  <a:srgbClr val="93A79A"/>
                </a:solidFill>
                <a:latin typeface="Consolas"/>
              </a:rPr>
              <a:t>engines</a:t>
            </a:r>
          </a:p>
        </p:txBody>
      </p:sp>
      <p:sp>
        <p:nvSpPr>
          <p:cNvPr id="14" name="TextBox 13"/>
          <p:cNvSpPr txBox="1"/>
          <p:nvPr/>
        </p:nvSpPr>
        <p:spPr>
          <a:xfrm>
            <a:off x="7498079" y="1755648"/>
            <a:ext cx="1097280" cy="365760"/>
          </a:xfrm>
          <a:prstGeom prst="rect">
            <a:avLst/>
          </a:prstGeom>
          <a:noFill/>
        </p:spPr>
        <p:txBody>
          <a:bodyPr wrap="square" lIns="0" tIns="0" rIns="0" bIns="0" anchor="ctr">
            <a:spAutoFit/>
          </a:bodyPr>
          <a:lstStyle/>
          <a:p>
            <a:pPr algn="r"/>
            <a:r>
              <a:rPr sz="1700" b="1" i="0">
                <a:solidFill>
                  <a:srgbClr val="E8F2EA"/>
                </a:solidFill>
                <a:latin typeface="Consolas"/>
              </a:rPr>
              <a:t>7</a:t>
            </a:r>
          </a:p>
        </p:txBody>
      </p:sp>
      <p:sp>
        <p:nvSpPr>
          <p:cNvPr id="15" name="Rectangle 14"/>
          <p:cNvSpPr/>
          <p:nvPr/>
        </p:nvSpPr>
        <p:spPr>
          <a:xfrm>
            <a:off x="6519672" y="2176272"/>
            <a:ext cx="2075688"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9672" y="2286000"/>
            <a:ext cx="1097280" cy="365760"/>
          </a:xfrm>
          <a:prstGeom prst="rect">
            <a:avLst/>
          </a:prstGeom>
          <a:noFill/>
        </p:spPr>
        <p:txBody>
          <a:bodyPr wrap="square" lIns="0" tIns="0" rIns="0" bIns="0" anchor="ctr">
            <a:spAutoFit/>
          </a:bodyPr>
          <a:lstStyle/>
          <a:p>
            <a:pPr algn="l"/>
            <a:r>
              <a:rPr sz="950" b="0" i="0">
                <a:solidFill>
                  <a:srgbClr val="93A79A"/>
                </a:solidFill>
                <a:latin typeface="Consolas"/>
              </a:rPr>
              <a:t>products</a:t>
            </a:r>
          </a:p>
        </p:txBody>
      </p:sp>
      <p:sp>
        <p:nvSpPr>
          <p:cNvPr id="17" name="TextBox 16"/>
          <p:cNvSpPr txBox="1"/>
          <p:nvPr/>
        </p:nvSpPr>
        <p:spPr>
          <a:xfrm>
            <a:off x="7498079" y="2286000"/>
            <a:ext cx="1097280" cy="365760"/>
          </a:xfrm>
          <a:prstGeom prst="rect">
            <a:avLst/>
          </a:prstGeom>
          <a:noFill/>
        </p:spPr>
        <p:txBody>
          <a:bodyPr wrap="square" lIns="0" tIns="0" rIns="0" bIns="0" anchor="ctr">
            <a:spAutoFit/>
          </a:bodyPr>
          <a:lstStyle/>
          <a:p>
            <a:pPr algn="r"/>
            <a:r>
              <a:rPr sz="1700" b="1" i="0">
                <a:solidFill>
                  <a:srgbClr val="E8F2EA"/>
                </a:solidFill>
                <a:latin typeface="Consolas"/>
              </a:rPr>
              <a:t>7</a:t>
            </a:r>
          </a:p>
        </p:txBody>
      </p:sp>
      <p:sp>
        <p:nvSpPr>
          <p:cNvPr id="18" name="Rectangle 17"/>
          <p:cNvSpPr/>
          <p:nvPr/>
        </p:nvSpPr>
        <p:spPr>
          <a:xfrm>
            <a:off x="6519672" y="2706624"/>
            <a:ext cx="2075688"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9672" y="2816352"/>
            <a:ext cx="1097280" cy="365760"/>
          </a:xfrm>
          <a:prstGeom prst="rect">
            <a:avLst/>
          </a:prstGeom>
          <a:noFill/>
        </p:spPr>
        <p:txBody>
          <a:bodyPr wrap="square" lIns="0" tIns="0" rIns="0" bIns="0" anchor="ctr">
            <a:spAutoFit/>
          </a:bodyPr>
          <a:lstStyle/>
          <a:p>
            <a:pPr algn="l"/>
            <a:r>
              <a:rPr sz="950" b="0" i="0">
                <a:solidFill>
                  <a:srgbClr val="93A79A"/>
                </a:solidFill>
                <a:latin typeface="Consolas"/>
              </a:rPr>
              <a:t>tests</a:t>
            </a:r>
          </a:p>
        </p:txBody>
      </p:sp>
      <p:sp>
        <p:nvSpPr>
          <p:cNvPr id="20" name="TextBox 19"/>
          <p:cNvSpPr txBox="1"/>
          <p:nvPr/>
        </p:nvSpPr>
        <p:spPr>
          <a:xfrm>
            <a:off x="7498079" y="2816352"/>
            <a:ext cx="1097280" cy="365760"/>
          </a:xfrm>
          <a:prstGeom prst="rect">
            <a:avLst/>
          </a:prstGeom>
          <a:noFill/>
        </p:spPr>
        <p:txBody>
          <a:bodyPr wrap="square" lIns="0" tIns="0" rIns="0" bIns="0" anchor="ctr">
            <a:spAutoFit/>
          </a:bodyPr>
          <a:lstStyle/>
          <a:p>
            <a:pPr algn="r"/>
            <a:r>
              <a:rPr sz="1700" b="1" i="0">
                <a:solidFill>
                  <a:srgbClr val="3DDC84"/>
                </a:solidFill>
                <a:latin typeface="Consolas"/>
              </a:rPr>
              <a:t>365</a:t>
            </a:r>
          </a:p>
        </p:txBody>
      </p:sp>
      <p:sp>
        <p:nvSpPr>
          <p:cNvPr id="21" name="Rectangle 20"/>
          <p:cNvSpPr/>
          <p:nvPr/>
        </p:nvSpPr>
        <p:spPr>
          <a:xfrm>
            <a:off x="6519672" y="3236976"/>
            <a:ext cx="2075688"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9672" y="3346703"/>
            <a:ext cx="1097280" cy="365760"/>
          </a:xfrm>
          <a:prstGeom prst="rect">
            <a:avLst/>
          </a:prstGeom>
          <a:noFill/>
        </p:spPr>
        <p:txBody>
          <a:bodyPr wrap="square" lIns="0" tIns="0" rIns="0" bIns="0" anchor="ctr">
            <a:spAutoFit/>
          </a:bodyPr>
          <a:lstStyle/>
          <a:p>
            <a:pPr algn="l"/>
            <a:r>
              <a:rPr sz="950" b="0" i="0">
                <a:solidFill>
                  <a:srgbClr val="93A79A"/>
                </a:solidFill>
                <a:latin typeface="Consolas"/>
              </a:rPr>
              <a:t>checks</a:t>
            </a:r>
          </a:p>
        </p:txBody>
      </p:sp>
      <p:sp>
        <p:nvSpPr>
          <p:cNvPr id="23" name="TextBox 22"/>
          <p:cNvSpPr txBox="1"/>
          <p:nvPr/>
        </p:nvSpPr>
        <p:spPr>
          <a:xfrm>
            <a:off x="7498079" y="3346703"/>
            <a:ext cx="1097280" cy="365760"/>
          </a:xfrm>
          <a:prstGeom prst="rect">
            <a:avLst/>
          </a:prstGeom>
          <a:noFill/>
        </p:spPr>
        <p:txBody>
          <a:bodyPr wrap="square" lIns="0" tIns="0" rIns="0" bIns="0" anchor="ctr">
            <a:spAutoFit/>
          </a:bodyPr>
          <a:lstStyle/>
          <a:p>
            <a:pPr algn="r"/>
            <a:r>
              <a:rPr sz="1700" b="1" i="0">
                <a:solidFill>
                  <a:srgbClr val="E8F2EA"/>
                </a:solidFill>
                <a:latin typeface="Consolas"/>
              </a:rPr>
              <a:t>35</a:t>
            </a:r>
          </a:p>
        </p:txBody>
      </p:sp>
      <p:sp>
        <p:nvSpPr>
          <p:cNvPr id="24" name="Rectangle 23"/>
          <p:cNvSpPr/>
          <p:nvPr/>
        </p:nvSpPr>
        <p:spPr>
          <a:xfrm>
            <a:off x="6519672" y="3767328"/>
            <a:ext cx="2075688"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19672" y="3877056"/>
            <a:ext cx="1097280" cy="365760"/>
          </a:xfrm>
          <a:prstGeom prst="rect">
            <a:avLst/>
          </a:prstGeom>
          <a:noFill/>
        </p:spPr>
        <p:txBody>
          <a:bodyPr wrap="square" lIns="0" tIns="0" rIns="0" bIns="0" anchor="ctr">
            <a:spAutoFit/>
          </a:bodyPr>
          <a:lstStyle/>
          <a:p>
            <a:pPr algn="l"/>
            <a:r>
              <a:rPr sz="950" b="0" i="0">
                <a:solidFill>
                  <a:srgbClr val="93A79A"/>
                </a:solidFill>
                <a:latin typeface="Consolas"/>
              </a:rPr>
              <a:t>app pages</a:t>
            </a:r>
          </a:p>
        </p:txBody>
      </p:sp>
      <p:sp>
        <p:nvSpPr>
          <p:cNvPr id="26" name="TextBox 25"/>
          <p:cNvSpPr txBox="1"/>
          <p:nvPr/>
        </p:nvSpPr>
        <p:spPr>
          <a:xfrm>
            <a:off x="7498079" y="3877056"/>
            <a:ext cx="1097280" cy="365760"/>
          </a:xfrm>
          <a:prstGeom prst="rect">
            <a:avLst/>
          </a:prstGeom>
          <a:noFill/>
        </p:spPr>
        <p:txBody>
          <a:bodyPr wrap="square" lIns="0" tIns="0" rIns="0" bIns="0" anchor="ctr">
            <a:spAutoFit/>
          </a:bodyPr>
          <a:lstStyle/>
          <a:p>
            <a:pPr algn="r"/>
            <a:r>
              <a:rPr sz="1700" b="1" i="0">
                <a:solidFill>
                  <a:srgbClr val="E8F2EA"/>
                </a:solidFill>
                <a:latin typeface="Consolas"/>
              </a:rPr>
              <a:t>9</a:t>
            </a:r>
          </a:p>
        </p:txBody>
      </p:sp>
      <p:sp>
        <p:nvSpPr>
          <p:cNvPr id="27" name="Rectangle 26"/>
          <p:cNvSpPr/>
          <p:nvPr/>
        </p:nvSpPr>
        <p:spPr>
          <a:xfrm>
            <a:off x="6519672" y="4297680"/>
            <a:ext cx="2075688" cy="5486"/>
          </a:xfrm>
          <a:prstGeom prst="rect">
            <a:avLst/>
          </a:prstGeom>
          <a:solidFill>
            <a:srgbClr val="26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TotalTime>
  <Words>8885</Words>
  <Application>Microsoft Office PowerPoint</Application>
  <PresentationFormat>On-screen Show (16:9)</PresentationFormat>
  <Paragraphs>927</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Derivative Pricing Engine &amp; Greeks</dc:title>
  <dc:subject/>
  <dc:creator>Manish Esuri</dc:creator>
  <cp:keywords/>
  <dc:description>generated using python-pptx</dc:description>
  <cp:lastModifiedBy>manish esuri</cp:lastModifiedBy>
  <cp:revision>9</cp:revision>
  <dcterms:created xsi:type="dcterms:W3CDTF">2013-01-27T09:14:16Z</dcterms:created>
  <dcterms:modified xsi:type="dcterms:W3CDTF">2026-10-14T07:09:32Z</dcterms:modified>
  <cp:category/>
</cp:coreProperties>
</file>